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name and six proof tiles. The six tiles are concrete, verifiable figures: 41/41 checks come from scripts/verify_release_readiness.py, the 10M benchmark from scripts/benchmark_portfolio_scan.py, 27 endpoints from the OpenAPI surface at /docs, 8 routes from the Next.js routing table, 7 services from the Docker Compose topology, and the video from the external walkthrough package. Frame this as a complete, inspectable fraud intelligence workflow, not a dashboard or prototype. VP and senior reviewer audiences will look for evidence of completeness and portfolio-ready engineering quality.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operational gap this product addresses. A risk score without workflow is noise. Fraud analysts need structured queues, evidence grouping, model attribution, and audit-ready verdict capture. The four problem cards establish the workflow architecture motivation. DS Lead and engineering audiences will recognise these as real operational problems, not contrived scenarios. The console addresses all four in a single connected workflow.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product thesis and the end-to-end workflow. The nine-stage flow is the product architecture in visual form. Each stage is a distinct product surface with a defined role and a clear handoff to the next. The key message: the console turns model output into a reviewable, evidence-led, analyst-controlled decision workflow. No stage is a placeholder. All nine stages are implemented and inspectable. Refer reviewers to docs/EXPERIENCE_FLOW.md for the detailed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9-component service topology. Each service has a defined role and clear interfaces. The XGBoost model artifact is trained offline and served as a static file, keeping scoring deterministic. Docker Compose orchestrates the full stack locally. Each managed-cloud equivalent is documented in docs/DEPLOYMENT_STRATEGY.md. The key message for senior engineering reviewers: every service boundary is inspectable, and the path from local runtime to managed cloud services is well-defined.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analyst entry point and the first two stages of the workflow. The command center surfaces operational state before the analyst opens a case: queue depth, SLA pressure, system health, and pipeline stage distribution. The review queue ranks cases into P0-P3 priority tiers based on risk score band, with inline score bars and status filters. This design separates operational awareness from case investigation, which is the right workflow architecture for a fraud operations team. The screenshot shows the production-style local runtime in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evidence-led investigation model. The case dossier groups signals into four layers: base, rich, behavioural, and graph. Each layer corresponds to a distinct stage in the scoring engine. The analyst can trace a risk score back to the specific signals that drove it. The AI investigation brief is advisory: schema-validated output, AGENT_VERSION traceability, retry logic on validation failure, and no automated path from recommendation to case action. Analyst verdict via POST /review-case/{case_id} is the required final step. For ML-aware reviewers: AGENT_VERSION links every brief to the exact agent configuration that produced it, creating an immutable audit reference even if the configuration changes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portfolio-scale benchmark evidence. All five metrics are from scripts/benchmark_portfolio_scan.py against 10M synthetic rows. The benchmark is repeatable and verifiable in source code. The three architecture properties that produce these numbers: chunked ingestion (CSV never fully loaded into API heap), composite index on (scan_id, risk_tier, id) for sub-second filtered pages, server-side PostgreSQL cursor for memory-flat streaming export. Zero OOM events and zero API restarts across the full 10M run is the key stability evidence. For senior engineers: the 6.99ms export time to first byte reflects cursor readiness, not full result materialisation. The 1.64 GiB file streams out without API memory growth.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latency architecture. The synchronous scoring path is fast and deterministic: feature extraction, XGBoost inference, rule evaluation, decision routing, and PostgreSQL write happen in the request-response cycle. Heavy workloads, LLM inference and portfolio processing, move to async Redpanda consumers. This design protects scoring throughput from LLM latency and batch job variability. For engineering reviewers: the two paths have different latency budgets and different scaling strategies. Scoring scales horizontally with stateless API workers. Investigation and portfolio jobs scale by adding consumer instances. The reliability metrics panel surfaces latency pressure before it becomes an SLO breach. No specific p95 latency value has been measured in the current build. The scale strategy is architectural reasoning, not benchmarked load test output.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scale path from local runtime to high-volume fraud decisioning. Each stage represents a maturity layer. The current build delivers Stage 1 in full. Stages 2 through 7 represent the engineering roadmap that the current service boundaries support. For a VP or engineering manager audience: the architecture already separates scoring, investigation, portfolio processing, and audit persistence into independent service boundaries. Each boundary can scale independently. The bottleneck order would be: API throughput first, then consumer throughput, then database write capacity, then LLM inference at scale. This is not a claim of current 1M-user or high-volume live deployment. It is an architecture that supports that path with manageable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integration API strategy. The current product exposes 27 endpoints across six API surface areas. The next integration layer is a consolidated external-facing decision facade: POST /fraud/decision. This facade sits in front of the existing service boundaries and returns a unified decision package. For a platform architect audience: the facade does not replace existing endpoints. It wraps them into a single integration surface for external payment platforms, risk engines, and fraud operations tools. Authentication, rate limiting, API key management, and secrets management are required before exposing this facade externally. These are production hardening requirements, not architectural unknowns. The complete integration specification is in docs/INTEGRATION_API_BLUEPRINT.md.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deployment strategy and cost reasoning. The local runtime is the correct inspection format for this product stage. The full technology stack includes database, message broker, cache, workflow automation, LLM inference, backend API, frontend, and monitoring. Free-tier cloud deployments frequently underrepresent system quality: services sleep, state is lost on restart, and resource constraints mask throughput characteristics. The production deployment path is fully documented in docs/DEPLOYMENT_STRATEGY.md with a 30-item hardening checklist and a five-option deployment matrix. Cost estimates require provider-specific verification. The cost categories listed represent the infrastructure components that carry recurring cost in a production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five core takeaways and direct the reviewer to the inspection path. The five points correspond to what this product demonstrates beyond a score-only model. The reviewer inspection path names 14 specific source files and documentation entries so that any claim in this deck can be traced to its evidence source. The closing line is the product thesis in one sentence. It should land as a confident, substantiated statement, not a marketing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55680" cy="749808"/>
          </a:xfrm>
          <a:prstGeom prst="rect">
            <a:avLst/>
          </a:prstGeom>
          <a:noFill/>
        </p:spPr>
        <p:txBody>
          <a:bodyPr wrap="square">
            <a:spAutoFit/>
          </a:bodyPr>
          <a:lstStyle/>
          <a:p>
            <a:pPr algn="ctr"/>
            <a:r>
              <a:rPr sz="3800" b="1">
                <a:solidFill>
                  <a:srgbClr val="FFFFFF"/>
                </a:solidFill>
                <a:latin typeface="Segoe UI"/>
              </a:rPr>
              <a:t>Real-Time Fraud Intelligence Console</a:t>
            </a:r>
          </a:p>
        </p:txBody>
      </p:sp>
      <p:sp>
        <p:nvSpPr>
          <p:cNvPr id="4" name="TextBox 3"/>
          <p:cNvSpPr txBox="1"/>
          <p:nvPr/>
        </p:nvSpPr>
        <p:spPr>
          <a:xfrm>
            <a:off x="502920" y="1572768"/>
            <a:ext cx="11155680" cy="438912"/>
          </a:xfrm>
          <a:prstGeom prst="rect">
            <a:avLst/>
          </a:prstGeom>
          <a:noFill/>
        </p:spPr>
        <p:txBody>
          <a:bodyPr wrap="square">
            <a:spAutoFit/>
          </a:bodyPr>
          <a:lstStyle/>
          <a:p>
            <a:pPr algn="ctr"/>
            <a:r>
              <a:rPr sz="1300" b="0">
                <a:solidFill>
                  <a:srgbClr val="22D3EE"/>
                </a:solidFill>
                <a:latin typeface="Segoe UI"/>
              </a:rPr>
              <a:t>A fraud decisioning workflow for risk scoring, evidence-led review, workflow auditability, and portfolio-scale risk prioritisation</a:t>
            </a:r>
          </a:p>
        </p:txBody>
      </p:sp>
      <p:sp>
        <p:nvSpPr>
          <p:cNvPr id="5" name="TextBox 4"/>
          <p:cNvSpPr txBox="1"/>
          <p:nvPr/>
        </p:nvSpPr>
        <p:spPr>
          <a:xfrm>
            <a:off x="502920" y="2048256"/>
            <a:ext cx="11155680" cy="292608"/>
          </a:xfrm>
          <a:prstGeom prst="rect">
            <a:avLst/>
          </a:prstGeom>
          <a:noFill/>
        </p:spPr>
        <p:txBody>
          <a:bodyPr wrap="square">
            <a:spAutoFit/>
          </a:bodyPr>
          <a:lstStyle/>
          <a:p>
            <a:pPr algn="ctr"/>
            <a:r>
              <a:rPr sz="1100" b="0">
                <a:solidFill>
                  <a:srgbClr val="CBD5E1"/>
                </a:solidFill>
                <a:latin typeface="Segoe UI"/>
              </a:rPr>
              <a:t>Ijaz Mohamed Ali Kakkod</a:t>
            </a:r>
          </a:p>
        </p:txBody>
      </p:sp>
      <p:sp>
        <p:nvSpPr>
          <p:cNvPr id="6" name="TextBox 5"/>
          <p:cNvSpPr txBox="1"/>
          <p:nvPr/>
        </p:nvSpPr>
        <p:spPr>
          <a:xfrm>
            <a:off x="502920" y="2340864"/>
            <a:ext cx="11155680" cy="228600"/>
          </a:xfrm>
          <a:prstGeom prst="rect">
            <a:avLst/>
          </a:prstGeom>
          <a:noFill/>
        </p:spPr>
        <p:txBody>
          <a:bodyPr wrap="square">
            <a:spAutoFit/>
          </a:bodyPr>
          <a:lstStyle/>
          <a:p>
            <a:pPr algn="ctr"/>
            <a:r>
              <a:rPr sz="900" b="0">
                <a:solidFill>
                  <a:srgbClr val="64748B"/>
                </a:solidFill>
                <a:latin typeface="Segoe UI"/>
              </a:rPr>
              <a:t>Executive product walkthrough package</a:t>
            </a:r>
          </a:p>
        </p:txBody>
      </p:sp>
      <p:sp>
        <p:nvSpPr>
          <p:cNvPr id="7" name="Rectangle 6"/>
          <p:cNvSpPr/>
          <p:nvPr/>
        </p:nvSpPr>
        <p:spPr>
          <a:xfrm>
            <a:off x="320040" y="2633472"/>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816352"/>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907792"/>
            <a:ext cx="3108960" cy="502920"/>
          </a:xfrm>
          <a:prstGeom prst="rect">
            <a:avLst/>
          </a:prstGeom>
          <a:noFill/>
        </p:spPr>
        <p:txBody>
          <a:bodyPr wrap="square">
            <a:spAutoFit/>
          </a:bodyPr>
          <a:lstStyle/>
          <a:p>
            <a:pPr algn="ctr"/>
            <a:r>
              <a:rPr sz="2600" b="1">
                <a:solidFill>
                  <a:srgbClr val="34D399"/>
                </a:solidFill>
                <a:latin typeface="Segoe UI"/>
              </a:rPr>
              <a:t>41 / 41</a:t>
            </a:r>
          </a:p>
        </p:txBody>
      </p:sp>
      <p:sp>
        <p:nvSpPr>
          <p:cNvPr id="10" name="TextBox 9"/>
          <p:cNvSpPr txBox="1"/>
          <p:nvPr/>
        </p:nvSpPr>
        <p:spPr>
          <a:xfrm>
            <a:off x="594360" y="3456432"/>
            <a:ext cx="3108960" cy="457200"/>
          </a:xfrm>
          <a:prstGeom prst="rect">
            <a:avLst/>
          </a:prstGeom>
          <a:noFill/>
        </p:spPr>
        <p:txBody>
          <a:bodyPr wrap="square">
            <a:spAutoFit/>
          </a:bodyPr>
          <a:lstStyle/>
          <a:p>
            <a:pPr algn="ctr"/>
            <a:r>
              <a:rPr sz="1200" b="0">
                <a:solidFill>
                  <a:srgbClr val="CBD5E1"/>
                </a:solidFill>
                <a:latin typeface="Segoe UI"/>
              </a:rPr>
              <a:t>Validation checks</a:t>
            </a:r>
          </a:p>
        </p:txBody>
      </p:sp>
      <p:sp>
        <p:nvSpPr>
          <p:cNvPr id="11" name="Rectangle 10"/>
          <p:cNvSpPr/>
          <p:nvPr/>
        </p:nvSpPr>
        <p:spPr>
          <a:xfrm>
            <a:off x="4590288" y="2816352"/>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7" y="2907792"/>
            <a:ext cx="3108960" cy="502920"/>
          </a:xfrm>
          <a:prstGeom prst="rect">
            <a:avLst/>
          </a:prstGeom>
          <a:noFill/>
        </p:spPr>
        <p:txBody>
          <a:bodyPr wrap="square">
            <a:spAutoFit/>
          </a:bodyPr>
          <a:lstStyle/>
          <a:p>
            <a:pPr algn="ctr"/>
            <a:r>
              <a:rPr sz="2600" b="1">
                <a:solidFill>
                  <a:srgbClr val="22D3EE"/>
                </a:solidFill>
                <a:latin typeface="Segoe UI"/>
              </a:rPr>
              <a:t>10 M rows</a:t>
            </a:r>
          </a:p>
        </p:txBody>
      </p:sp>
      <p:sp>
        <p:nvSpPr>
          <p:cNvPr id="13" name="TextBox 12"/>
          <p:cNvSpPr txBox="1"/>
          <p:nvPr/>
        </p:nvSpPr>
        <p:spPr>
          <a:xfrm>
            <a:off x="4681727" y="3456432"/>
            <a:ext cx="3108960" cy="457200"/>
          </a:xfrm>
          <a:prstGeom prst="rect">
            <a:avLst/>
          </a:prstGeom>
          <a:noFill/>
        </p:spPr>
        <p:txBody>
          <a:bodyPr wrap="square">
            <a:spAutoFit/>
          </a:bodyPr>
          <a:lstStyle/>
          <a:p>
            <a:pPr algn="ctr"/>
            <a:r>
              <a:rPr sz="1200" b="0">
                <a:solidFill>
                  <a:srgbClr val="CBD5E1"/>
                </a:solidFill>
                <a:latin typeface="Segoe UI"/>
              </a:rPr>
              <a:t>Portfolio scan evidence</a:t>
            </a:r>
          </a:p>
        </p:txBody>
      </p:sp>
      <p:sp>
        <p:nvSpPr>
          <p:cNvPr id="14" name="Rectangle 13"/>
          <p:cNvSpPr/>
          <p:nvPr/>
        </p:nvSpPr>
        <p:spPr>
          <a:xfrm>
            <a:off x="8677656" y="2816352"/>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9096" y="2907792"/>
            <a:ext cx="3108960" cy="502920"/>
          </a:xfrm>
          <a:prstGeom prst="rect">
            <a:avLst/>
          </a:prstGeom>
          <a:noFill/>
        </p:spPr>
        <p:txBody>
          <a:bodyPr wrap="square">
            <a:spAutoFit/>
          </a:bodyPr>
          <a:lstStyle/>
          <a:p>
            <a:pPr algn="ctr"/>
            <a:r>
              <a:rPr sz="2600" b="1">
                <a:solidFill>
                  <a:srgbClr val="3B82F6"/>
                </a:solidFill>
                <a:latin typeface="Segoe UI"/>
              </a:rPr>
              <a:t>27</a:t>
            </a:r>
          </a:p>
        </p:txBody>
      </p:sp>
      <p:sp>
        <p:nvSpPr>
          <p:cNvPr id="16" name="TextBox 15"/>
          <p:cNvSpPr txBox="1"/>
          <p:nvPr/>
        </p:nvSpPr>
        <p:spPr>
          <a:xfrm>
            <a:off x="8769096" y="3456432"/>
            <a:ext cx="3108960" cy="457200"/>
          </a:xfrm>
          <a:prstGeom prst="rect">
            <a:avLst/>
          </a:prstGeom>
          <a:noFill/>
        </p:spPr>
        <p:txBody>
          <a:bodyPr wrap="square">
            <a:spAutoFit/>
          </a:bodyPr>
          <a:lstStyle/>
          <a:p>
            <a:pPr algn="ctr"/>
            <a:r>
              <a:rPr sz="1200" b="0">
                <a:solidFill>
                  <a:srgbClr val="CBD5E1"/>
                </a:solidFill>
                <a:latin typeface="Segoe UI"/>
              </a:rPr>
              <a:t>API endpoints</a:t>
            </a:r>
          </a:p>
        </p:txBody>
      </p:sp>
      <p:sp>
        <p:nvSpPr>
          <p:cNvPr id="17" name="Rectangle 16"/>
          <p:cNvSpPr/>
          <p:nvPr/>
        </p:nvSpPr>
        <p:spPr>
          <a:xfrm>
            <a:off x="502920" y="4224528"/>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315968"/>
            <a:ext cx="3108960" cy="502920"/>
          </a:xfrm>
          <a:prstGeom prst="rect">
            <a:avLst/>
          </a:prstGeom>
          <a:noFill/>
        </p:spPr>
        <p:txBody>
          <a:bodyPr wrap="square">
            <a:spAutoFit/>
          </a:bodyPr>
          <a:lstStyle/>
          <a:p>
            <a:pPr algn="ctr"/>
            <a:r>
              <a:rPr sz="2600" b="1">
                <a:solidFill>
                  <a:srgbClr val="34D399"/>
                </a:solidFill>
                <a:latin typeface="Segoe UI"/>
              </a:rPr>
              <a:t>8 routes</a:t>
            </a:r>
          </a:p>
        </p:txBody>
      </p:sp>
      <p:sp>
        <p:nvSpPr>
          <p:cNvPr id="19" name="TextBox 18"/>
          <p:cNvSpPr txBox="1"/>
          <p:nvPr/>
        </p:nvSpPr>
        <p:spPr>
          <a:xfrm>
            <a:off x="594360" y="4864608"/>
            <a:ext cx="3108960" cy="457200"/>
          </a:xfrm>
          <a:prstGeom prst="rect">
            <a:avLst/>
          </a:prstGeom>
          <a:noFill/>
        </p:spPr>
        <p:txBody>
          <a:bodyPr wrap="square">
            <a:spAutoFit/>
          </a:bodyPr>
          <a:lstStyle/>
          <a:p>
            <a:pPr algn="ctr"/>
            <a:r>
              <a:rPr sz="1200" b="0">
                <a:solidFill>
                  <a:srgbClr val="CBD5E1"/>
                </a:solidFill>
                <a:latin typeface="Segoe UI"/>
              </a:rPr>
              <a:t>Analyst-facing screens</a:t>
            </a:r>
          </a:p>
        </p:txBody>
      </p:sp>
      <p:sp>
        <p:nvSpPr>
          <p:cNvPr id="20" name="Rectangle 19"/>
          <p:cNvSpPr/>
          <p:nvPr/>
        </p:nvSpPr>
        <p:spPr>
          <a:xfrm>
            <a:off x="4590288" y="4224528"/>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1727" y="4315968"/>
            <a:ext cx="3108960" cy="502920"/>
          </a:xfrm>
          <a:prstGeom prst="rect">
            <a:avLst/>
          </a:prstGeom>
          <a:noFill/>
        </p:spPr>
        <p:txBody>
          <a:bodyPr wrap="square">
            <a:spAutoFit/>
          </a:bodyPr>
          <a:lstStyle/>
          <a:p>
            <a:pPr algn="ctr"/>
            <a:r>
              <a:rPr sz="2600" b="1">
                <a:solidFill>
                  <a:srgbClr val="FBBF24"/>
                </a:solidFill>
                <a:latin typeface="Segoe UI"/>
              </a:rPr>
              <a:t>7 services</a:t>
            </a:r>
          </a:p>
        </p:txBody>
      </p:sp>
      <p:sp>
        <p:nvSpPr>
          <p:cNvPr id="22" name="TextBox 21"/>
          <p:cNvSpPr txBox="1"/>
          <p:nvPr/>
        </p:nvSpPr>
        <p:spPr>
          <a:xfrm>
            <a:off x="4681727" y="4864608"/>
            <a:ext cx="3108960" cy="457200"/>
          </a:xfrm>
          <a:prstGeom prst="rect">
            <a:avLst/>
          </a:prstGeom>
          <a:noFill/>
        </p:spPr>
        <p:txBody>
          <a:bodyPr wrap="square">
            <a:spAutoFit/>
          </a:bodyPr>
          <a:lstStyle/>
          <a:p>
            <a:pPr algn="ctr"/>
            <a:r>
              <a:rPr sz="1200" b="0">
                <a:solidFill>
                  <a:srgbClr val="CBD5E1"/>
                </a:solidFill>
                <a:latin typeface="Segoe UI"/>
              </a:rPr>
              <a:t>Local runtime</a:t>
            </a:r>
          </a:p>
        </p:txBody>
      </p:sp>
      <p:sp>
        <p:nvSpPr>
          <p:cNvPr id="23" name="Rectangle 22"/>
          <p:cNvSpPr/>
          <p:nvPr/>
        </p:nvSpPr>
        <p:spPr>
          <a:xfrm>
            <a:off x="8677656" y="4224528"/>
            <a:ext cx="3291840" cy="12618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9096" y="4315968"/>
            <a:ext cx="3108960" cy="502920"/>
          </a:xfrm>
          <a:prstGeom prst="rect">
            <a:avLst/>
          </a:prstGeom>
          <a:noFill/>
        </p:spPr>
        <p:txBody>
          <a:bodyPr wrap="square">
            <a:spAutoFit/>
          </a:bodyPr>
          <a:lstStyle/>
          <a:p>
            <a:pPr algn="ctr"/>
            <a:r>
              <a:rPr sz="2600" b="1">
                <a:solidFill>
                  <a:srgbClr val="22D3EE"/>
                </a:solidFill>
                <a:latin typeface="Segoe UI"/>
              </a:rPr>
              <a:t>Video</a:t>
            </a:r>
          </a:p>
        </p:txBody>
      </p:sp>
      <p:sp>
        <p:nvSpPr>
          <p:cNvPr id="25" name="TextBox 24"/>
          <p:cNvSpPr txBox="1"/>
          <p:nvPr/>
        </p:nvSpPr>
        <p:spPr>
          <a:xfrm>
            <a:off x="8769096" y="4864608"/>
            <a:ext cx="3108960" cy="457200"/>
          </a:xfrm>
          <a:prstGeom prst="rect">
            <a:avLst/>
          </a:prstGeom>
          <a:noFill/>
        </p:spPr>
        <p:txBody>
          <a:bodyPr wrap="square">
            <a:spAutoFit/>
          </a:bodyPr>
          <a:lstStyle/>
          <a:p>
            <a:pPr algn="ctr"/>
            <a:r>
              <a:rPr sz="1200" b="0">
                <a:solidFill>
                  <a:srgbClr val="CBD5E1"/>
                </a:solidFill>
                <a:latin typeface="Segoe UI"/>
              </a:rPr>
              <a:t>External walkthrough</a:t>
            </a:r>
          </a:p>
        </p:txBody>
      </p:sp>
      <p:sp>
        <p:nvSpPr>
          <p:cNvPr id="26" name="TextBox 25"/>
          <p:cNvSpPr txBox="1"/>
          <p:nvPr/>
        </p:nvSpPr>
        <p:spPr>
          <a:xfrm>
            <a:off x="502920" y="6291072"/>
            <a:ext cx="11155680" cy="320040"/>
          </a:xfrm>
          <a:prstGeom prst="rect">
            <a:avLst/>
          </a:prstGeom>
          <a:noFill/>
        </p:spPr>
        <p:txBody>
          <a:bodyPr wrap="square">
            <a:spAutoFit/>
          </a:bodyPr>
          <a:lstStyle/>
          <a:p>
            <a:pPr algn="ctr"/>
            <a:r>
              <a:rPr sz="900" b="0">
                <a:solidFill>
                  <a:srgbClr val="64748B"/>
                </a:solidFill>
                <a:latin typeface="Segoe UI"/>
              </a:rPr>
              <a:t>PostgreSQL  |  Redpanda  |  Redis  |  n8n  |  Ollama  |  FastAPI  |  Next.js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OPERATING PROBLEM</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Fraud triage breaks when scoring, evidence, and decision workflow are separated.</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61872"/>
            <a:ext cx="11548872"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594360" cy="822960"/>
          </a:xfrm>
          <a:prstGeom prst="rect">
            <a:avLst/>
          </a:prstGeom>
          <a:noFill/>
        </p:spPr>
        <p:txBody>
          <a:bodyPr wrap="square">
            <a:spAutoFit/>
          </a:bodyPr>
          <a:lstStyle/>
          <a:p>
            <a:pPr algn="l"/>
            <a:r>
              <a:rPr sz="2800" b="1">
                <a:solidFill>
                  <a:srgbClr val="3B82F6"/>
                </a:solidFill>
                <a:latin typeface="Segoe UI"/>
              </a:rPr>
              <a:t>01</a:t>
            </a:r>
          </a:p>
        </p:txBody>
      </p:sp>
      <p:sp>
        <p:nvSpPr>
          <p:cNvPr id="8" name="TextBox 7"/>
          <p:cNvSpPr txBox="1"/>
          <p:nvPr/>
        </p:nvSpPr>
        <p:spPr>
          <a:xfrm>
            <a:off x="1234440" y="1353312"/>
            <a:ext cx="10332720" cy="384048"/>
          </a:xfrm>
          <a:prstGeom prst="rect">
            <a:avLst/>
          </a:prstGeom>
          <a:noFill/>
        </p:spPr>
        <p:txBody>
          <a:bodyPr wrap="square">
            <a:spAutoFit/>
          </a:bodyPr>
          <a:lstStyle/>
          <a:p>
            <a:pPr algn="l"/>
            <a:r>
              <a:rPr sz="1300" b="1">
                <a:solidFill>
                  <a:srgbClr val="FFFFFF"/>
                </a:solidFill>
                <a:latin typeface="Segoe UI"/>
              </a:rPr>
              <a:t>Risk scores alone do not create operational decisions.</a:t>
            </a:r>
          </a:p>
        </p:txBody>
      </p:sp>
      <p:sp>
        <p:nvSpPr>
          <p:cNvPr id="9" name="TextBox 8"/>
          <p:cNvSpPr txBox="1"/>
          <p:nvPr/>
        </p:nvSpPr>
        <p:spPr>
          <a:xfrm>
            <a:off x="1234440" y="1792224"/>
            <a:ext cx="10332720" cy="502920"/>
          </a:xfrm>
          <a:prstGeom prst="rect">
            <a:avLst/>
          </a:prstGeom>
          <a:noFill/>
        </p:spPr>
        <p:txBody>
          <a:bodyPr wrap="square">
            <a:spAutoFit/>
          </a:bodyPr>
          <a:lstStyle/>
          <a:p>
            <a:pPr algn="l"/>
            <a:r>
              <a:rPr sz="1000" b="0">
                <a:solidFill>
                  <a:srgbClr val="CBD5E1"/>
                </a:solidFill>
                <a:latin typeface="Segoe UI"/>
              </a:rPr>
              <a:t>Analysts need structured review queues with priority tiers, inline score bars, and status filters, not a raw score value on a transaction record.</a:t>
            </a:r>
          </a:p>
        </p:txBody>
      </p:sp>
      <p:sp>
        <p:nvSpPr>
          <p:cNvPr id="10" name="Rectangle 9"/>
          <p:cNvSpPr/>
          <p:nvPr/>
        </p:nvSpPr>
        <p:spPr>
          <a:xfrm>
            <a:off x="320040" y="2523744"/>
            <a:ext cx="11548872"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615184"/>
            <a:ext cx="594360" cy="822960"/>
          </a:xfrm>
          <a:prstGeom prst="rect">
            <a:avLst/>
          </a:prstGeom>
          <a:noFill/>
        </p:spPr>
        <p:txBody>
          <a:bodyPr wrap="square">
            <a:spAutoFit/>
          </a:bodyPr>
          <a:lstStyle/>
          <a:p>
            <a:pPr algn="l"/>
            <a:r>
              <a:rPr sz="2800" b="1">
                <a:solidFill>
                  <a:srgbClr val="3B82F6"/>
                </a:solidFill>
                <a:latin typeface="Segoe UI"/>
              </a:rPr>
              <a:t>02</a:t>
            </a:r>
          </a:p>
        </p:txBody>
      </p:sp>
      <p:sp>
        <p:nvSpPr>
          <p:cNvPr id="12" name="TextBox 11"/>
          <p:cNvSpPr txBox="1"/>
          <p:nvPr/>
        </p:nvSpPr>
        <p:spPr>
          <a:xfrm>
            <a:off x="1234440" y="2615184"/>
            <a:ext cx="10332720" cy="384048"/>
          </a:xfrm>
          <a:prstGeom prst="rect">
            <a:avLst/>
          </a:prstGeom>
          <a:noFill/>
        </p:spPr>
        <p:txBody>
          <a:bodyPr wrap="square">
            <a:spAutoFit/>
          </a:bodyPr>
          <a:lstStyle/>
          <a:p>
            <a:pPr algn="l"/>
            <a:r>
              <a:rPr sz="1300" b="1">
                <a:solidFill>
                  <a:srgbClr val="FFFFFF"/>
                </a:solidFill>
                <a:latin typeface="Segoe UI"/>
              </a:rPr>
              <a:t>Evidence without grouping is a flat list.</a:t>
            </a:r>
          </a:p>
        </p:txBody>
      </p:sp>
      <p:sp>
        <p:nvSpPr>
          <p:cNvPr id="13" name="TextBox 12"/>
          <p:cNvSpPr txBox="1"/>
          <p:nvPr/>
        </p:nvSpPr>
        <p:spPr>
          <a:xfrm>
            <a:off x="1234440" y="3054096"/>
            <a:ext cx="10332720" cy="502920"/>
          </a:xfrm>
          <a:prstGeom prst="rect">
            <a:avLst/>
          </a:prstGeom>
          <a:noFill/>
        </p:spPr>
        <p:txBody>
          <a:bodyPr wrap="square">
            <a:spAutoFit/>
          </a:bodyPr>
          <a:lstStyle/>
          <a:p>
            <a:pPr algn="l"/>
            <a:r>
              <a:rPr sz="1000" b="0">
                <a:solidFill>
                  <a:srgbClr val="CBD5E1"/>
                </a:solidFill>
                <a:latin typeface="Segoe UI"/>
              </a:rPr>
              <a:t>Base, rich, behavioural, and graph signals carry different investigative weight. Mixing them in a flat view forces the analyst to re-derive context the system already knows.</a:t>
            </a:r>
          </a:p>
        </p:txBody>
      </p:sp>
      <p:sp>
        <p:nvSpPr>
          <p:cNvPr id="14" name="Rectangle 13"/>
          <p:cNvSpPr/>
          <p:nvPr/>
        </p:nvSpPr>
        <p:spPr>
          <a:xfrm>
            <a:off x="320040" y="3785615"/>
            <a:ext cx="11548872"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877055"/>
            <a:ext cx="594360" cy="822960"/>
          </a:xfrm>
          <a:prstGeom prst="rect">
            <a:avLst/>
          </a:prstGeom>
          <a:noFill/>
        </p:spPr>
        <p:txBody>
          <a:bodyPr wrap="square">
            <a:spAutoFit/>
          </a:bodyPr>
          <a:lstStyle/>
          <a:p>
            <a:pPr algn="l"/>
            <a:r>
              <a:rPr sz="2800" b="1">
                <a:solidFill>
                  <a:srgbClr val="3B82F6"/>
                </a:solidFill>
                <a:latin typeface="Segoe UI"/>
              </a:rPr>
              <a:t>03</a:t>
            </a:r>
          </a:p>
        </p:txBody>
      </p:sp>
      <p:sp>
        <p:nvSpPr>
          <p:cNvPr id="16" name="TextBox 15"/>
          <p:cNvSpPr txBox="1"/>
          <p:nvPr/>
        </p:nvSpPr>
        <p:spPr>
          <a:xfrm>
            <a:off x="1234440" y="3877055"/>
            <a:ext cx="10332720" cy="384048"/>
          </a:xfrm>
          <a:prstGeom prst="rect">
            <a:avLst/>
          </a:prstGeom>
          <a:noFill/>
        </p:spPr>
        <p:txBody>
          <a:bodyPr wrap="square">
            <a:spAutoFit/>
          </a:bodyPr>
          <a:lstStyle/>
          <a:p>
            <a:pPr algn="l"/>
            <a:r>
              <a:rPr sz="1300" b="1">
                <a:solidFill>
                  <a:srgbClr val="FFFFFF"/>
                </a:solidFill>
                <a:latin typeface="Segoe UI"/>
              </a:rPr>
              <a:t>Fraud teams need a bridge between transaction scoring and case investigation.</a:t>
            </a:r>
          </a:p>
        </p:txBody>
      </p:sp>
      <p:sp>
        <p:nvSpPr>
          <p:cNvPr id="17" name="TextBox 16"/>
          <p:cNvSpPr txBox="1"/>
          <p:nvPr/>
        </p:nvSpPr>
        <p:spPr>
          <a:xfrm>
            <a:off x="1234440" y="4315968"/>
            <a:ext cx="10332720" cy="502920"/>
          </a:xfrm>
          <a:prstGeom prst="rect">
            <a:avLst/>
          </a:prstGeom>
          <a:noFill/>
        </p:spPr>
        <p:txBody>
          <a:bodyPr wrap="square">
            <a:spAutoFit/>
          </a:bodyPr>
          <a:lstStyle/>
          <a:p>
            <a:pPr algn="l"/>
            <a:r>
              <a:rPr sz="1000" b="0">
                <a:solidFill>
                  <a:srgbClr val="CBD5E1"/>
                </a:solidFill>
                <a:latin typeface="Segoe UI"/>
              </a:rPr>
              <a:t>Scoring output must flow into a case record, trigger an evidence dossier, support an advisory brief, and produce an audit-ready verdict. Each stage requires a structured handoff.</a:t>
            </a:r>
          </a:p>
        </p:txBody>
      </p:sp>
      <p:sp>
        <p:nvSpPr>
          <p:cNvPr id="18" name="Rectangle 17"/>
          <p:cNvSpPr/>
          <p:nvPr/>
        </p:nvSpPr>
        <p:spPr>
          <a:xfrm>
            <a:off x="320040" y="5047488"/>
            <a:ext cx="11548872"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138927"/>
            <a:ext cx="594360" cy="822960"/>
          </a:xfrm>
          <a:prstGeom prst="rect">
            <a:avLst/>
          </a:prstGeom>
          <a:noFill/>
        </p:spPr>
        <p:txBody>
          <a:bodyPr wrap="square">
            <a:spAutoFit/>
          </a:bodyPr>
          <a:lstStyle/>
          <a:p>
            <a:pPr algn="l"/>
            <a:r>
              <a:rPr sz="2800" b="1">
                <a:solidFill>
                  <a:srgbClr val="3B82F6"/>
                </a:solidFill>
                <a:latin typeface="Segoe UI"/>
              </a:rPr>
              <a:t>04</a:t>
            </a:r>
          </a:p>
        </p:txBody>
      </p:sp>
      <p:sp>
        <p:nvSpPr>
          <p:cNvPr id="20" name="TextBox 19"/>
          <p:cNvSpPr txBox="1"/>
          <p:nvPr/>
        </p:nvSpPr>
        <p:spPr>
          <a:xfrm>
            <a:off x="1234440" y="5138927"/>
            <a:ext cx="10332720" cy="384048"/>
          </a:xfrm>
          <a:prstGeom prst="rect">
            <a:avLst/>
          </a:prstGeom>
          <a:noFill/>
        </p:spPr>
        <p:txBody>
          <a:bodyPr wrap="square">
            <a:spAutoFit/>
          </a:bodyPr>
          <a:lstStyle/>
          <a:p>
            <a:pPr algn="l"/>
            <a:r>
              <a:rPr sz="1300" b="1">
                <a:solidFill>
                  <a:srgbClr val="FFFFFF"/>
                </a:solidFill>
                <a:latin typeface="Segoe UI"/>
              </a:rPr>
              <a:t>Portfolio risk requires batch-level prioritisation, not row-by-row inspection.</a:t>
            </a:r>
          </a:p>
        </p:txBody>
      </p:sp>
      <p:sp>
        <p:nvSpPr>
          <p:cNvPr id="21" name="TextBox 20"/>
          <p:cNvSpPr txBox="1"/>
          <p:nvPr/>
        </p:nvSpPr>
        <p:spPr>
          <a:xfrm>
            <a:off x="1234440" y="5577840"/>
            <a:ext cx="10332720" cy="502920"/>
          </a:xfrm>
          <a:prstGeom prst="rect">
            <a:avLst/>
          </a:prstGeom>
          <a:noFill/>
        </p:spPr>
        <p:txBody>
          <a:bodyPr wrap="square">
            <a:spAutoFit/>
          </a:bodyPr>
          <a:lstStyle/>
          <a:p>
            <a:pPr algn="l"/>
            <a:r>
              <a:rPr sz="1000" b="0">
                <a:solidFill>
                  <a:srgbClr val="CBD5E1"/>
                </a:solidFill>
                <a:latin typeface="Segoe UI"/>
              </a:rPr>
              <a:t>At scale, analysts need risk-tier filtering, pagination, and selective case promotion from a scored batch rather than reviewing every transaction individually.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PRODUCT PROMISE</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One connected fraud decisioning workflow.</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9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19556" y="1188720"/>
            <a:ext cx="1005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9556" y="1353312"/>
            <a:ext cx="1005840" cy="914400"/>
          </a:xfrm>
          <a:prstGeom prst="rect">
            <a:avLst/>
          </a:prstGeom>
          <a:noFill/>
        </p:spPr>
        <p:txBody>
          <a:bodyPr wrap="square">
            <a:spAutoFit/>
          </a:bodyPr>
          <a:lstStyle/>
          <a:p>
            <a:pPr algn="ctr"/>
            <a:r>
              <a:rPr sz="900" b="1">
                <a:solidFill>
                  <a:srgbClr val="FFFFFF"/>
                </a:solidFill>
                <a:latin typeface="Segoe UI"/>
              </a:rPr>
              <a:t>Transaction</a:t>
            </a:r>
          </a:p>
        </p:txBody>
      </p:sp>
      <p:sp>
        <p:nvSpPr>
          <p:cNvPr id="9" name="TextBox 8"/>
          <p:cNvSpPr txBox="1"/>
          <p:nvPr/>
        </p:nvSpPr>
        <p:spPr>
          <a:xfrm>
            <a:off x="2034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10" name="Rectangle 9"/>
          <p:cNvSpPr/>
          <p:nvPr/>
        </p:nvSpPr>
        <p:spPr>
          <a:xfrm>
            <a:off x="2162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2556" y="1188720"/>
            <a:ext cx="1005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2556" y="1353312"/>
            <a:ext cx="1005840" cy="914400"/>
          </a:xfrm>
          <a:prstGeom prst="rect">
            <a:avLst/>
          </a:prstGeom>
          <a:noFill/>
        </p:spPr>
        <p:txBody>
          <a:bodyPr wrap="square">
            <a:spAutoFit/>
          </a:bodyPr>
          <a:lstStyle/>
          <a:p>
            <a:pPr algn="ctr"/>
            <a:r>
              <a:rPr sz="900" b="1">
                <a:solidFill>
                  <a:srgbClr val="FFFFFF"/>
                </a:solidFill>
                <a:latin typeface="Segoe UI"/>
              </a:rPr>
              <a:t>Hybrid Scoring</a:t>
            </a:r>
          </a:p>
        </p:txBody>
      </p:sp>
      <p:sp>
        <p:nvSpPr>
          <p:cNvPr id="13" name="TextBox 12"/>
          <p:cNvSpPr txBox="1"/>
          <p:nvPr/>
        </p:nvSpPr>
        <p:spPr>
          <a:xfrm>
            <a:off x="3177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14" name="Rectangle 13"/>
          <p:cNvSpPr/>
          <p:nvPr/>
        </p:nvSpPr>
        <p:spPr>
          <a:xfrm>
            <a:off x="3305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5556" y="1188720"/>
            <a:ext cx="100584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05556" y="1353312"/>
            <a:ext cx="1005840" cy="914400"/>
          </a:xfrm>
          <a:prstGeom prst="rect">
            <a:avLst/>
          </a:prstGeom>
          <a:noFill/>
        </p:spPr>
        <p:txBody>
          <a:bodyPr wrap="square">
            <a:spAutoFit/>
          </a:bodyPr>
          <a:lstStyle/>
          <a:p>
            <a:pPr algn="ctr"/>
            <a:r>
              <a:rPr sz="900" b="1">
                <a:solidFill>
                  <a:srgbClr val="FFFFFF"/>
                </a:solidFill>
                <a:latin typeface="Segoe UI"/>
              </a:rPr>
              <a:t>Decision Routing</a:t>
            </a:r>
          </a:p>
        </p:txBody>
      </p:sp>
      <p:sp>
        <p:nvSpPr>
          <p:cNvPr id="17" name="TextBox 16"/>
          <p:cNvSpPr txBox="1"/>
          <p:nvPr/>
        </p:nvSpPr>
        <p:spPr>
          <a:xfrm>
            <a:off x="4320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18" name="Rectangle 17"/>
          <p:cNvSpPr/>
          <p:nvPr/>
        </p:nvSpPr>
        <p:spPr>
          <a:xfrm>
            <a:off x="4448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48556" y="1188720"/>
            <a:ext cx="100584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48556" y="1353312"/>
            <a:ext cx="1005840" cy="914400"/>
          </a:xfrm>
          <a:prstGeom prst="rect">
            <a:avLst/>
          </a:prstGeom>
          <a:noFill/>
        </p:spPr>
        <p:txBody>
          <a:bodyPr wrap="square">
            <a:spAutoFit/>
          </a:bodyPr>
          <a:lstStyle/>
          <a:p>
            <a:pPr algn="ctr"/>
            <a:r>
              <a:rPr sz="900" b="1">
                <a:solidFill>
                  <a:srgbClr val="FFFFFF"/>
                </a:solidFill>
                <a:latin typeface="Segoe UI"/>
              </a:rPr>
              <a:t>Review Queue</a:t>
            </a:r>
          </a:p>
        </p:txBody>
      </p:sp>
      <p:sp>
        <p:nvSpPr>
          <p:cNvPr id="21" name="TextBox 20"/>
          <p:cNvSpPr txBox="1"/>
          <p:nvPr/>
        </p:nvSpPr>
        <p:spPr>
          <a:xfrm>
            <a:off x="5463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22" name="Rectangle 21"/>
          <p:cNvSpPr/>
          <p:nvPr/>
        </p:nvSpPr>
        <p:spPr>
          <a:xfrm>
            <a:off x="5591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91556" y="1188720"/>
            <a:ext cx="10058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91556" y="1353312"/>
            <a:ext cx="1005840" cy="914400"/>
          </a:xfrm>
          <a:prstGeom prst="rect">
            <a:avLst/>
          </a:prstGeom>
          <a:noFill/>
        </p:spPr>
        <p:txBody>
          <a:bodyPr wrap="square">
            <a:spAutoFit/>
          </a:bodyPr>
          <a:lstStyle/>
          <a:p>
            <a:pPr algn="ctr"/>
            <a:r>
              <a:rPr sz="900" b="1">
                <a:solidFill>
                  <a:srgbClr val="FFFFFF"/>
                </a:solidFill>
                <a:latin typeface="Segoe UI"/>
              </a:rPr>
              <a:t>Case Dossier</a:t>
            </a:r>
          </a:p>
        </p:txBody>
      </p:sp>
      <p:sp>
        <p:nvSpPr>
          <p:cNvPr id="25" name="TextBox 24"/>
          <p:cNvSpPr txBox="1"/>
          <p:nvPr/>
        </p:nvSpPr>
        <p:spPr>
          <a:xfrm>
            <a:off x="6606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26" name="Rectangle 25"/>
          <p:cNvSpPr/>
          <p:nvPr/>
        </p:nvSpPr>
        <p:spPr>
          <a:xfrm>
            <a:off x="6734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34556" y="1188720"/>
            <a:ext cx="10058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34556" y="1353312"/>
            <a:ext cx="1005840" cy="914400"/>
          </a:xfrm>
          <a:prstGeom prst="rect">
            <a:avLst/>
          </a:prstGeom>
          <a:noFill/>
        </p:spPr>
        <p:txBody>
          <a:bodyPr wrap="square">
            <a:spAutoFit/>
          </a:bodyPr>
          <a:lstStyle/>
          <a:p>
            <a:pPr algn="ctr"/>
            <a:r>
              <a:rPr sz="900" b="1">
                <a:solidFill>
                  <a:srgbClr val="FFFFFF"/>
                </a:solidFill>
                <a:latin typeface="Segoe UI"/>
              </a:rPr>
              <a:t>Investigation Brief</a:t>
            </a:r>
          </a:p>
        </p:txBody>
      </p:sp>
      <p:sp>
        <p:nvSpPr>
          <p:cNvPr id="29" name="TextBox 28"/>
          <p:cNvSpPr txBox="1"/>
          <p:nvPr/>
        </p:nvSpPr>
        <p:spPr>
          <a:xfrm>
            <a:off x="7749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30" name="Rectangle 29"/>
          <p:cNvSpPr/>
          <p:nvPr/>
        </p:nvSpPr>
        <p:spPr>
          <a:xfrm>
            <a:off x="7877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77556" y="1188720"/>
            <a:ext cx="10058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77556" y="1353312"/>
            <a:ext cx="1005840" cy="914400"/>
          </a:xfrm>
          <a:prstGeom prst="rect">
            <a:avLst/>
          </a:prstGeom>
          <a:noFill/>
        </p:spPr>
        <p:txBody>
          <a:bodyPr wrap="square">
            <a:spAutoFit/>
          </a:bodyPr>
          <a:lstStyle/>
          <a:p>
            <a:pPr algn="ctr"/>
            <a:r>
              <a:rPr sz="900" b="1">
                <a:solidFill>
                  <a:srgbClr val="FFFFFF"/>
                </a:solidFill>
                <a:latin typeface="Segoe UI"/>
              </a:rPr>
              <a:t>Analyst Verdict</a:t>
            </a:r>
          </a:p>
        </p:txBody>
      </p:sp>
      <p:sp>
        <p:nvSpPr>
          <p:cNvPr id="33" name="TextBox 32"/>
          <p:cNvSpPr txBox="1"/>
          <p:nvPr/>
        </p:nvSpPr>
        <p:spPr>
          <a:xfrm>
            <a:off x="8892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34" name="Rectangle 33"/>
          <p:cNvSpPr/>
          <p:nvPr/>
        </p:nvSpPr>
        <p:spPr>
          <a:xfrm>
            <a:off x="9020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20556" y="1188720"/>
            <a:ext cx="1005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20556" y="1353312"/>
            <a:ext cx="1005840" cy="914400"/>
          </a:xfrm>
          <a:prstGeom prst="rect">
            <a:avLst/>
          </a:prstGeom>
          <a:noFill/>
        </p:spPr>
        <p:txBody>
          <a:bodyPr wrap="square">
            <a:spAutoFit/>
          </a:bodyPr>
          <a:lstStyle/>
          <a:p>
            <a:pPr algn="ctr"/>
            <a:r>
              <a:rPr sz="900" b="1">
                <a:solidFill>
                  <a:srgbClr val="FFFFFF"/>
                </a:solidFill>
                <a:latin typeface="Segoe UI"/>
              </a:rPr>
              <a:t>Audit Trail</a:t>
            </a:r>
          </a:p>
        </p:txBody>
      </p:sp>
      <p:sp>
        <p:nvSpPr>
          <p:cNvPr id="37" name="TextBox 36"/>
          <p:cNvSpPr txBox="1"/>
          <p:nvPr/>
        </p:nvSpPr>
        <p:spPr>
          <a:xfrm>
            <a:off x="10035540" y="1572768"/>
            <a:ext cx="128016" cy="320040"/>
          </a:xfrm>
          <a:prstGeom prst="rect">
            <a:avLst/>
          </a:prstGeom>
          <a:noFill/>
        </p:spPr>
        <p:txBody>
          <a:bodyPr wrap="square">
            <a:spAutoFit/>
          </a:bodyPr>
          <a:lstStyle/>
          <a:p>
            <a:pPr algn="ctr"/>
            <a:r>
              <a:rPr sz="1000" b="1">
                <a:solidFill>
                  <a:srgbClr val="64748B"/>
                </a:solidFill>
                <a:latin typeface="Segoe UI"/>
              </a:rPr>
              <a:t>&gt;</a:t>
            </a:r>
          </a:p>
        </p:txBody>
      </p:sp>
      <p:sp>
        <p:nvSpPr>
          <p:cNvPr id="38" name="Rectangle 37"/>
          <p:cNvSpPr/>
          <p:nvPr/>
        </p:nvSpPr>
        <p:spPr>
          <a:xfrm>
            <a:off x="10163556" y="1188720"/>
            <a:ext cx="1005840" cy="118872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63556" y="1188720"/>
            <a:ext cx="100584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63556" y="1353312"/>
            <a:ext cx="1005840" cy="914400"/>
          </a:xfrm>
          <a:prstGeom prst="rect">
            <a:avLst/>
          </a:prstGeom>
          <a:noFill/>
        </p:spPr>
        <p:txBody>
          <a:bodyPr wrap="square">
            <a:spAutoFit/>
          </a:bodyPr>
          <a:lstStyle/>
          <a:p>
            <a:pPr algn="ctr"/>
            <a:r>
              <a:rPr sz="900" b="1">
                <a:solidFill>
                  <a:srgbClr val="FFFFFF"/>
                </a:solidFill>
                <a:latin typeface="Segoe UI"/>
              </a:rPr>
              <a:t>Portfolio Scan</a:t>
            </a:r>
          </a:p>
        </p:txBody>
      </p:sp>
      <p:sp>
        <p:nvSpPr>
          <p:cNvPr id="41" name="Rectangle 40"/>
          <p:cNvSpPr/>
          <p:nvPr/>
        </p:nvSpPr>
        <p:spPr>
          <a:xfrm>
            <a:off x="320040" y="251460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040" y="2724912"/>
            <a:ext cx="2715768" cy="14173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040" y="2724912"/>
            <a:ext cx="54864" cy="1417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2798064"/>
            <a:ext cx="2441448" cy="347472"/>
          </a:xfrm>
          <a:prstGeom prst="rect">
            <a:avLst/>
          </a:prstGeom>
          <a:noFill/>
        </p:spPr>
        <p:txBody>
          <a:bodyPr wrap="square">
            <a:spAutoFit/>
          </a:bodyPr>
          <a:lstStyle/>
          <a:p>
            <a:pPr algn="l"/>
            <a:r>
              <a:rPr sz="1100" b="1">
                <a:solidFill>
                  <a:srgbClr val="FFFFFF"/>
                </a:solidFill>
                <a:latin typeface="Segoe UI"/>
              </a:rPr>
              <a:t>Scoring Layer</a:t>
            </a:r>
          </a:p>
        </p:txBody>
      </p:sp>
      <p:sp>
        <p:nvSpPr>
          <p:cNvPr id="45" name="TextBox 44"/>
          <p:cNvSpPr txBox="1"/>
          <p:nvPr/>
        </p:nvSpPr>
        <p:spPr>
          <a:xfrm>
            <a:off x="502920" y="3182112"/>
            <a:ext cx="2441448" cy="868680"/>
          </a:xfrm>
          <a:prstGeom prst="rect">
            <a:avLst/>
          </a:prstGeom>
          <a:noFill/>
        </p:spPr>
        <p:txBody>
          <a:bodyPr wrap="square">
            <a:spAutoFit/>
          </a:bodyPr>
          <a:lstStyle/>
          <a:p>
            <a:pPr algn="l"/>
            <a:r>
              <a:rPr sz="900" b="0">
                <a:solidFill>
                  <a:srgbClr val="CBD5E1"/>
                </a:solidFill>
                <a:latin typeface="Segoe UI"/>
              </a:rPr>
              <a:t>Hybrid XGBoost and rule engine. Risk score, decision tier, and reason codes on every transaction.</a:t>
            </a:r>
          </a:p>
        </p:txBody>
      </p:sp>
      <p:sp>
        <p:nvSpPr>
          <p:cNvPr id="46" name="Rectangle 45"/>
          <p:cNvSpPr/>
          <p:nvPr/>
        </p:nvSpPr>
        <p:spPr>
          <a:xfrm>
            <a:off x="3264408" y="2724912"/>
            <a:ext cx="2715768" cy="14173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64408" y="2724912"/>
            <a:ext cx="54864" cy="14173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47288" y="2798064"/>
            <a:ext cx="2441448" cy="347472"/>
          </a:xfrm>
          <a:prstGeom prst="rect">
            <a:avLst/>
          </a:prstGeom>
          <a:noFill/>
        </p:spPr>
        <p:txBody>
          <a:bodyPr wrap="square">
            <a:spAutoFit/>
          </a:bodyPr>
          <a:lstStyle/>
          <a:p>
            <a:pPr algn="l"/>
            <a:r>
              <a:rPr sz="1100" b="1">
                <a:solidFill>
                  <a:srgbClr val="FFFFFF"/>
                </a:solidFill>
                <a:latin typeface="Segoe UI"/>
              </a:rPr>
              <a:t>Evidence Layer</a:t>
            </a:r>
          </a:p>
        </p:txBody>
      </p:sp>
      <p:sp>
        <p:nvSpPr>
          <p:cNvPr id="49" name="TextBox 48"/>
          <p:cNvSpPr txBox="1"/>
          <p:nvPr/>
        </p:nvSpPr>
        <p:spPr>
          <a:xfrm>
            <a:off x="3447288" y="3182112"/>
            <a:ext cx="2441448" cy="868680"/>
          </a:xfrm>
          <a:prstGeom prst="rect">
            <a:avLst/>
          </a:prstGeom>
          <a:noFill/>
        </p:spPr>
        <p:txBody>
          <a:bodyPr wrap="square">
            <a:spAutoFit/>
          </a:bodyPr>
          <a:lstStyle/>
          <a:p>
            <a:pPr algn="l"/>
            <a:r>
              <a:rPr sz="900" b="0">
                <a:solidFill>
                  <a:srgbClr val="CBD5E1"/>
                </a:solidFill>
                <a:latin typeface="Segoe UI"/>
              </a:rPr>
              <a:t>Case dossier groups signals by origin layer. Analyst sees which layer fired and what it contributes.</a:t>
            </a:r>
          </a:p>
        </p:txBody>
      </p:sp>
      <p:sp>
        <p:nvSpPr>
          <p:cNvPr id="50" name="Rectangle 49"/>
          <p:cNvSpPr/>
          <p:nvPr/>
        </p:nvSpPr>
        <p:spPr>
          <a:xfrm>
            <a:off x="6208776" y="2724912"/>
            <a:ext cx="2715768" cy="14173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08776" y="2724912"/>
            <a:ext cx="54864" cy="1417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91656" y="2798064"/>
            <a:ext cx="2441448" cy="347472"/>
          </a:xfrm>
          <a:prstGeom prst="rect">
            <a:avLst/>
          </a:prstGeom>
          <a:noFill/>
        </p:spPr>
        <p:txBody>
          <a:bodyPr wrap="square">
            <a:spAutoFit/>
          </a:bodyPr>
          <a:lstStyle/>
          <a:p>
            <a:pPr algn="l"/>
            <a:r>
              <a:rPr sz="1100" b="1">
                <a:solidFill>
                  <a:srgbClr val="FFFFFF"/>
                </a:solidFill>
                <a:latin typeface="Segoe UI"/>
              </a:rPr>
              <a:t>Governance Layer</a:t>
            </a:r>
          </a:p>
        </p:txBody>
      </p:sp>
      <p:sp>
        <p:nvSpPr>
          <p:cNvPr id="53" name="TextBox 52"/>
          <p:cNvSpPr txBox="1"/>
          <p:nvPr/>
        </p:nvSpPr>
        <p:spPr>
          <a:xfrm>
            <a:off x="6391656" y="3182112"/>
            <a:ext cx="2441448" cy="868680"/>
          </a:xfrm>
          <a:prstGeom prst="rect">
            <a:avLst/>
          </a:prstGeom>
          <a:noFill/>
        </p:spPr>
        <p:txBody>
          <a:bodyPr wrap="square">
            <a:spAutoFit/>
          </a:bodyPr>
          <a:lstStyle/>
          <a:p>
            <a:pPr algn="l"/>
            <a:r>
              <a:rPr sz="900" b="0">
                <a:solidFill>
                  <a:srgbClr val="CBD5E1"/>
                </a:solidFill>
                <a:latin typeface="Segoe UI"/>
              </a:rPr>
              <a:t>AI brief is schema-validated and advisory. Analyst verdict is the required final action.</a:t>
            </a:r>
          </a:p>
        </p:txBody>
      </p:sp>
      <p:sp>
        <p:nvSpPr>
          <p:cNvPr id="54" name="Rectangle 53"/>
          <p:cNvSpPr/>
          <p:nvPr/>
        </p:nvSpPr>
        <p:spPr>
          <a:xfrm>
            <a:off x="9153144" y="2724912"/>
            <a:ext cx="2715768" cy="14173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53144" y="2724912"/>
            <a:ext cx="54864" cy="14173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36024" y="2798064"/>
            <a:ext cx="2441448" cy="347472"/>
          </a:xfrm>
          <a:prstGeom prst="rect">
            <a:avLst/>
          </a:prstGeom>
          <a:noFill/>
        </p:spPr>
        <p:txBody>
          <a:bodyPr wrap="square">
            <a:spAutoFit/>
          </a:bodyPr>
          <a:lstStyle/>
          <a:p>
            <a:pPr algn="l"/>
            <a:r>
              <a:rPr sz="1100" b="1">
                <a:solidFill>
                  <a:srgbClr val="FFFFFF"/>
                </a:solidFill>
                <a:latin typeface="Segoe UI"/>
              </a:rPr>
              <a:t>Operational Layer</a:t>
            </a:r>
          </a:p>
        </p:txBody>
      </p:sp>
      <p:sp>
        <p:nvSpPr>
          <p:cNvPr id="57" name="TextBox 56"/>
          <p:cNvSpPr txBox="1"/>
          <p:nvPr/>
        </p:nvSpPr>
        <p:spPr>
          <a:xfrm>
            <a:off x="9336024" y="3182112"/>
            <a:ext cx="2441448" cy="868680"/>
          </a:xfrm>
          <a:prstGeom prst="rect">
            <a:avLst/>
          </a:prstGeom>
          <a:noFill/>
        </p:spPr>
        <p:txBody>
          <a:bodyPr wrap="square">
            <a:spAutoFit/>
          </a:bodyPr>
          <a:lstStyle/>
          <a:p>
            <a:pPr algn="l"/>
            <a:r>
              <a:rPr sz="900" b="0">
                <a:solidFill>
                  <a:srgbClr val="CBD5E1"/>
                </a:solidFill>
                <a:latin typeface="Segoe UI"/>
              </a:rPr>
              <a:t>Every action is timestamped, sourced, and case-linked in the workflow audit trail.</a:t>
            </a:r>
          </a:p>
        </p:txBody>
      </p:sp>
      <p:sp>
        <p:nvSpPr>
          <p:cNvPr id="58" name="Rectangle 57"/>
          <p:cNvSpPr/>
          <p:nvPr/>
        </p:nvSpPr>
        <p:spPr>
          <a:xfrm>
            <a:off x="320040" y="4297680"/>
            <a:ext cx="11548872" cy="68580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4389120"/>
            <a:ext cx="11064240" cy="502920"/>
          </a:xfrm>
          <a:prstGeom prst="rect">
            <a:avLst/>
          </a:prstGeom>
          <a:noFill/>
        </p:spPr>
        <p:txBody>
          <a:bodyPr wrap="square">
            <a:spAutoFit/>
          </a:bodyPr>
          <a:lstStyle/>
          <a:p>
            <a:pPr algn="ctr"/>
            <a:r>
              <a:rPr sz="1100" b="0">
                <a:solidFill>
                  <a:srgbClr val="FFFFFF"/>
                </a:solidFill>
                <a:latin typeface="Segoe UI"/>
              </a:rPr>
              <a:t>The console turns model output into a reviewable, evidence-led, analyst-controlled decision workflow. Scoring feeds triage. Triage feeds investigation. Investigation feeds verdict. Verdict writes the audit trail.</a:t>
            </a:r>
          </a:p>
        </p:txBody>
      </p:sp>
      <p:sp>
        <p:nvSpPr>
          <p:cNvPr id="60" name="TextBox 59"/>
          <p:cNvSpPr txBox="1"/>
          <p:nvPr/>
        </p:nvSpPr>
        <p:spPr>
          <a:xfrm>
            <a:off x="320040" y="5120640"/>
            <a:ext cx="11548872" cy="274320"/>
          </a:xfrm>
          <a:prstGeom prst="rect">
            <a:avLst/>
          </a:prstGeom>
          <a:noFill/>
        </p:spPr>
        <p:txBody>
          <a:bodyPr wrap="square">
            <a:spAutoFit/>
          </a:bodyPr>
          <a:lstStyle/>
          <a:p>
            <a:pPr algn="ctr"/>
            <a:r>
              <a:rPr sz="900" b="0">
                <a:solidFill>
                  <a:srgbClr val="64748B"/>
                </a:solidFill>
                <a:latin typeface="Segoe UI"/>
              </a:rPr>
              <a:t>41/41 release readiness checks pass across all nine workflow stages.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ARCHITECTURE</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Modular service topology with clear decision boundaries.</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88720"/>
            <a:ext cx="368503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307592"/>
            <a:ext cx="3465576" cy="347472"/>
          </a:xfrm>
          <a:prstGeom prst="rect">
            <a:avLst/>
          </a:prstGeom>
          <a:noFill/>
        </p:spPr>
        <p:txBody>
          <a:bodyPr wrap="square">
            <a:spAutoFit/>
          </a:bodyPr>
          <a:lstStyle/>
          <a:p>
            <a:pPr algn="l"/>
            <a:r>
              <a:rPr sz="1100" b="1">
                <a:solidFill>
                  <a:srgbClr val="FFFFFF"/>
                </a:solidFill>
                <a:latin typeface="Segoe UI"/>
              </a:rPr>
              <a:t>FastAPI</a:t>
            </a:r>
          </a:p>
        </p:txBody>
      </p:sp>
      <p:sp>
        <p:nvSpPr>
          <p:cNvPr id="9" name="TextBox 8"/>
          <p:cNvSpPr txBox="1"/>
          <p:nvPr/>
        </p:nvSpPr>
        <p:spPr>
          <a:xfrm>
            <a:off x="429768" y="1673352"/>
            <a:ext cx="3465576" cy="256032"/>
          </a:xfrm>
          <a:prstGeom prst="rect">
            <a:avLst/>
          </a:prstGeom>
          <a:noFill/>
        </p:spPr>
        <p:txBody>
          <a:bodyPr wrap="square">
            <a:spAutoFit/>
          </a:bodyPr>
          <a:lstStyle/>
          <a:p>
            <a:pPr algn="l"/>
            <a:r>
              <a:rPr sz="900" b="1">
                <a:solidFill>
                  <a:srgbClr val="3B82F6"/>
                </a:solidFill>
                <a:latin typeface="Segoe UI"/>
              </a:rPr>
              <a:t>Backend API</a:t>
            </a:r>
          </a:p>
        </p:txBody>
      </p:sp>
      <p:sp>
        <p:nvSpPr>
          <p:cNvPr id="10" name="TextBox 9"/>
          <p:cNvSpPr txBox="1"/>
          <p:nvPr/>
        </p:nvSpPr>
        <p:spPr>
          <a:xfrm>
            <a:off x="429768" y="1965960"/>
            <a:ext cx="3465576" cy="566928"/>
          </a:xfrm>
          <a:prstGeom prst="rect">
            <a:avLst/>
          </a:prstGeom>
          <a:noFill/>
        </p:spPr>
        <p:txBody>
          <a:bodyPr wrap="square">
            <a:spAutoFit/>
          </a:bodyPr>
          <a:lstStyle/>
          <a:p>
            <a:pPr algn="l"/>
            <a:r>
              <a:rPr sz="900" b="0">
                <a:solidFill>
                  <a:srgbClr val="CBD5E1"/>
                </a:solidFill>
                <a:latin typeface="Segoe UI"/>
              </a:rPr>
              <a:t>27 REST endpoints. Scoring, cases, audit, portfolio.</a:t>
            </a:r>
          </a:p>
        </p:txBody>
      </p:sp>
      <p:sp>
        <p:nvSpPr>
          <p:cNvPr id="11" name="Rectangle 10"/>
          <p:cNvSpPr/>
          <p:nvPr/>
        </p:nvSpPr>
        <p:spPr>
          <a:xfrm>
            <a:off x="4251960" y="118872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188720"/>
            <a:ext cx="3685032"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1307592"/>
            <a:ext cx="3465576" cy="347472"/>
          </a:xfrm>
          <a:prstGeom prst="rect">
            <a:avLst/>
          </a:prstGeom>
          <a:noFill/>
        </p:spPr>
        <p:txBody>
          <a:bodyPr wrap="square">
            <a:spAutoFit/>
          </a:bodyPr>
          <a:lstStyle/>
          <a:p>
            <a:pPr algn="l"/>
            <a:r>
              <a:rPr sz="1100" b="1">
                <a:solidFill>
                  <a:srgbClr val="FFFFFF"/>
                </a:solidFill>
                <a:latin typeface="Segoe UI"/>
              </a:rPr>
              <a:t>Next.js Frontend</a:t>
            </a:r>
          </a:p>
        </p:txBody>
      </p:sp>
      <p:sp>
        <p:nvSpPr>
          <p:cNvPr id="14" name="TextBox 13"/>
          <p:cNvSpPr txBox="1"/>
          <p:nvPr/>
        </p:nvSpPr>
        <p:spPr>
          <a:xfrm>
            <a:off x="4361688" y="1673352"/>
            <a:ext cx="3465576" cy="256032"/>
          </a:xfrm>
          <a:prstGeom prst="rect">
            <a:avLst/>
          </a:prstGeom>
          <a:noFill/>
        </p:spPr>
        <p:txBody>
          <a:bodyPr wrap="square">
            <a:spAutoFit/>
          </a:bodyPr>
          <a:lstStyle/>
          <a:p>
            <a:pPr algn="l"/>
            <a:r>
              <a:rPr sz="900" b="1">
                <a:solidFill>
                  <a:srgbClr val="22D3EE"/>
                </a:solidFill>
                <a:latin typeface="Segoe UI"/>
              </a:rPr>
              <a:t>React 18</a:t>
            </a:r>
          </a:p>
        </p:txBody>
      </p:sp>
      <p:sp>
        <p:nvSpPr>
          <p:cNvPr id="15" name="TextBox 14"/>
          <p:cNvSpPr txBox="1"/>
          <p:nvPr/>
        </p:nvSpPr>
        <p:spPr>
          <a:xfrm>
            <a:off x="4361688" y="1965960"/>
            <a:ext cx="3465576" cy="566928"/>
          </a:xfrm>
          <a:prstGeom prst="rect">
            <a:avLst/>
          </a:prstGeom>
          <a:noFill/>
        </p:spPr>
        <p:txBody>
          <a:bodyPr wrap="square">
            <a:spAutoFit/>
          </a:bodyPr>
          <a:lstStyle/>
          <a:p>
            <a:pPr algn="l"/>
            <a:r>
              <a:rPr sz="900" b="0">
                <a:solidFill>
                  <a:srgbClr val="CBD5E1"/>
                </a:solidFill>
                <a:latin typeface="Segoe UI"/>
              </a:rPr>
              <a:t>8 analyst screens. Command center through portfolio scan.</a:t>
            </a:r>
          </a:p>
        </p:txBody>
      </p:sp>
      <p:sp>
        <p:nvSpPr>
          <p:cNvPr id="16" name="Rectangle 15"/>
          <p:cNvSpPr/>
          <p:nvPr/>
        </p:nvSpPr>
        <p:spPr>
          <a:xfrm>
            <a:off x="8183880" y="118872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80" y="1188720"/>
            <a:ext cx="3685032"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307592"/>
            <a:ext cx="3465576" cy="347472"/>
          </a:xfrm>
          <a:prstGeom prst="rect">
            <a:avLst/>
          </a:prstGeom>
          <a:noFill/>
        </p:spPr>
        <p:txBody>
          <a:bodyPr wrap="square">
            <a:spAutoFit/>
          </a:bodyPr>
          <a:lstStyle/>
          <a:p>
            <a:pPr algn="l"/>
            <a:r>
              <a:rPr sz="1100" b="1">
                <a:solidFill>
                  <a:srgbClr val="FFFFFF"/>
                </a:solidFill>
                <a:latin typeface="Segoe UI"/>
              </a:rPr>
              <a:t>Redpanda</a:t>
            </a:r>
          </a:p>
        </p:txBody>
      </p:sp>
      <p:sp>
        <p:nvSpPr>
          <p:cNvPr id="19" name="TextBox 18"/>
          <p:cNvSpPr txBox="1"/>
          <p:nvPr/>
        </p:nvSpPr>
        <p:spPr>
          <a:xfrm>
            <a:off x="8293608" y="1673352"/>
            <a:ext cx="3465576" cy="256032"/>
          </a:xfrm>
          <a:prstGeom prst="rect">
            <a:avLst/>
          </a:prstGeom>
          <a:noFill/>
        </p:spPr>
        <p:txBody>
          <a:bodyPr wrap="square">
            <a:spAutoFit/>
          </a:bodyPr>
          <a:lstStyle/>
          <a:p>
            <a:pPr algn="l"/>
            <a:r>
              <a:rPr sz="900" b="1">
                <a:solidFill>
                  <a:srgbClr val="34D399"/>
                </a:solidFill>
                <a:latin typeface="Segoe UI"/>
              </a:rPr>
              <a:t>Kafka-compatible</a:t>
            </a:r>
          </a:p>
        </p:txBody>
      </p:sp>
      <p:sp>
        <p:nvSpPr>
          <p:cNvPr id="20" name="TextBox 19"/>
          <p:cNvSpPr txBox="1"/>
          <p:nvPr/>
        </p:nvSpPr>
        <p:spPr>
          <a:xfrm>
            <a:off x="8293608" y="1965960"/>
            <a:ext cx="3465576" cy="566928"/>
          </a:xfrm>
          <a:prstGeom prst="rect">
            <a:avLst/>
          </a:prstGeom>
          <a:noFill/>
        </p:spPr>
        <p:txBody>
          <a:bodyPr wrap="square">
            <a:spAutoFit/>
          </a:bodyPr>
          <a:lstStyle/>
          <a:p>
            <a:pPr algn="l"/>
            <a:r>
              <a:rPr sz="900" b="0">
                <a:solidFill>
                  <a:srgbClr val="CBD5E1"/>
                </a:solidFill>
                <a:latin typeface="Segoe UI"/>
              </a:rPr>
              <a:t>2 topics: score.results and cases.investigate.</a:t>
            </a:r>
          </a:p>
        </p:txBody>
      </p:sp>
      <p:sp>
        <p:nvSpPr>
          <p:cNvPr id="21" name="Rectangle 20"/>
          <p:cNvSpPr/>
          <p:nvPr/>
        </p:nvSpPr>
        <p:spPr>
          <a:xfrm>
            <a:off x="320040" y="283464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2834640"/>
            <a:ext cx="368503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2953512"/>
            <a:ext cx="3465576" cy="347472"/>
          </a:xfrm>
          <a:prstGeom prst="rect">
            <a:avLst/>
          </a:prstGeom>
          <a:noFill/>
        </p:spPr>
        <p:txBody>
          <a:bodyPr wrap="square">
            <a:spAutoFit/>
          </a:bodyPr>
          <a:lstStyle/>
          <a:p>
            <a:pPr algn="l"/>
            <a:r>
              <a:rPr sz="1100" b="1">
                <a:solidFill>
                  <a:srgbClr val="FFFFFF"/>
                </a:solidFill>
                <a:latin typeface="Segoe UI"/>
              </a:rPr>
              <a:t>PostgreSQL</a:t>
            </a:r>
          </a:p>
        </p:txBody>
      </p:sp>
      <p:sp>
        <p:nvSpPr>
          <p:cNvPr id="24" name="TextBox 23"/>
          <p:cNvSpPr txBox="1"/>
          <p:nvPr/>
        </p:nvSpPr>
        <p:spPr>
          <a:xfrm>
            <a:off x="429768" y="3319272"/>
            <a:ext cx="3465576" cy="256032"/>
          </a:xfrm>
          <a:prstGeom prst="rect">
            <a:avLst/>
          </a:prstGeom>
          <a:noFill/>
        </p:spPr>
        <p:txBody>
          <a:bodyPr wrap="square">
            <a:spAutoFit/>
          </a:bodyPr>
          <a:lstStyle/>
          <a:p>
            <a:pPr algn="l"/>
            <a:r>
              <a:rPr sz="900" b="1">
                <a:solidFill>
                  <a:srgbClr val="3B82F6"/>
                </a:solidFill>
                <a:latin typeface="Segoe UI"/>
              </a:rPr>
              <a:t>v16</a:t>
            </a:r>
          </a:p>
        </p:txBody>
      </p:sp>
      <p:sp>
        <p:nvSpPr>
          <p:cNvPr id="25" name="TextBox 24"/>
          <p:cNvSpPr txBox="1"/>
          <p:nvPr/>
        </p:nvSpPr>
        <p:spPr>
          <a:xfrm>
            <a:off x="429768" y="3611880"/>
            <a:ext cx="3465576" cy="566928"/>
          </a:xfrm>
          <a:prstGeom prst="rect">
            <a:avLst/>
          </a:prstGeom>
          <a:noFill/>
        </p:spPr>
        <p:txBody>
          <a:bodyPr wrap="square">
            <a:spAutoFit/>
          </a:bodyPr>
          <a:lstStyle/>
          <a:p>
            <a:pPr algn="l"/>
            <a:r>
              <a:rPr sz="900" b="0">
                <a:solidFill>
                  <a:srgbClr val="CBD5E1"/>
                </a:solidFill>
                <a:latin typeface="Segoe UI"/>
              </a:rPr>
              <a:t>5-table persistence model. Cases, scores, events, reports.</a:t>
            </a:r>
          </a:p>
        </p:txBody>
      </p:sp>
      <p:sp>
        <p:nvSpPr>
          <p:cNvPr id="26" name="Rectangle 25"/>
          <p:cNvSpPr/>
          <p:nvPr/>
        </p:nvSpPr>
        <p:spPr>
          <a:xfrm>
            <a:off x="4251960" y="283464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60" y="2834640"/>
            <a:ext cx="3685032"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61688" y="2953512"/>
            <a:ext cx="3465576" cy="347472"/>
          </a:xfrm>
          <a:prstGeom prst="rect">
            <a:avLst/>
          </a:prstGeom>
          <a:noFill/>
        </p:spPr>
        <p:txBody>
          <a:bodyPr wrap="square">
            <a:spAutoFit/>
          </a:bodyPr>
          <a:lstStyle/>
          <a:p>
            <a:pPr algn="l"/>
            <a:r>
              <a:rPr sz="1100" b="1">
                <a:solidFill>
                  <a:srgbClr val="FFFFFF"/>
                </a:solidFill>
                <a:latin typeface="Segoe UI"/>
              </a:rPr>
              <a:t>Redis</a:t>
            </a:r>
          </a:p>
        </p:txBody>
      </p:sp>
      <p:sp>
        <p:nvSpPr>
          <p:cNvPr id="29" name="TextBox 28"/>
          <p:cNvSpPr txBox="1"/>
          <p:nvPr/>
        </p:nvSpPr>
        <p:spPr>
          <a:xfrm>
            <a:off x="4361688" y="3319272"/>
            <a:ext cx="3465576" cy="256032"/>
          </a:xfrm>
          <a:prstGeom prst="rect">
            <a:avLst/>
          </a:prstGeom>
          <a:noFill/>
        </p:spPr>
        <p:txBody>
          <a:bodyPr wrap="square">
            <a:spAutoFit/>
          </a:bodyPr>
          <a:lstStyle/>
          <a:p>
            <a:pPr algn="l"/>
            <a:r>
              <a:rPr sz="900" b="1">
                <a:solidFill>
                  <a:srgbClr val="22D3EE"/>
                </a:solidFill>
                <a:latin typeface="Segoe UI"/>
              </a:rPr>
              <a:t>Cache and idempotency</a:t>
            </a:r>
          </a:p>
        </p:txBody>
      </p:sp>
      <p:sp>
        <p:nvSpPr>
          <p:cNvPr id="30" name="TextBox 29"/>
          <p:cNvSpPr txBox="1"/>
          <p:nvPr/>
        </p:nvSpPr>
        <p:spPr>
          <a:xfrm>
            <a:off x="4361688" y="3611880"/>
            <a:ext cx="3465576" cy="566928"/>
          </a:xfrm>
          <a:prstGeom prst="rect">
            <a:avLst/>
          </a:prstGeom>
          <a:noFill/>
        </p:spPr>
        <p:txBody>
          <a:bodyPr wrap="square">
            <a:spAutoFit/>
          </a:bodyPr>
          <a:lstStyle/>
          <a:p>
            <a:pPr algn="l"/>
            <a:r>
              <a:rPr sz="900" b="0">
                <a:solidFill>
                  <a:srgbClr val="CBD5E1"/>
                </a:solidFill>
                <a:latin typeface="Segoe UI"/>
              </a:rPr>
              <a:t>Request deduplication. 24-hour TTL by request_id.</a:t>
            </a:r>
          </a:p>
        </p:txBody>
      </p:sp>
      <p:sp>
        <p:nvSpPr>
          <p:cNvPr id="31" name="Rectangle 30"/>
          <p:cNvSpPr/>
          <p:nvPr/>
        </p:nvSpPr>
        <p:spPr>
          <a:xfrm>
            <a:off x="8183880" y="283464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83880" y="2834640"/>
            <a:ext cx="3685032"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3608" y="2953512"/>
            <a:ext cx="3465576" cy="347472"/>
          </a:xfrm>
          <a:prstGeom prst="rect">
            <a:avLst/>
          </a:prstGeom>
          <a:noFill/>
        </p:spPr>
        <p:txBody>
          <a:bodyPr wrap="square">
            <a:spAutoFit/>
          </a:bodyPr>
          <a:lstStyle/>
          <a:p>
            <a:pPr algn="l"/>
            <a:r>
              <a:rPr sz="1100" b="1">
                <a:solidFill>
                  <a:srgbClr val="FFFFFF"/>
                </a:solidFill>
                <a:latin typeface="Segoe UI"/>
              </a:rPr>
              <a:t>n8n</a:t>
            </a:r>
          </a:p>
        </p:txBody>
      </p:sp>
      <p:sp>
        <p:nvSpPr>
          <p:cNvPr id="34" name="TextBox 33"/>
          <p:cNvSpPr txBox="1"/>
          <p:nvPr/>
        </p:nvSpPr>
        <p:spPr>
          <a:xfrm>
            <a:off x="8293608" y="3319272"/>
            <a:ext cx="3465576" cy="256032"/>
          </a:xfrm>
          <a:prstGeom prst="rect">
            <a:avLst/>
          </a:prstGeom>
          <a:noFill/>
        </p:spPr>
        <p:txBody>
          <a:bodyPr wrap="square">
            <a:spAutoFit/>
          </a:bodyPr>
          <a:lstStyle/>
          <a:p>
            <a:pPr algn="l"/>
            <a:r>
              <a:rPr sz="900" b="1">
                <a:solidFill>
                  <a:srgbClr val="34D399"/>
                </a:solidFill>
                <a:latin typeface="Segoe UI"/>
              </a:rPr>
              <a:t>Workflow automation</a:t>
            </a:r>
          </a:p>
        </p:txBody>
      </p:sp>
      <p:sp>
        <p:nvSpPr>
          <p:cNvPr id="35" name="TextBox 34"/>
          <p:cNvSpPr txBox="1"/>
          <p:nvPr/>
        </p:nvSpPr>
        <p:spPr>
          <a:xfrm>
            <a:off x="8293608" y="3611880"/>
            <a:ext cx="3465576" cy="566928"/>
          </a:xfrm>
          <a:prstGeom prst="rect">
            <a:avLst/>
          </a:prstGeom>
          <a:noFill/>
        </p:spPr>
        <p:txBody>
          <a:bodyPr wrap="square">
            <a:spAutoFit/>
          </a:bodyPr>
          <a:lstStyle/>
          <a:p>
            <a:pPr algn="l"/>
            <a:r>
              <a:rPr sz="900" b="0">
                <a:solidFill>
                  <a:srgbClr val="CBD5E1"/>
                </a:solidFill>
                <a:latin typeface="Segoe UI"/>
              </a:rPr>
              <a:t>Webhook dispatch and callback recording for case actions.</a:t>
            </a:r>
          </a:p>
        </p:txBody>
      </p:sp>
      <p:sp>
        <p:nvSpPr>
          <p:cNvPr id="36" name="Rectangle 35"/>
          <p:cNvSpPr/>
          <p:nvPr/>
        </p:nvSpPr>
        <p:spPr>
          <a:xfrm>
            <a:off x="320040" y="448056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4480560"/>
            <a:ext cx="3685032" cy="45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 y="4599432"/>
            <a:ext cx="3465576" cy="347472"/>
          </a:xfrm>
          <a:prstGeom prst="rect">
            <a:avLst/>
          </a:prstGeom>
          <a:noFill/>
        </p:spPr>
        <p:txBody>
          <a:bodyPr wrap="square">
            <a:spAutoFit/>
          </a:bodyPr>
          <a:lstStyle/>
          <a:p>
            <a:pPr algn="l"/>
            <a:r>
              <a:rPr sz="1100" b="1">
                <a:solidFill>
                  <a:srgbClr val="FFFFFF"/>
                </a:solidFill>
                <a:latin typeface="Segoe UI"/>
              </a:rPr>
              <a:t>Ollama</a:t>
            </a:r>
          </a:p>
        </p:txBody>
      </p:sp>
      <p:sp>
        <p:nvSpPr>
          <p:cNvPr id="39" name="TextBox 38"/>
          <p:cNvSpPr txBox="1"/>
          <p:nvPr/>
        </p:nvSpPr>
        <p:spPr>
          <a:xfrm>
            <a:off x="429768" y="4965192"/>
            <a:ext cx="3465576" cy="256032"/>
          </a:xfrm>
          <a:prstGeom prst="rect">
            <a:avLst/>
          </a:prstGeom>
          <a:noFill/>
        </p:spPr>
        <p:txBody>
          <a:bodyPr wrap="square">
            <a:spAutoFit/>
          </a:bodyPr>
          <a:lstStyle/>
          <a:p>
            <a:pPr algn="l"/>
            <a:r>
              <a:rPr sz="900" b="1">
                <a:solidFill>
                  <a:srgbClr val="FBBF24"/>
                </a:solidFill>
                <a:latin typeface="Segoe UI"/>
              </a:rPr>
              <a:t>Local LLM runtime</a:t>
            </a:r>
          </a:p>
        </p:txBody>
      </p:sp>
      <p:sp>
        <p:nvSpPr>
          <p:cNvPr id="40" name="TextBox 39"/>
          <p:cNvSpPr txBox="1"/>
          <p:nvPr/>
        </p:nvSpPr>
        <p:spPr>
          <a:xfrm>
            <a:off x="429768" y="5257800"/>
            <a:ext cx="3465576" cy="566928"/>
          </a:xfrm>
          <a:prstGeom prst="rect">
            <a:avLst/>
          </a:prstGeom>
          <a:noFill/>
        </p:spPr>
        <p:txBody>
          <a:bodyPr wrap="square">
            <a:spAutoFit/>
          </a:bodyPr>
          <a:lstStyle/>
          <a:p>
            <a:pPr algn="l"/>
            <a:r>
              <a:rPr sz="900" b="0">
                <a:solidFill>
                  <a:srgbClr val="CBD5E1"/>
                </a:solidFill>
                <a:latin typeface="Segoe UI"/>
              </a:rPr>
              <a:t>phi3 or llama3 via REST. Investigation brief generation.</a:t>
            </a:r>
          </a:p>
        </p:txBody>
      </p:sp>
      <p:sp>
        <p:nvSpPr>
          <p:cNvPr id="41" name="Rectangle 40"/>
          <p:cNvSpPr/>
          <p:nvPr/>
        </p:nvSpPr>
        <p:spPr>
          <a:xfrm>
            <a:off x="4251960" y="448056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251960" y="4480560"/>
            <a:ext cx="3685032"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61688" y="4599432"/>
            <a:ext cx="3465576" cy="347472"/>
          </a:xfrm>
          <a:prstGeom prst="rect">
            <a:avLst/>
          </a:prstGeom>
          <a:noFill/>
        </p:spPr>
        <p:txBody>
          <a:bodyPr wrap="square">
            <a:spAutoFit/>
          </a:bodyPr>
          <a:lstStyle/>
          <a:p>
            <a:pPr algn="l"/>
            <a:r>
              <a:rPr sz="1100" b="1">
                <a:solidFill>
                  <a:srgbClr val="FFFFFF"/>
                </a:solidFill>
                <a:latin typeface="Segoe UI"/>
              </a:rPr>
              <a:t>XGBoost Model Artifact</a:t>
            </a:r>
          </a:p>
        </p:txBody>
      </p:sp>
      <p:sp>
        <p:nvSpPr>
          <p:cNvPr id="44" name="TextBox 43"/>
          <p:cNvSpPr txBox="1"/>
          <p:nvPr/>
        </p:nvSpPr>
        <p:spPr>
          <a:xfrm>
            <a:off x="4361688" y="4965192"/>
            <a:ext cx="3465576" cy="256032"/>
          </a:xfrm>
          <a:prstGeom prst="rect">
            <a:avLst/>
          </a:prstGeom>
          <a:noFill/>
        </p:spPr>
        <p:txBody>
          <a:bodyPr wrap="square">
            <a:spAutoFit/>
          </a:bodyPr>
          <a:lstStyle/>
          <a:p>
            <a:pPr algn="l"/>
            <a:r>
              <a:rPr sz="900" b="1">
                <a:solidFill>
                  <a:srgbClr val="3B82F6"/>
                </a:solidFill>
                <a:latin typeface="Segoe UI"/>
              </a:rPr>
              <a:t>scikit-learn pipeline</a:t>
            </a:r>
          </a:p>
        </p:txBody>
      </p:sp>
      <p:sp>
        <p:nvSpPr>
          <p:cNvPr id="45" name="TextBox 44"/>
          <p:cNvSpPr txBox="1"/>
          <p:nvPr/>
        </p:nvSpPr>
        <p:spPr>
          <a:xfrm>
            <a:off x="4361688" y="5257800"/>
            <a:ext cx="3465576" cy="566928"/>
          </a:xfrm>
          <a:prstGeom prst="rect">
            <a:avLst/>
          </a:prstGeom>
          <a:noFill/>
        </p:spPr>
        <p:txBody>
          <a:bodyPr wrap="square">
            <a:spAutoFit/>
          </a:bodyPr>
          <a:lstStyle/>
          <a:p>
            <a:pPr algn="l"/>
            <a:r>
              <a:rPr sz="900" b="0">
                <a:solidFill>
                  <a:srgbClr val="CBD5E1"/>
                </a:solidFill>
                <a:latin typeface="Segoe UI"/>
              </a:rPr>
              <a:t>Offline-trained. Deterministic inference. Static file.</a:t>
            </a:r>
          </a:p>
        </p:txBody>
      </p:sp>
      <p:sp>
        <p:nvSpPr>
          <p:cNvPr id="46" name="Rectangle 45"/>
          <p:cNvSpPr/>
          <p:nvPr/>
        </p:nvSpPr>
        <p:spPr>
          <a:xfrm>
            <a:off x="8183880" y="4480560"/>
            <a:ext cx="3685032" cy="14447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83880" y="4480560"/>
            <a:ext cx="3685032"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93608" y="4599432"/>
            <a:ext cx="3465576" cy="347472"/>
          </a:xfrm>
          <a:prstGeom prst="rect">
            <a:avLst/>
          </a:prstGeom>
          <a:noFill/>
        </p:spPr>
        <p:txBody>
          <a:bodyPr wrap="square">
            <a:spAutoFit/>
          </a:bodyPr>
          <a:lstStyle/>
          <a:p>
            <a:pPr algn="l"/>
            <a:r>
              <a:rPr sz="1100" b="1">
                <a:solidFill>
                  <a:srgbClr val="FFFFFF"/>
                </a:solidFill>
                <a:latin typeface="Segoe UI"/>
              </a:rPr>
              <a:t>Docker Compose</a:t>
            </a:r>
          </a:p>
        </p:txBody>
      </p:sp>
      <p:sp>
        <p:nvSpPr>
          <p:cNvPr id="49" name="TextBox 48"/>
          <p:cNvSpPr txBox="1"/>
          <p:nvPr/>
        </p:nvSpPr>
        <p:spPr>
          <a:xfrm>
            <a:off x="8293608" y="4965192"/>
            <a:ext cx="3465576" cy="256032"/>
          </a:xfrm>
          <a:prstGeom prst="rect">
            <a:avLst/>
          </a:prstGeom>
          <a:noFill/>
        </p:spPr>
        <p:txBody>
          <a:bodyPr wrap="square">
            <a:spAutoFit/>
          </a:bodyPr>
          <a:lstStyle/>
          <a:p>
            <a:pPr algn="l"/>
            <a:r>
              <a:rPr sz="900" b="1">
                <a:solidFill>
                  <a:srgbClr val="22D3EE"/>
                </a:solidFill>
                <a:latin typeface="Segoe UI"/>
              </a:rPr>
              <a:t>Runtime orchestration</a:t>
            </a:r>
          </a:p>
        </p:txBody>
      </p:sp>
      <p:sp>
        <p:nvSpPr>
          <p:cNvPr id="50" name="TextBox 49"/>
          <p:cNvSpPr txBox="1"/>
          <p:nvPr/>
        </p:nvSpPr>
        <p:spPr>
          <a:xfrm>
            <a:off x="8293608" y="5257800"/>
            <a:ext cx="3465576" cy="566928"/>
          </a:xfrm>
          <a:prstGeom prst="rect">
            <a:avLst/>
          </a:prstGeom>
          <a:noFill/>
        </p:spPr>
        <p:txBody>
          <a:bodyPr wrap="square">
            <a:spAutoFit/>
          </a:bodyPr>
          <a:lstStyle/>
          <a:p>
            <a:pPr algn="l"/>
            <a:r>
              <a:rPr sz="900" b="0">
                <a:solidFill>
                  <a:srgbClr val="CBD5E1"/>
                </a:solidFill>
                <a:latin typeface="Segoe UI"/>
              </a:rPr>
              <a:t>Full 9-component stack on a single local machine.</a:t>
            </a:r>
          </a:p>
        </p:txBody>
      </p:sp>
      <p:sp>
        <p:nvSpPr>
          <p:cNvPr id="51" name="Rectangle 50"/>
          <p:cNvSpPr/>
          <p:nvPr/>
        </p:nvSpPr>
        <p:spPr>
          <a:xfrm>
            <a:off x="320040" y="6309360"/>
            <a:ext cx="11548872" cy="347472"/>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364224"/>
            <a:ext cx="11155680" cy="256032"/>
          </a:xfrm>
          <a:prstGeom prst="rect">
            <a:avLst/>
          </a:prstGeom>
          <a:noFill/>
        </p:spPr>
        <p:txBody>
          <a:bodyPr wrap="square">
            <a:spAutoFit/>
          </a:bodyPr>
          <a:lstStyle/>
          <a:p>
            <a:pPr algn="ctr"/>
            <a:r>
              <a:rPr sz="900" b="0">
                <a:solidFill>
                  <a:srgbClr val="22D3EE"/>
                </a:solidFill>
                <a:latin typeface="Segoe UI"/>
              </a:rPr>
              <a:t>A production-style local runtime. Each service boundary is inspectable. Clear path toward managed cloud equivalents for each component.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ANALYST WORKFLOW</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From command center to case decision.</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61872"/>
            <a:ext cx="5943600"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61872"/>
            <a:ext cx="54864" cy="11155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53312"/>
            <a:ext cx="5486400" cy="347472"/>
          </a:xfrm>
          <a:prstGeom prst="rect">
            <a:avLst/>
          </a:prstGeom>
          <a:noFill/>
        </p:spPr>
        <p:txBody>
          <a:bodyPr wrap="square">
            <a:spAutoFit/>
          </a:bodyPr>
          <a:lstStyle/>
          <a:p>
            <a:pPr algn="l"/>
            <a:r>
              <a:rPr sz="1300" b="1">
                <a:solidFill>
                  <a:srgbClr val="FFFFFF"/>
                </a:solidFill>
                <a:latin typeface="Segoe UI"/>
              </a:rPr>
              <a:t>Command Center</a:t>
            </a:r>
          </a:p>
        </p:txBody>
      </p:sp>
      <p:sp>
        <p:nvSpPr>
          <p:cNvPr id="9" name="TextBox 8"/>
          <p:cNvSpPr txBox="1"/>
          <p:nvPr/>
        </p:nvSpPr>
        <p:spPr>
          <a:xfrm>
            <a:off x="530352" y="1764792"/>
            <a:ext cx="5486400" cy="530352"/>
          </a:xfrm>
          <a:prstGeom prst="rect">
            <a:avLst/>
          </a:prstGeom>
          <a:noFill/>
        </p:spPr>
        <p:txBody>
          <a:bodyPr wrap="square">
            <a:spAutoFit/>
          </a:bodyPr>
          <a:lstStyle/>
          <a:p>
            <a:pPr algn="l"/>
            <a:r>
              <a:rPr sz="1000" b="0">
                <a:solidFill>
                  <a:srgbClr val="CBD5E1"/>
                </a:solidFill>
                <a:latin typeface="Segoe UI"/>
              </a:rPr>
              <a:t>KPI strip, 6-stage pipeline map, stale case alerts, and system connectivity status. Route: /</a:t>
            </a:r>
          </a:p>
        </p:txBody>
      </p:sp>
      <p:sp>
        <p:nvSpPr>
          <p:cNvPr id="10" name="Rectangle 9"/>
          <p:cNvSpPr/>
          <p:nvPr/>
        </p:nvSpPr>
        <p:spPr>
          <a:xfrm>
            <a:off x="320040" y="2523744"/>
            <a:ext cx="5943600"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523744"/>
            <a:ext cx="54864" cy="111556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615184"/>
            <a:ext cx="5486400" cy="347472"/>
          </a:xfrm>
          <a:prstGeom prst="rect">
            <a:avLst/>
          </a:prstGeom>
          <a:noFill/>
        </p:spPr>
        <p:txBody>
          <a:bodyPr wrap="square">
            <a:spAutoFit/>
          </a:bodyPr>
          <a:lstStyle/>
          <a:p>
            <a:pPr algn="l"/>
            <a:r>
              <a:rPr sz="1300" b="1">
                <a:solidFill>
                  <a:srgbClr val="FFFFFF"/>
                </a:solidFill>
                <a:latin typeface="Segoe UI"/>
              </a:rPr>
              <a:t>Review Queue</a:t>
            </a:r>
          </a:p>
        </p:txBody>
      </p:sp>
      <p:sp>
        <p:nvSpPr>
          <p:cNvPr id="13" name="TextBox 12"/>
          <p:cNvSpPr txBox="1"/>
          <p:nvPr/>
        </p:nvSpPr>
        <p:spPr>
          <a:xfrm>
            <a:off x="530352" y="3026663"/>
            <a:ext cx="5486400" cy="530352"/>
          </a:xfrm>
          <a:prstGeom prst="rect">
            <a:avLst/>
          </a:prstGeom>
          <a:noFill/>
        </p:spPr>
        <p:txBody>
          <a:bodyPr wrap="square">
            <a:spAutoFit/>
          </a:bodyPr>
          <a:lstStyle/>
          <a:p>
            <a:pPr algn="l"/>
            <a:r>
              <a:rPr sz="1000" b="0">
                <a:solidFill>
                  <a:srgbClr val="CBD5E1"/>
                </a:solidFill>
                <a:latin typeface="Segoe UI"/>
              </a:rPr>
              <a:t>Cases ranked P0-P3 by risk score tier. Inline score bars. Status filters for pending, in-progress, and escalated. Route: /queue</a:t>
            </a:r>
          </a:p>
        </p:txBody>
      </p:sp>
      <p:sp>
        <p:nvSpPr>
          <p:cNvPr id="14" name="Rectangle 13"/>
          <p:cNvSpPr/>
          <p:nvPr/>
        </p:nvSpPr>
        <p:spPr>
          <a:xfrm>
            <a:off x="320040" y="3785615"/>
            <a:ext cx="5943600"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785615"/>
            <a:ext cx="54864" cy="111556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877055"/>
            <a:ext cx="5486400" cy="347472"/>
          </a:xfrm>
          <a:prstGeom prst="rect">
            <a:avLst/>
          </a:prstGeom>
          <a:noFill/>
        </p:spPr>
        <p:txBody>
          <a:bodyPr wrap="square">
            <a:spAutoFit/>
          </a:bodyPr>
          <a:lstStyle/>
          <a:p>
            <a:pPr algn="l"/>
            <a:r>
              <a:rPr sz="1300" b="1">
                <a:solidFill>
                  <a:srgbClr val="FFFFFF"/>
                </a:solidFill>
                <a:latin typeface="Segoe UI"/>
              </a:rPr>
              <a:t>Case Dossier</a:t>
            </a:r>
          </a:p>
        </p:txBody>
      </p:sp>
      <p:sp>
        <p:nvSpPr>
          <p:cNvPr id="17" name="TextBox 16"/>
          <p:cNvSpPr txBox="1"/>
          <p:nvPr/>
        </p:nvSpPr>
        <p:spPr>
          <a:xfrm>
            <a:off x="530352" y="4288536"/>
            <a:ext cx="5486400" cy="530352"/>
          </a:xfrm>
          <a:prstGeom prst="rect">
            <a:avLst/>
          </a:prstGeom>
          <a:noFill/>
        </p:spPr>
        <p:txBody>
          <a:bodyPr wrap="square">
            <a:spAutoFit/>
          </a:bodyPr>
          <a:lstStyle/>
          <a:p>
            <a:pPr algn="l"/>
            <a:r>
              <a:rPr sz="1000" b="0">
                <a:solidFill>
                  <a:srgbClr val="CBD5E1"/>
                </a:solidFill>
                <a:latin typeface="Segoe UI"/>
              </a:rPr>
              <a:t>Signals grouped by origin layer. Model attribution, reason codes, and lifecycle timeline. Route: /cases/[id]</a:t>
            </a:r>
          </a:p>
        </p:txBody>
      </p:sp>
      <p:sp>
        <p:nvSpPr>
          <p:cNvPr id="18" name="Rectangle 17"/>
          <p:cNvSpPr/>
          <p:nvPr/>
        </p:nvSpPr>
        <p:spPr>
          <a:xfrm>
            <a:off x="320040" y="5047488"/>
            <a:ext cx="5943600" cy="11155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5047488"/>
            <a:ext cx="54864" cy="111556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5138927"/>
            <a:ext cx="5486400" cy="347472"/>
          </a:xfrm>
          <a:prstGeom prst="rect">
            <a:avLst/>
          </a:prstGeom>
          <a:noFill/>
        </p:spPr>
        <p:txBody>
          <a:bodyPr wrap="square">
            <a:spAutoFit/>
          </a:bodyPr>
          <a:lstStyle/>
          <a:p>
            <a:pPr algn="l"/>
            <a:r>
              <a:rPr sz="1300" b="1">
                <a:solidFill>
                  <a:srgbClr val="FFFFFF"/>
                </a:solidFill>
                <a:latin typeface="Segoe UI"/>
              </a:rPr>
              <a:t>Analyst Verdict</a:t>
            </a:r>
          </a:p>
        </p:txBody>
      </p:sp>
      <p:sp>
        <p:nvSpPr>
          <p:cNvPr id="21" name="TextBox 20"/>
          <p:cNvSpPr txBox="1"/>
          <p:nvPr/>
        </p:nvSpPr>
        <p:spPr>
          <a:xfrm>
            <a:off x="530352" y="5550407"/>
            <a:ext cx="5486400" cy="530352"/>
          </a:xfrm>
          <a:prstGeom prst="rect">
            <a:avLst/>
          </a:prstGeom>
          <a:noFill/>
        </p:spPr>
        <p:txBody>
          <a:bodyPr wrap="square">
            <a:spAutoFit/>
          </a:bodyPr>
          <a:lstStyle/>
          <a:p>
            <a:pPr algn="l"/>
            <a:r>
              <a:rPr sz="1000" b="0">
                <a:solidFill>
                  <a:srgbClr val="CBD5E1"/>
                </a:solidFill>
                <a:latin typeface="Segoe UI"/>
              </a:rPr>
              <a:t>Explicit verdict capture: CONFIRM_FRAUD, FALSE_POSITIVE, ESCALATE, or APPROVE. Notes field. Writes audit trail on submit.</a:t>
            </a:r>
          </a:p>
        </p:txBody>
      </p:sp>
      <p:pic>
        <p:nvPicPr>
          <p:cNvPr id="22" name="Picture 21" descr="01_overview_command_center.png"/>
          <p:cNvPicPr>
            <a:picLocks noChangeAspect="1"/>
          </p:cNvPicPr>
          <p:nvPr/>
        </p:nvPicPr>
        <p:blipFill>
          <a:blip r:embed="rId3"/>
          <a:stretch>
            <a:fillRect/>
          </a:stretch>
        </p:blipFill>
        <p:spPr>
          <a:xfrm>
            <a:off x="6492240" y="1097280"/>
            <a:ext cx="5349240" cy="334327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EVIDENCE AND INVESTIGATION</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Evidence-led case investigation with analyst ownership.</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5943600" cy="7132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88720"/>
            <a:ext cx="54864" cy="7132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43584"/>
            <a:ext cx="5532120" cy="274320"/>
          </a:xfrm>
          <a:prstGeom prst="rect">
            <a:avLst/>
          </a:prstGeom>
          <a:noFill/>
        </p:spPr>
        <p:txBody>
          <a:bodyPr wrap="square">
            <a:spAutoFit/>
          </a:bodyPr>
          <a:lstStyle/>
          <a:p>
            <a:pPr algn="l"/>
            <a:r>
              <a:rPr sz="1000" b="1">
                <a:solidFill>
                  <a:srgbClr val="FFFFFF"/>
                </a:solidFill>
                <a:latin typeface="Segoe UI"/>
              </a:rPr>
              <a:t>Base Signals</a:t>
            </a:r>
          </a:p>
        </p:txBody>
      </p:sp>
      <p:sp>
        <p:nvSpPr>
          <p:cNvPr id="9" name="TextBox 8"/>
          <p:cNvSpPr txBox="1"/>
          <p:nvPr/>
        </p:nvSpPr>
        <p:spPr>
          <a:xfrm>
            <a:off x="502920" y="1554480"/>
            <a:ext cx="5532120" cy="274320"/>
          </a:xfrm>
          <a:prstGeom prst="rect">
            <a:avLst/>
          </a:prstGeom>
          <a:noFill/>
        </p:spPr>
        <p:txBody>
          <a:bodyPr wrap="square">
            <a:spAutoFit/>
          </a:bodyPr>
          <a:lstStyle/>
          <a:p>
            <a:pPr algn="l"/>
            <a:r>
              <a:rPr sz="900" b="0">
                <a:solidFill>
                  <a:srgbClr val="CBD5E1"/>
                </a:solidFill>
                <a:latin typeface="Segoe UI"/>
              </a:rPr>
              <a:t>Amount, time, rule flags, model prediction, reason codes</a:t>
            </a:r>
          </a:p>
        </p:txBody>
      </p:sp>
      <p:sp>
        <p:nvSpPr>
          <p:cNvPr id="10" name="Rectangle 9"/>
          <p:cNvSpPr/>
          <p:nvPr/>
        </p:nvSpPr>
        <p:spPr>
          <a:xfrm>
            <a:off x="320040" y="1993392"/>
            <a:ext cx="5943600" cy="7132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993392"/>
            <a:ext cx="54864" cy="71323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048256"/>
            <a:ext cx="5532120" cy="274320"/>
          </a:xfrm>
          <a:prstGeom prst="rect">
            <a:avLst/>
          </a:prstGeom>
          <a:noFill/>
        </p:spPr>
        <p:txBody>
          <a:bodyPr wrap="square">
            <a:spAutoFit/>
          </a:bodyPr>
          <a:lstStyle/>
          <a:p>
            <a:pPr algn="l"/>
            <a:r>
              <a:rPr sz="1000" b="1">
                <a:solidFill>
                  <a:srgbClr val="FFFFFF"/>
                </a:solidFill>
                <a:latin typeface="Segoe UI"/>
              </a:rPr>
              <a:t>Rich Signals</a:t>
            </a:r>
          </a:p>
        </p:txBody>
      </p:sp>
      <p:sp>
        <p:nvSpPr>
          <p:cNvPr id="13" name="TextBox 12"/>
          <p:cNvSpPr txBox="1"/>
          <p:nvPr/>
        </p:nvSpPr>
        <p:spPr>
          <a:xfrm>
            <a:off x="502920" y="2359152"/>
            <a:ext cx="5532120" cy="274320"/>
          </a:xfrm>
          <a:prstGeom prst="rect">
            <a:avLst/>
          </a:prstGeom>
          <a:noFill/>
        </p:spPr>
        <p:txBody>
          <a:bodyPr wrap="square">
            <a:spAutoFit/>
          </a:bodyPr>
          <a:lstStyle/>
          <a:p>
            <a:pPr algn="l"/>
            <a:r>
              <a:rPr sz="900" b="0">
                <a:solidFill>
                  <a:srgbClr val="CBD5E1"/>
                </a:solidFill>
                <a:latin typeface="Segoe UI"/>
              </a:rPr>
              <a:t>Device trust, geo anomaly, velocity, merchant risk, chargeback history</a:t>
            </a:r>
          </a:p>
        </p:txBody>
      </p:sp>
      <p:sp>
        <p:nvSpPr>
          <p:cNvPr id="14" name="Rectangle 13"/>
          <p:cNvSpPr/>
          <p:nvPr/>
        </p:nvSpPr>
        <p:spPr>
          <a:xfrm>
            <a:off x="320040" y="2798064"/>
            <a:ext cx="5943600" cy="7132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798064"/>
            <a:ext cx="54864" cy="71323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852928"/>
            <a:ext cx="5532120" cy="274320"/>
          </a:xfrm>
          <a:prstGeom prst="rect">
            <a:avLst/>
          </a:prstGeom>
          <a:noFill/>
        </p:spPr>
        <p:txBody>
          <a:bodyPr wrap="square">
            <a:spAutoFit/>
          </a:bodyPr>
          <a:lstStyle/>
          <a:p>
            <a:pPr algn="l"/>
            <a:r>
              <a:rPr sz="1000" b="1">
                <a:solidFill>
                  <a:srgbClr val="FFFFFF"/>
                </a:solidFill>
                <a:latin typeface="Segoe UI"/>
              </a:rPr>
              <a:t>Behavioural Signals</a:t>
            </a:r>
          </a:p>
        </p:txBody>
      </p:sp>
      <p:sp>
        <p:nvSpPr>
          <p:cNvPr id="17" name="TextBox 16"/>
          <p:cNvSpPr txBox="1"/>
          <p:nvPr/>
        </p:nvSpPr>
        <p:spPr>
          <a:xfrm>
            <a:off x="502920" y="3163824"/>
            <a:ext cx="5532120" cy="274320"/>
          </a:xfrm>
          <a:prstGeom prst="rect">
            <a:avLst/>
          </a:prstGeom>
          <a:noFill/>
        </p:spPr>
        <p:txBody>
          <a:bodyPr wrap="square">
            <a:spAutoFit/>
          </a:bodyPr>
          <a:lstStyle/>
          <a:p>
            <a:pPr algn="l"/>
            <a:r>
              <a:rPr sz="900" b="0">
                <a:solidFill>
                  <a:srgbClr val="CBD5E1"/>
                </a:solidFill>
                <a:latin typeface="Segoe UI"/>
              </a:rPr>
              <a:t>30-day entity deviation, new device, new country, unusual channel</a:t>
            </a:r>
          </a:p>
        </p:txBody>
      </p:sp>
      <p:sp>
        <p:nvSpPr>
          <p:cNvPr id="18" name="Rectangle 17"/>
          <p:cNvSpPr/>
          <p:nvPr/>
        </p:nvSpPr>
        <p:spPr>
          <a:xfrm>
            <a:off x="320040" y="3602736"/>
            <a:ext cx="5943600" cy="7132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602736"/>
            <a:ext cx="54864" cy="7132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657600"/>
            <a:ext cx="5532120" cy="274320"/>
          </a:xfrm>
          <a:prstGeom prst="rect">
            <a:avLst/>
          </a:prstGeom>
          <a:noFill/>
        </p:spPr>
        <p:txBody>
          <a:bodyPr wrap="square">
            <a:spAutoFit/>
          </a:bodyPr>
          <a:lstStyle/>
          <a:p>
            <a:pPr algn="l"/>
            <a:r>
              <a:rPr sz="1000" b="1">
                <a:solidFill>
                  <a:srgbClr val="FFFFFF"/>
                </a:solidFill>
                <a:latin typeface="Segoe UI"/>
              </a:rPr>
              <a:t>Graph Intelligence</a:t>
            </a:r>
          </a:p>
        </p:txBody>
      </p:sp>
      <p:sp>
        <p:nvSpPr>
          <p:cNvPr id="21" name="TextBox 20"/>
          <p:cNvSpPr txBox="1"/>
          <p:nvPr/>
        </p:nvSpPr>
        <p:spPr>
          <a:xfrm>
            <a:off x="502920" y="3968496"/>
            <a:ext cx="5532120" cy="274320"/>
          </a:xfrm>
          <a:prstGeom prst="rect">
            <a:avLst/>
          </a:prstGeom>
          <a:noFill/>
        </p:spPr>
        <p:txBody>
          <a:bodyPr wrap="square">
            <a:spAutoFit/>
          </a:bodyPr>
          <a:lstStyle/>
          <a:p>
            <a:pPr algn="l"/>
            <a:r>
              <a:rPr sz="900" b="0">
                <a:solidFill>
                  <a:srgbClr val="CBD5E1"/>
                </a:solidFill>
                <a:latin typeface="Segoe UI"/>
              </a:rPr>
              <a:t>Shared device across accounts, counterparty fan-in and fan-out</a:t>
            </a:r>
          </a:p>
        </p:txBody>
      </p:sp>
      <p:sp>
        <p:nvSpPr>
          <p:cNvPr id="22" name="Rectangle 21"/>
          <p:cNvSpPr/>
          <p:nvPr/>
        </p:nvSpPr>
        <p:spPr>
          <a:xfrm>
            <a:off x="320040" y="4480560"/>
            <a:ext cx="59436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4663440"/>
            <a:ext cx="5943600" cy="5669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4663440"/>
            <a:ext cx="54864" cy="56692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709159"/>
            <a:ext cx="5532120" cy="237744"/>
          </a:xfrm>
          <a:prstGeom prst="rect">
            <a:avLst/>
          </a:prstGeom>
          <a:noFill/>
        </p:spPr>
        <p:txBody>
          <a:bodyPr wrap="square">
            <a:spAutoFit/>
          </a:bodyPr>
          <a:lstStyle/>
          <a:p>
            <a:pPr algn="l"/>
            <a:r>
              <a:rPr sz="1000" b="1">
                <a:solidFill>
                  <a:srgbClr val="FFFFFF"/>
                </a:solidFill>
                <a:latin typeface="Segoe UI"/>
              </a:rPr>
              <a:t>Schema-validated output</a:t>
            </a:r>
          </a:p>
        </p:txBody>
      </p:sp>
      <p:sp>
        <p:nvSpPr>
          <p:cNvPr id="26" name="TextBox 25"/>
          <p:cNvSpPr txBox="1"/>
          <p:nvPr/>
        </p:nvSpPr>
        <p:spPr>
          <a:xfrm>
            <a:off x="502920" y="4974336"/>
            <a:ext cx="5532120" cy="210312"/>
          </a:xfrm>
          <a:prstGeom prst="rect">
            <a:avLst/>
          </a:prstGeom>
          <a:noFill/>
        </p:spPr>
        <p:txBody>
          <a:bodyPr wrap="square">
            <a:spAutoFit/>
          </a:bodyPr>
          <a:lstStyle/>
          <a:p>
            <a:pPr algn="l"/>
            <a:r>
              <a:rPr sz="900" b="0">
                <a:solidFill>
                  <a:srgbClr val="CBD5E1"/>
                </a:solidFill>
                <a:latin typeface="Segoe UI"/>
              </a:rPr>
              <a:t>LLM response validated on every call. Retry with error context appended on failure.</a:t>
            </a:r>
          </a:p>
        </p:txBody>
      </p:sp>
      <p:sp>
        <p:nvSpPr>
          <p:cNvPr id="27" name="Rectangle 26"/>
          <p:cNvSpPr/>
          <p:nvPr/>
        </p:nvSpPr>
        <p:spPr>
          <a:xfrm>
            <a:off x="320040" y="5321807"/>
            <a:ext cx="5943600" cy="5669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 y="5321807"/>
            <a:ext cx="54864" cy="5669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367527"/>
            <a:ext cx="5532120" cy="237744"/>
          </a:xfrm>
          <a:prstGeom prst="rect">
            <a:avLst/>
          </a:prstGeom>
          <a:noFill/>
        </p:spPr>
        <p:txBody>
          <a:bodyPr wrap="square">
            <a:spAutoFit/>
          </a:bodyPr>
          <a:lstStyle/>
          <a:p>
            <a:pPr algn="l"/>
            <a:r>
              <a:rPr sz="1000" b="1">
                <a:solidFill>
                  <a:srgbClr val="FFFFFF"/>
                </a:solidFill>
                <a:latin typeface="Segoe UI"/>
              </a:rPr>
              <a:t>AGENT_VERSION traceability</a:t>
            </a:r>
          </a:p>
        </p:txBody>
      </p:sp>
      <p:sp>
        <p:nvSpPr>
          <p:cNvPr id="30" name="TextBox 29"/>
          <p:cNvSpPr txBox="1"/>
          <p:nvPr/>
        </p:nvSpPr>
        <p:spPr>
          <a:xfrm>
            <a:off x="502920" y="5632703"/>
            <a:ext cx="5532120" cy="210312"/>
          </a:xfrm>
          <a:prstGeom prst="rect">
            <a:avLst/>
          </a:prstGeom>
          <a:noFill/>
        </p:spPr>
        <p:txBody>
          <a:bodyPr wrap="square">
            <a:spAutoFit/>
          </a:bodyPr>
          <a:lstStyle/>
          <a:p>
            <a:pPr algn="l"/>
            <a:r>
              <a:rPr sz="900" b="0">
                <a:solidFill>
                  <a:srgbClr val="CBD5E1"/>
                </a:solidFill>
                <a:latin typeface="Segoe UI"/>
              </a:rPr>
              <a:t>Every investigation report row stores the agent configuration version. Immutable audit link.</a:t>
            </a:r>
          </a:p>
        </p:txBody>
      </p:sp>
      <p:sp>
        <p:nvSpPr>
          <p:cNvPr id="31" name="Rectangle 30"/>
          <p:cNvSpPr/>
          <p:nvPr/>
        </p:nvSpPr>
        <p:spPr>
          <a:xfrm>
            <a:off x="320040" y="5980175"/>
            <a:ext cx="5943600" cy="5669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 y="5980175"/>
            <a:ext cx="54864" cy="56692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025895"/>
            <a:ext cx="5532120" cy="237744"/>
          </a:xfrm>
          <a:prstGeom prst="rect">
            <a:avLst/>
          </a:prstGeom>
          <a:noFill/>
        </p:spPr>
        <p:txBody>
          <a:bodyPr wrap="square">
            <a:spAutoFit/>
          </a:bodyPr>
          <a:lstStyle/>
          <a:p>
            <a:pPr algn="l"/>
            <a:r>
              <a:rPr sz="1000" b="1">
                <a:solidFill>
                  <a:srgbClr val="FFFFFF"/>
                </a:solidFill>
                <a:latin typeface="Segoe UI"/>
              </a:rPr>
              <a:t>Analyst-controlled verdict</a:t>
            </a:r>
          </a:p>
        </p:txBody>
      </p:sp>
      <p:sp>
        <p:nvSpPr>
          <p:cNvPr id="34" name="TextBox 33"/>
          <p:cNvSpPr txBox="1"/>
          <p:nvPr/>
        </p:nvSpPr>
        <p:spPr>
          <a:xfrm>
            <a:off x="502920" y="6291071"/>
            <a:ext cx="5532120" cy="210312"/>
          </a:xfrm>
          <a:prstGeom prst="rect">
            <a:avLst/>
          </a:prstGeom>
          <a:noFill/>
        </p:spPr>
        <p:txBody>
          <a:bodyPr wrap="square">
            <a:spAutoFit/>
          </a:bodyPr>
          <a:lstStyle/>
          <a:p>
            <a:pPr algn="l"/>
            <a:r>
              <a:rPr sz="900" b="0">
                <a:solidFill>
                  <a:srgbClr val="CBD5E1"/>
                </a:solidFill>
                <a:latin typeface="Segoe UI"/>
              </a:rPr>
              <a:t>Brief is advisory. Analyst verdict via POST /review-case/{case_id} is always required.</a:t>
            </a:r>
          </a:p>
        </p:txBody>
      </p:sp>
      <p:pic>
        <p:nvPicPr>
          <p:cNvPr id="35" name="Picture 34" descr="07_ai_investigation_panel.png"/>
          <p:cNvPicPr>
            <a:picLocks noChangeAspect="1"/>
          </p:cNvPicPr>
          <p:nvPr/>
        </p:nvPicPr>
        <p:blipFill>
          <a:blip r:embed="rId3"/>
          <a:stretch>
            <a:fillRect/>
          </a:stretch>
        </p:blipFill>
        <p:spPr>
          <a:xfrm>
            <a:off x="6492240" y="1097280"/>
            <a:ext cx="5349240" cy="5349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PORTFOLIO BENCHMARK</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Portfolio risk scan: 10M-row evidence for scale-aware triage.</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261872"/>
            <a:ext cx="1680972" cy="475488"/>
          </a:xfrm>
          <a:prstGeom prst="rect">
            <a:avLst/>
          </a:prstGeom>
          <a:noFill/>
        </p:spPr>
        <p:txBody>
          <a:bodyPr wrap="square">
            <a:spAutoFit/>
          </a:bodyPr>
          <a:lstStyle/>
          <a:p>
            <a:pPr algn="ctr"/>
            <a:r>
              <a:rPr sz="2200" b="1">
                <a:solidFill>
                  <a:srgbClr val="34D399"/>
                </a:solidFill>
                <a:latin typeface="Segoe UI"/>
              </a:rPr>
              <a:t>10 M</a:t>
            </a:r>
          </a:p>
        </p:txBody>
      </p:sp>
      <p:sp>
        <p:nvSpPr>
          <p:cNvPr id="8" name="TextBox 7"/>
          <p:cNvSpPr txBox="1"/>
          <p:nvPr/>
        </p:nvSpPr>
        <p:spPr>
          <a:xfrm>
            <a:off x="365759" y="1783080"/>
            <a:ext cx="1680972" cy="548640"/>
          </a:xfrm>
          <a:prstGeom prst="rect">
            <a:avLst/>
          </a:prstGeom>
          <a:noFill/>
        </p:spPr>
        <p:txBody>
          <a:bodyPr wrap="square">
            <a:spAutoFit/>
          </a:bodyPr>
          <a:lstStyle/>
          <a:p>
            <a:pPr algn="ctr"/>
            <a:r>
              <a:rPr sz="900" b="0">
                <a:solidFill>
                  <a:srgbClr val="CBD5E1"/>
                </a:solidFill>
                <a:latin typeface="Segoe UI"/>
              </a:rPr>
              <a:t>Synthetic rows processed</a:t>
            </a:r>
          </a:p>
        </p:txBody>
      </p:sp>
      <p:sp>
        <p:nvSpPr>
          <p:cNvPr id="9" name="Rectangle 8"/>
          <p:cNvSpPr/>
          <p:nvPr/>
        </p:nvSpPr>
        <p:spPr>
          <a:xfrm>
            <a:off x="2275332"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21052" y="1261872"/>
            <a:ext cx="1680972" cy="475488"/>
          </a:xfrm>
          <a:prstGeom prst="rect">
            <a:avLst/>
          </a:prstGeom>
          <a:noFill/>
        </p:spPr>
        <p:txBody>
          <a:bodyPr wrap="square">
            <a:spAutoFit/>
          </a:bodyPr>
          <a:lstStyle/>
          <a:p>
            <a:pPr algn="ctr"/>
            <a:r>
              <a:rPr sz="2200" b="1">
                <a:solidFill>
                  <a:srgbClr val="34D399"/>
                </a:solidFill>
                <a:latin typeface="Segoe UI"/>
              </a:rPr>
              <a:t>8.42 M</a:t>
            </a:r>
          </a:p>
        </p:txBody>
      </p:sp>
      <p:sp>
        <p:nvSpPr>
          <p:cNvPr id="11" name="TextBox 10"/>
          <p:cNvSpPr txBox="1"/>
          <p:nvPr/>
        </p:nvSpPr>
        <p:spPr>
          <a:xfrm>
            <a:off x="2321052" y="1783080"/>
            <a:ext cx="1680972" cy="548640"/>
          </a:xfrm>
          <a:prstGeom prst="rect">
            <a:avLst/>
          </a:prstGeom>
          <a:noFill/>
        </p:spPr>
        <p:txBody>
          <a:bodyPr wrap="square">
            <a:spAutoFit/>
          </a:bodyPr>
          <a:lstStyle/>
          <a:p>
            <a:pPr algn="ctr"/>
            <a:r>
              <a:rPr sz="900" b="0">
                <a:solidFill>
                  <a:srgbClr val="CBD5E1"/>
                </a:solidFill>
                <a:latin typeface="Segoe UI"/>
              </a:rPr>
              <a:t>P1 filter paginated count query</a:t>
            </a:r>
          </a:p>
        </p:txBody>
      </p:sp>
      <p:sp>
        <p:nvSpPr>
          <p:cNvPr id="12" name="Rectangle 11"/>
          <p:cNvSpPr/>
          <p:nvPr/>
        </p:nvSpPr>
        <p:spPr>
          <a:xfrm>
            <a:off x="4230624"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6344" y="1261872"/>
            <a:ext cx="1680972" cy="475488"/>
          </a:xfrm>
          <a:prstGeom prst="rect">
            <a:avLst/>
          </a:prstGeom>
          <a:noFill/>
        </p:spPr>
        <p:txBody>
          <a:bodyPr wrap="square">
            <a:spAutoFit/>
          </a:bodyPr>
          <a:lstStyle/>
          <a:p>
            <a:pPr algn="ctr"/>
            <a:r>
              <a:rPr sz="2200" b="1">
                <a:solidFill>
                  <a:srgbClr val="22D3EE"/>
                </a:solidFill>
                <a:latin typeface="Segoe UI"/>
              </a:rPr>
              <a:t>4.19 s</a:t>
            </a:r>
          </a:p>
        </p:txBody>
      </p:sp>
      <p:sp>
        <p:nvSpPr>
          <p:cNvPr id="14" name="TextBox 13"/>
          <p:cNvSpPr txBox="1"/>
          <p:nvPr/>
        </p:nvSpPr>
        <p:spPr>
          <a:xfrm>
            <a:off x="4276344" y="1783080"/>
            <a:ext cx="1680972" cy="548640"/>
          </a:xfrm>
          <a:prstGeom prst="rect">
            <a:avLst/>
          </a:prstGeom>
          <a:noFill/>
        </p:spPr>
        <p:txBody>
          <a:bodyPr wrap="square">
            <a:spAutoFit/>
          </a:bodyPr>
          <a:lstStyle/>
          <a:p>
            <a:pPr algn="ctr"/>
            <a:r>
              <a:rPr sz="900" b="0">
                <a:solidFill>
                  <a:srgbClr val="CBD5E1"/>
                </a:solidFill>
                <a:latin typeface="Segoe UI"/>
              </a:rPr>
              <a:t>P1 filter response time</a:t>
            </a:r>
          </a:p>
        </p:txBody>
      </p:sp>
      <p:sp>
        <p:nvSpPr>
          <p:cNvPr id="15" name="Rectangle 14"/>
          <p:cNvSpPr/>
          <p:nvPr/>
        </p:nvSpPr>
        <p:spPr>
          <a:xfrm>
            <a:off x="6185916"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1636" y="1261872"/>
            <a:ext cx="1680972" cy="475488"/>
          </a:xfrm>
          <a:prstGeom prst="rect">
            <a:avLst/>
          </a:prstGeom>
          <a:noFill/>
        </p:spPr>
        <p:txBody>
          <a:bodyPr wrap="square">
            <a:spAutoFit/>
          </a:bodyPr>
          <a:lstStyle/>
          <a:p>
            <a:pPr algn="ctr"/>
            <a:r>
              <a:rPr sz="2200" b="1">
                <a:solidFill>
                  <a:srgbClr val="3B82F6"/>
                </a:solidFill>
                <a:latin typeface="Segoe UI"/>
              </a:rPr>
              <a:t>6.99 ms</a:t>
            </a:r>
          </a:p>
        </p:txBody>
      </p:sp>
      <p:sp>
        <p:nvSpPr>
          <p:cNvPr id="17" name="TextBox 16"/>
          <p:cNvSpPr txBox="1"/>
          <p:nvPr/>
        </p:nvSpPr>
        <p:spPr>
          <a:xfrm>
            <a:off x="6231636" y="1783080"/>
            <a:ext cx="1680972" cy="548640"/>
          </a:xfrm>
          <a:prstGeom prst="rect">
            <a:avLst/>
          </a:prstGeom>
          <a:noFill/>
        </p:spPr>
        <p:txBody>
          <a:bodyPr wrap="square">
            <a:spAutoFit/>
          </a:bodyPr>
          <a:lstStyle/>
          <a:p>
            <a:pPr algn="ctr"/>
            <a:r>
              <a:rPr sz="900" b="0">
                <a:solidFill>
                  <a:srgbClr val="CBD5E1"/>
                </a:solidFill>
                <a:latin typeface="Segoe UI"/>
              </a:rPr>
              <a:t>Export time to first byte</a:t>
            </a:r>
          </a:p>
        </p:txBody>
      </p:sp>
      <p:sp>
        <p:nvSpPr>
          <p:cNvPr id="18" name="Rectangle 17"/>
          <p:cNvSpPr/>
          <p:nvPr/>
        </p:nvSpPr>
        <p:spPr>
          <a:xfrm>
            <a:off x="8141208"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6928" y="1261872"/>
            <a:ext cx="1680972" cy="475488"/>
          </a:xfrm>
          <a:prstGeom prst="rect">
            <a:avLst/>
          </a:prstGeom>
          <a:noFill/>
        </p:spPr>
        <p:txBody>
          <a:bodyPr wrap="square">
            <a:spAutoFit/>
          </a:bodyPr>
          <a:lstStyle/>
          <a:p>
            <a:pPr algn="ctr"/>
            <a:r>
              <a:rPr sz="2200" b="1">
                <a:solidFill>
                  <a:srgbClr val="22D3EE"/>
                </a:solidFill>
                <a:latin typeface="Segoe UI"/>
              </a:rPr>
              <a:t>1.64 GiB</a:t>
            </a:r>
          </a:p>
        </p:txBody>
      </p:sp>
      <p:sp>
        <p:nvSpPr>
          <p:cNvPr id="20" name="TextBox 19"/>
          <p:cNvSpPr txBox="1"/>
          <p:nvPr/>
        </p:nvSpPr>
        <p:spPr>
          <a:xfrm>
            <a:off x="8186928" y="1783080"/>
            <a:ext cx="1680972" cy="548640"/>
          </a:xfrm>
          <a:prstGeom prst="rect">
            <a:avLst/>
          </a:prstGeom>
          <a:noFill/>
        </p:spPr>
        <p:txBody>
          <a:bodyPr wrap="square">
            <a:spAutoFit/>
          </a:bodyPr>
          <a:lstStyle/>
          <a:p>
            <a:pPr algn="ctr"/>
            <a:r>
              <a:rPr sz="900" b="0">
                <a:solidFill>
                  <a:srgbClr val="CBD5E1"/>
                </a:solidFill>
                <a:latin typeface="Segoe UI"/>
              </a:rPr>
              <a:t>Cursor-streamed export file</a:t>
            </a:r>
          </a:p>
        </p:txBody>
      </p:sp>
      <p:sp>
        <p:nvSpPr>
          <p:cNvPr id="21" name="Rectangle 20"/>
          <p:cNvSpPr/>
          <p:nvPr/>
        </p:nvSpPr>
        <p:spPr>
          <a:xfrm>
            <a:off x="10096500" y="1188720"/>
            <a:ext cx="1772412" cy="120700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2220" y="1261872"/>
            <a:ext cx="1680972" cy="475488"/>
          </a:xfrm>
          <a:prstGeom prst="rect">
            <a:avLst/>
          </a:prstGeom>
          <a:noFill/>
        </p:spPr>
        <p:txBody>
          <a:bodyPr wrap="square">
            <a:spAutoFit/>
          </a:bodyPr>
          <a:lstStyle/>
          <a:p>
            <a:pPr algn="ctr"/>
            <a:r>
              <a:rPr sz="2200" b="1">
                <a:solidFill>
                  <a:srgbClr val="FBBF24"/>
                </a:solidFill>
                <a:latin typeface="Segoe UI"/>
              </a:rPr>
              <a:t>0</a:t>
            </a:r>
          </a:p>
        </p:txBody>
      </p:sp>
      <p:sp>
        <p:nvSpPr>
          <p:cNvPr id="23" name="TextBox 22"/>
          <p:cNvSpPr txBox="1"/>
          <p:nvPr/>
        </p:nvSpPr>
        <p:spPr>
          <a:xfrm>
            <a:off x="10142220" y="1783080"/>
            <a:ext cx="1680972" cy="548640"/>
          </a:xfrm>
          <a:prstGeom prst="rect">
            <a:avLst/>
          </a:prstGeom>
          <a:noFill/>
        </p:spPr>
        <p:txBody>
          <a:bodyPr wrap="square">
            <a:spAutoFit/>
          </a:bodyPr>
          <a:lstStyle/>
          <a:p>
            <a:pPr algn="ctr"/>
            <a:r>
              <a:rPr sz="900" b="0">
                <a:solidFill>
                  <a:srgbClr val="CBD5E1"/>
                </a:solidFill>
                <a:latin typeface="Segoe UI"/>
              </a:rPr>
              <a:t>OOM events and API restarts</a:t>
            </a:r>
          </a:p>
        </p:txBody>
      </p:sp>
      <p:sp>
        <p:nvSpPr>
          <p:cNvPr id="24" name="Rectangle 23"/>
          <p:cNvSpPr/>
          <p:nvPr/>
        </p:nvSpPr>
        <p:spPr>
          <a:xfrm>
            <a:off x="320040" y="256032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2670048"/>
            <a:ext cx="4572000" cy="274320"/>
          </a:xfrm>
          <a:prstGeom prst="rect">
            <a:avLst/>
          </a:prstGeom>
          <a:noFill/>
        </p:spPr>
        <p:txBody>
          <a:bodyPr wrap="square">
            <a:spAutoFit/>
          </a:bodyPr>
          <a:lstStyle/>
          <a:p>
            <a:pPr algn="l"/>
            <a:r>
              <a:rPr sz="1100" b="1">
                <a:solidFill>
                  <a:srgbClr val="FFFFFF"/>
                </a:solidFill>
                <a:latin typeface="Segoe UI"/>
              </a:rPr>
              <a:t>What this evidence demonstrates</a:t>
            </a:r>
          </a:p>
        </p:txBody>
      </p:sp>
      <p:sp>
        <p:nvSpPr>
          <p:cNvPr id="26" name="Rectangle 25"/>
          <p:cNvSpPr/>
          <p:nvPr/>
        </p:nvSpPr>
        <p:spPr>
          <a:xfrm>
            <a:off x="320040" y="2944368"/>
            <a:ext cx="5577840"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2944368"/>
            <a:ext cx="54864" cy="10789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017520"/>
            <a:ext cx="5212080" cy="301752"/>
          </a:xfrm>
          <a:prstGeom prst="rect">
            <a:avLst/>
          </a:prstGeom>
          <a:noFill/>
        </p:spPr>
        <p:txBody>
          <a:bodyPr wrap="square">
            <a:spAutoFit/>
          </a:bodyPr>
          <a:lstStyle/>
          <a:p>
            <a:pPr algn="l"/>
            <a:r>
              <a:rPr sz="1100" b="1">
                <a:solidFill>
                  <a:srgbClr val="FFFFFF"/>
                </a:solidFill>
                <a:latin typeface="Segoe UI"/>
              </a:rPr>
              <a:t>Chunked ingestion</a:t>
            </a:r>
          </a:p>
        </p:txBody>
      </p:sp>
      <p:sp>
        <p:nvSpPr>
          <p:cNvPr id="29" name="TextBox 28"/>
          <p:cNvSpPr txBox="1"/>
          <p:nvPr/>
        </p:nvSpPr>
        <p:spPr>
          <a:xfrm>
            <a:off x="502920" y="3374136"/>
            <a:ext cx="5212080" cy="566928"/>
          </a:xfrm>
          <a:prstGeom prst="rect">
            <a:avLst/>
          </a:prstGeom>
          <a:noFill/>
        </p:spPr>
        <p:txBody>
          <a:bodyPr wrap="square">
            <a:spAutoFit/>
          </a:bodyPr>
          <a:lstStyle/>
          <a:p>
            <a:pPr algn="l"/>
            <a:r>
              <a:rPr sz="900" b="0">
                <a:solidFill>
                  <a:srgbClr val="CBD5E1"/>
                </a:solidFill>
                <a:latin typeface="Segoe UI"/>
              </a:rPr>
              <a:t>CSV processed in fixed-size chunks. The full file is never held in API heap at any point during ingestion.</a:t>
            </a:r>
          </a:p>
        </p:txBody>
      </p:sp>
      <p:sp>
        <p:nvSpPr>
          <p:cNvPr id="30" name="Rectangle 29"/>
          <p:cNvSpPr/>
          <p:nvPr/>
        </p:nvSpPr>
        <p:spPr>
          <a:xfrm>
            <a:off x="6217920" y="2944368"/>
            <a:ext cx="5577840"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944368"/>
            <a:ext cx="54864" cy="107899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017520"/>
            <a:ext cx="5212080" cy="301752"/>
          </a:xfrm>
          <a:prstGeom prst="rect">
            <a:avLst/>
          </a:prstGeom>
          <a:noFill/>
        </p:spPr>
        <p:txBody>
          <a:bodyPr wrap="square">
            <a:spAutoFit/>
          </a:bodyPr>
          <a:lstStyle/>
          <a:p>
            <a:pPr algn="l"/>
            <a:r>
              <a:rPr sz="1100" b="1">
                <a:solidFill>
                  <a:srgbClr val="FFFFFF"/>
                </a:solidFill>
                <a:latin typeface="Segoe UI"/>
              </a:rPr>
              <a:t>Composite indexed pagination</a:t>
            </a:r>
          </a:p>
        </p:txBody>
      </p:sp>
      <p:sp>
        <p:nvSpPr>
          <p:cNvPr id="33" name="TextBox 32"/>
          <p:cNvSpPr txBox="1"/>
          <p:nvPr/>
        </p:nvSpPr>
        <p:spPr>
          <a:xfrm>
            <a:off x="6400800" y="3374136"/>
            <a:ext cx="5212080" cy="566928"/>
          </a:xfrm>
          <a:prstGeom prst="rect">
            <a:avLst/>
          </a:prstGeom>
          <a:noFill/>
        </p:spPr>
        <p:txBody>
          <a:bodyPr wrap="square">
            <a:spAutoFit/>
          </a:bodyPr>
          <a:lstStyle/>
          <a:p>
            <a:pPr algn="l"/>
            <a:r>
              <a:rPr sz="900" b="0">
                <a:solidFill>
                  <a:srgbClr val="CBD5E1"/>
                </a:solidFill>
                <a:latin typeface="Segoe UI"/>
              </a:rPr>
              <a:t>Index on (scan_id, risk_tier, id) returns filtered pages at sub-second response times across 8.42M qualifying rows.</a:t>
            </a:r>
          </a:p>
        </p:txBody>
      </p:sp>
      <p:sp>
        <p:nvSpPr>
          <p:cNvPr id="34" name="Rectangle 33"/>
          <p:cNvSpPr/>
          <p:nvPr/>
        </p:nvSpPr>
        <p:spPr>
          <a:xfrm>
            <a:off x="320040" y="4133088"/>
            <a:ext cx="5577840"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 y="4133088"/>
            <a:ext cx="54864" cy="10789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4206240"/>
            <a:ext cx="5212080" cy="301752"/>
          </a:xfrm>
          <a:prstGeom prst="rect">
            <a:avLst/>
          </a:prstGeom>
          <a:noFill/>
        </p:spPr>
        <p:txBody>
          <a:bodyPr wrap="square">
            <a:spAutoFit/>
          </a:bodyPr>
          <a:lstStyle/>
          <a:p>
            <a:pPr algn="l"/>
            <a:r>
              <a:rPr sz="1100" b="1">
                <a:solidFill>
                  <a:srgbClr val="FFFFFF"/>
                </a:solidFill>
                <a:latin typeface="Segoe UI"/>
              </a:rPr>
              <a:t>Cursor-streamed export</a:t>
            </a:r>
          </a:p>
        </p:txBody>
      </p:sp>
      <p:sp>
        <p:nvSpPr>
          <p:cNvPr id="37" name="TextBox 36"/>
          <p:cNvSpPr txBox="1"/>
          <p:nvPr/>
        </p:nvSpPr>
        <p:spPr>
          <a:xfrm>
            <a:off x="502920" y="4562856"/>
            <a:ext cx="5212080" cy="566928"/>
          </a:xfrm>
          <a:prstGeom prst="rect">
            <a:avLst/>
          </a:prstGeom>
          <a:noFill/>
        </p:spPr>
        <p:txBody>
          <a:bodyPr wrap="square">
            <a:spAutoFit/>
          </a:bodyPr>
          <a:lstStyle/>
          <a:p>
            <a:pPr algn="l"/>
            <a:r>
              <a:rPr sz="900" b="0">
                <a:solidFill>
                  <a:srgbClr val="CBD5E1"/>
                </a:solidFill>
                <a:latin typeface="Segoe UI"/>
              </a:rPr>
              <a:t>Server-side PostgreSQL cursor streams all 10M rows. API memory stays flat throughout the 1.64 GiB export.</a:t>
            </a:r>
          </a:p>
        </p:txBody>
      </p:sp>
      <p:sp>
        <p:nvSpPr>
          <p:cNvPr id="38" name="Rectangle 37"/>
          <p:cNvSpPr/>
          <p:nvPr/>
        </p:nvSpPr>
        <p:spPr>
          <a:xfrm>
            <a:off x="6217920" y="4133088"/>
            <a:ext cx="5577840"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4133088"/>
            <a:ext cx="54864" cy="107899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4206240"/>
            <a:ext cx="5212080" cy="301752"/>
          </a:xfrm>
          <a:prstGeom prst="rect">
            <a:avLst/>
          </a:prstGeom>
          <a:noFill/>
        </p:spPr>
        <p:txBody>
          <a:bodyPr wrap="square">
            <a:spAutoFit/>
          </a:bodyPr>
          <a:lstStyle/>
          <a:p>
            <a:pPr algn="l"/>
            <a:r>
              <a:rPr sz="1100" b="1">
                <a:solidFill>
                  <a:srgbClr val="FFFFFF"/>
                </a:solidFill>
                <a:latin typeface="Segoe UI"/>
              </a:rPr>
              <a:t>Memory-stable design</a:t>
            </a:r>
          </a:p>
        </p:txBody>
      </p:sp>
      <p:sp>
        <p:nvSpPr>
          <p:cNvPr id="41" name="TextBox 40"/>
          <p:cNvSpPr txBox="1"/>
          <p:nvPr/>
        </p:nvSpPr>
        <p:spPr>
          <a:xfrm>
            <a:off x="6400800" y="4562856"/>
            <a:ext cx="5212080" cy="566928"/>
          </a:xfrm>
          <a:prstGeom prst="rect">
            <a:avLst/>
          </a:prstGeom>
          <a:noFill/>
        </p:spPr>
        <p:txBody>
          <a:bodyPr wrap="square">
            <a:spAutoFit/>
          </a:bodyPr>
          <a:lstStyle/>
          <a:p>
            <a:pPr algn="l"/>
            <a:r>
              <a:rPr sz="900" b="0">
                <a:solidFill>
                  <a:srgbClr val="CBD5E1"/>
                </a:solidFill>
                <a:latin typeface="Segoe UI"/>
              </a:rPr>
              <a:t>Zero OOM events and zero API restarts across the full 10M ingestion and complete export cycle.</a:t>
            </a:r>
          </a:p>
        </p:txBody>
      </p:sp>
      <p:sp>
        <p:nvSpPr>
          <p:cNvPr id="42" name="Rectangle 41"/>
          <p:cNvSpPr/>
          <p:nvPr/>
        </p:nvSpPr>
        <p:spPr>
          <a:xfrm>
            <a:off x="3268980" y="5321808"/>
            <a:ext cx="5577840"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68980" y="5321808"/>
            <a:ext cx="54864" cy="10789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51860" y="5394960"/>
            <a:ext cx="5212080" cy="301752"/>
          </a:xfrm>
          <a:prstGeom prst="rect">
            <a:avLst/>
          </a:prstGeom>
          <a:noFill/>
        </p:spPr>
        <p:txBody>
          <a:bodyPr wrap="square">
            <a:spAutoFit/>
          </a:bodyPr>
          <a:lstStyle/>
          <a:p>
            <a:pPr algn="l"/>
            <a:r>
              <a:rPr sz="1100" b="1">
                <a:solidFill>
                  <a:srgbClr val="FFFFFF"/>
                </a:solidFill>
                <a:latin typeface="Segoe UI"/>
              </a:rPr>
              <a:t>Priority triage at scale</a:t>
            </a:r>
          </a:p>
        </p:txBody>
      </p:sp>
      <p:sp>
        <p:nvSpPr>
          <p:cNvPr id="45" name="TextBox 44"/>
          <p:cNvSpPr txBox="1"/>
          <p:nvPr/>
        </p:nvSpPr>
        <p:spPr>
          <a:xfrm>
            <a:off x="3451860" y="5751576"/>
            <a:ext cx="5212080" cy="566928"/>
          </a:xfrm>
          <a:prstGeom prst="rect">
            <a:avLst/>
          </a:prstGeom>
          <a:noFill/>
        </p:spPr>
        <p:txBody>
          <a:bodyPr wrap="square">
            <a:spAutoFit/>
          </a:bodyPr>
          <a:lstStyle/>
          <a:p>
            <a:pPr algn="l"/>
            <a:r>
              <a:rPr sz="900" b="0">
                <a:solidFill>
                  <a:srgbClr val="CBD5E1"/>
                </a:solidFill>
                <a:latin typeface="Segoe UI"/>
              </a:rPr>
              <a:t>Risk-tier filtering with POST /risk-scan/{id}/promote/{row_id} elevates flagged rows to review-queue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LATENCY STRATEGY</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Keep scoring deterministic. Move heavy workloads async.</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5440680" cy="5074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5074920" cy="347472"/>
          </a:xfrm>
          <a:prstGeom prst="rect">
            <a:avLst/>
          </a:prstGeom>
          <a:noFill/>
        </p:spPr>
        <p:txBody>
          <a:bodyPr wrap="square">
            <a:spAutoFit/>
          </a:bodyPr>
          <a:lstStyle/>
          <a:p>
            <a:pPr algn="l"/>
            <a:r>
              <a:rPr sz="1300" b="1">
                <a:solidFill>
                  <a:srgbClr val="FFFFFF"/>
                </a:solidFill>
                <a:latin typeface="Segoe UI"/>
              </a:rPr>
              <a:t>Synchronous Scoring Path</a:t>
            </a:r>
          </a:p>
        </p:txBody>
      </p:sp>
      <p:sp>
        <p:nvSpPr>
          <p:cNvPr id="8" name="TextBox 7"/>
          <p:cNvSpPr txBox="1"/>
          <p:nvPr/>
        </p:nvSpPr>
        <p:spPr>
          <a:xfrm>
            <a:off x="502920" y="1682496"/>
            <a:ext cx="5074920" cy="320040"/>
          </a:xfrm>
          <a:prstGeom prst="rect">
            <a:avLst/>
          </a:prstGeom>
          <a:noFill/>
        </p:spPr>
        <p:txBody>
          <a:bodyPr wrap="square">
            <a:spAutoFit/>
          </a:bodyPr>
          <a:lstStyle/>
          <a:p>
            <a:pPr algn="l"/>
            <a:r>
              <a:rPr sz="900" b="0">
                <a:solidFill>
                  <a:srgbClr val="64748B"/>
                </a:solidFill>
                <a:latin typeface="Segoe UI"/>
              </a:rPr>
              <a:t>Fast and deterministic. Runs within the API request-response cycle.</a:t>
            </a:r>
          </a:p>
        </p:txBody>
      </p:sp>
      <p:sp>
        <p:nvSpPr>
          <p:cNvPr id="9" name="Rectangle 8"/>
          <p:cNvSpPr/>
          <p:nvPr/>
        </p:nvSpPr>
        <p:spPr>
          <a:xfrm>
            <a:off x="502920" y="2084831"/>
            <a:ext cx="507492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12848"/>
            <a:ext cx="5074920" cy="65836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212848"/>
            <a:ext cx="45720" cy="6583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67712"/>
            <a:ext cx="4663440" cy="256032"/>
          </a:xfrm>
          <a:prstGeom prst="rect">
            <a:avLst/>
          </a:prstGeom>
          <a:noFill/>
        </p:spPr>
        <p:txBody>
          <a:bodyPr wrap="square">
            <a:spAutoFit/>
          </a:bodyPr>
          <a:lstStyle/>
          <a:p>
            <a:pPr algn="l"/>
            <a:r>
              <a:rPr sz="1000" b="1">
                <a:solidFill>
                  <a:srgbClr val="FFFFFF"/>
                </a:solidFill>
                <a:latin typeface="Segoe UI"/>
              </a:rPr>
              <a:t>Feature extraction</a:t>
            </a:r>
          </a:p>
        </p:txBody>
      </p:sp>
      <p:sp>
        <p:nvSpPr>
          <p:cNvPr id="13" name="TextBox 12"/>
          <p:cNvSpPr txBox="1"/>
          <p:nvPr/>
        </p:nvSpPr>
        <p:spPr>
          <a:xfrm>
            <a:off x="685800" y="2560320"/>
            <a:ext cx="4663440" cy="237744"/>
          </a:xfrm>
          <a:prstGeom prst="rect">
            <a:avLst/>
          </a:prstGeom>
          <a:noFill/>
        </p:spPr>
        <p:txBody>
          <a:bodyPr wrap="square">
            <a:spAutoFit/>
          </a:bodyPr>
          <a:lstStyle/>
          <a:p>
            <a:pPr algn="l"/>
            <a:r>
              <a:rPr sz="900" b="0">
                <a:solidFill>
                  <a:srgbClr val="CBD5E1"/>
                </a:solidFill>
                <a:latin typeface="Segoe UI"/>
              </a:rPr>
              <a:t>Signals grouped by layer into scoring context.</a:t>
            </a:r>
          </a:p>
        </p:txBody>
      </p:sp>
      <p:sp>
        <p:nvSpPr>
          <p:cNvPr id="14" name="Rectangle 13"/>
          <p:cNvSpPr/>
          <p:nvPr/>
        </p:nvSpPr>
        <p:spPr>
          <a:xfrm>
            <a:off x="502920" y="2962656"/>
            <a:ext cx="5074920" cy="65836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62656"/>
            <a:ext cx="45720" cy="6583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17520"/>
            <a:ext cx="4663440" cy="256032"/>
          </a:xfrm>
          <a:prstGeom prst="rect">
            <a:avLst/>
          </a:prstGeom>
          <a:noFill/>
        </p:spPr>
        <p:txBody>
          <a:bodyPr wrap="square">
            <a:spAutoFit/>
          </a:bodyPr>
          <a:lstStyle/>
          <a:p>
            <a:pPr algn="l"/>
            <a:r>
              <a:rPr sz="1000" b="1">
                <a:solidFill>
                  <a:srgbClr val="FFFFFF"/>
                </a:solidFill>
                <a:latin typeface="Segoe UI"/>
              </a:rPr>
              <a:t>XGBoost inference</a:t>
            </a:r>
          </a:p>
        </p:txBody>
      </p:sp>
      <p:sp>
        <p:nvSpPr>
          <p:cNvPr id="17" name="TextBox 16"/>
          <p:cNvSpPr txBox="1"/>
          <p:nvPr/>
        </p:nvSpPr>
        <p:spPr>
          <a:xfrm>
            <a:off x="685800" y="3310127"/>
            <a:ext cx="4663440" cy="237744"/>
          </a:xfrm>
          <a:prstGeom prst="rect">
            <a:avLst/>
          </a:prstGeom>
          <a:noFill/>
        </p:spPr>
        <p:txBody>
          <a:bodyPr wrap="square">
            <a:spAutoFit/>
          </a:bodyPr>
          <a:lstStyle/>
          <a:p>
            <a:pPr algn="l"/>
            <a:r>
              <a:rPr sz="900" b="0">
                <a:solidFill>
                  <a:srgbClr val="CBD5E1"/>
                </a:solidFill>
                <a:latin typeface="Segoe UI"/>
              </a:rPr>
              <a:t>Offline-trained artifact. Deterministic output on every call.</a:t>
            </a:r>
          </a:p>
        </p:txBody>
      </p:sp>
      <p:sp>
        <p:nvSpPr>
          <p:cNvPr id="18" name="Rectangle 17"/>
          <p:cNvSpPr/>
          <p:nvPr/>
        </p:nvSpPr>
        <p:spPr>
          <a:xfrm>
            <a:off x="502920" y="3712463"/>
            <a:ext cx="5074920" cy="65836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12463"/>
            <a:ext cx="45720" cy="65836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767327"/>
            <a:ext cx="4663440" cy="256032"/>
          </a:xfrm>
          <a:prstGeom prst="rect">
            <a:avLst/>
          </a:prstGeom>
          <a:noFill/>
        </p:spPr>
        <p:txBody>
          <a:bodyPr wrap="square">
            <a:spAutoFit/>
          </a:bodyPr>
          <a:lstStyle/>
          <a:p>
            <a:pPr algn="l"/>
            <a:r>
              <a:rPr sz="1000" b="1">
                <a:solidFill>
                  <a:srgbClr val="FFFFFF"/>
                </a:solidFill>
                <a:latin typeface="Segoe UI"/>
              </a:rPr>
              <a:t>Rule engine evaluation</a:t>
            </a:r>
          </a:p>
        </p:txBody>
      </p:sp>
      <p:sp>
        <p:nvSpPr>
          <p:cNvPr id="21" name="TextBox 20"/>
          <p:cNvSpPr txBox="1"/>
          <p:nvPr/>
        </p:nvSpPr>
        <p:spPr>
          <a:xfrm>
            <a:off x="685800" y="4059935"/>
            <a:ext cx="4663440" cy="237744"/>
          </a:xfrm>
          <a:prstGeom prst="rect">
            <a:avLst/>
          </a:prstGeom>
          <a:noFill/>
        </p:spPr>
        <p:txBody>
          <a:bodyPr wrap="square">
            <a:spAutoFit/>
          </a:bodyPr>
          <a:lstStyle/>
          <a:p>
            <a:pPr algn="l"/>
            <a:r>
              <a:rPr sz="900" b="0">
                <a:solidFill>
                  <a:srgbClr val="CBD5E1"/>
                </a:solidFill>
                <a:latin typeface="Segoe UI"/>
              </a:rPr>
              <a:t>Threshold and flag evaluation. Reason codes emitted.</a:t>
            </a:r>
          </a:p>
        </p:txBody>
      </p:sp>
      <p:sp>
        <p:nvSpPr>
          <p:cNvPr id="22" name="Rectangle 21"/>
          <p:cNvSpPr/>
          <p:nvPr/>
        </p:nvSpPr>
        <p:spPr>
          <a:xfrm>
            <a:off x="502920" y="4462272"/>
            <a:ext cx="5074920" cy="65836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462272"/>
            <a:ext cx="45720" cy="65836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17136"/>
            <a:ext cx="4663440" cy="256032"/>
          </a:xfrm>
          <a:prstGeom prst="rect">
            <a:avLst/>
          </a:prstGeom>
          <a:noFill/>
        </p:spPr>
        <p:txBody>
          <a:bodyPr wrap="square">
            <a:spAutoFit/>
          </a:bodyPr>
          <a:lstStyle/>
          <a:p>
            <a:pPr algn="l"/>
            <a:r>
              <a:rPr sz="1000" b="1">
                <a:solidFill>
                  <a:srgbClr val="FFFFFF"/>
                </a:solidFill>
                <a:latin typeface="Segoe UI"/>
              </a:rPr>
              <a:t>Decision routing</a:t>
            </a:r>
          </a:p>
        </p:txBody>
      </p:sp>
      <p:sp>
        <p:nvSpPr>
          <p:cNvPr id="25" name="TextBox 24"/>
          <p:cNvSpPr txBox="1"/>
          <p:nvPr/>
        </p:nvSpPr>
        <p:spPr>
          <a:xfrm>
            <a:off x="685800" y="4809744"/>
            <a:ext cx="4663440" cy="237744"/>
          </a:xfrm>
          <a:prstGeom prst="rect">
            <a:avLst/>
          </a:prstGeom>
          <a:noFill/>
        </p:spPr>
        <p:txBody>
          <a:bodyPr wrap="square">
            <a:spAutoFit/>
          </a:bodyPr>
          <a:lstStyle/>
          <a:p>
            <a:pPr algn="l"/>
            <a:r>
              <a:rPr sz="900" b="0">
                <a:solidFill>
                  <a:srgbClr val="CBD5E1"/>
                </a:solidFill>
                <a:latin typeface="Segoe UI"/>
              </a:rPr>
              <a:t>BLOCK, REVIEW, or APPROVE tier assignment.</a:t>
            </a:r>
          </a:p>
        </p:txBody>
      </p:sp>
      <p:sp>
        <p:nvSpPr>
          <p:cNvPr id="26" name="Rectangle 25"/>
          <p:cNvSpPr/>
          <p:nvPr/>
        </p:nvSpPr>
        <p:spPr>
          <a:xfrm>
            <a:off x="502920" y="5212079"/>
            <a:ext cx="5074920" cy="65836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212079"/>
            <a:ext cx="45720" cy="65836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266943"/>
            <a:ext cx="4663440" cy="256032"/>
          </a:xfrm>
          <a:prstGeom prst="rect">
            <a:avLst/>
          </a:prstGeom>
          <a:noFill/>
        </p:spPr>
        <p:txBody>
          <a:bodyPr wrap="square">
            <a:spAutoFit/>
          </a:bodyPr>
          <a:lstStyle/>
          <a:p>
            <a:pPr algn="l"/>
            <a:r>
              <a:rPr sz="1000" b="1">
                <a:solidFill>
                  <a:srgbClr val="FFFFFF"/>
                </a:solidFill>
                <a:latin typeface="Segoe UI"/>
              </a:rPr>
              <a:t>PostgreSQL persistence</a:t>
            </a:r>
          </a:p>
        </p:txBody>
      </p:sp>
      <p:sp>
        <p:nvSpPr>
          <p:cNvPr id="29" name="TextBox 28"/>
          <p:cNvSpPr txBox="1"/>
          <p:nvPr/>
        </p:nvSpPr>
        <p:spPr>
          <a:xfrm>
            <a:off x="685800" y="5559551"/>
            <a:ext cx="4663440" cy="237744"/>
          </a:xfrm>
          <a:prstGeom prst="rect">
            <a:avLst/>
          </a:prstGeom>
          <a:noFill/>
        </p:spPr>
        <p:txBody>
          <a:bodyPr wrap="square">
            <a:spAutoFit/>
          </a:bodyPr>
          <a:lstStyle/>
          <a:p>
            <a:pPr algn="l"/>
            <a:r>
              <a:rPr sz="900" b="0">
                <a:solidFill>
                  <a:srgbClr val="CBD5E1"/>
                </a:solidFill>
                <a:latin typeface="Segoe UI"/>
              </a:rPr>
              <a:t>Case record write and Redpanda event dispatch.</a:t>
            </a:r>
          </a:p>
        </p:txBody>
      </p:sp>
      <p:sp>
        <p:nvSpPr>
          <p:cNvPr id="30" name="Rectangle 29"/>
          <p:cNvSpPr/>
          <p:nvPr/>
        </p:nvSpPr>
        <p:spPr>
          <a:xfrm>
            <a:off x="5989320" y="1188720"/>
            <a:ext cx="5943600" cy="2331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1298448"/>
            <a:ext cx="5577840" cy="347472"/>
          </a:xfrm>
          <a:prstGeom prst="rect">
            <a:avLst/>
          </a:prstGeom>
          <a:noFill/>
        </p:spPr>
        <p:txBody>
          <a:bodyPr wrap="square">
            <a:spAutoFit/>
          </a:bodyPr>
          <a:lstStyle/>
          <a:p>
            <a:pPr algn="l"/>
            <a:r>
              <a:rPr sz="1300" b="1">
                <a:solidFill>
                  <a:srgbClr val="FFFFFF"/>
                </a:solidFill>
                <a:latin typeface="Segoe UI"/>
              </a:rPr>
              <a:t>Asynchronous Paths</a:t>
            </a:r>
          </a:p>
        </p:txBody>
      </p:sp>
      <p:sp>
        <p:nvSpPr>
          <p:cNvPr id="32" name="TextBox 31"/>
          <p:cNvSpPr txBox="1"/>
          <p:nvPr/>
        </p:nvSpPr>
        <p:spPr>
          <a:xfrm>
            <a:off x="6172200" y="1682496"/>
            <a:ext cx="5577840" cy="320040"/>
          </a:xfrm>
          <a:prstGeom prst="rect">
            <a:avLst/>
          </a:prstGeom>
          <a:noFill/>
        </p:spPr>
        <p:txBody>
          <a:bodyPr wrap="square">
            <a:spAutoFit/>
          </a:bodyPr>
          <a:lstStyle/>
          <a:p>
            <a:pPr algn="l"/>
            <a:r>
              <a:rPr sz="900" b="0">
                <a:solidFill>
                  <a:srgbClr val="64748B"/>
                </a:solidFill>
                <a:latin typeface="Segoe UI"/>
              </a:rPr>
              <a:t>Heavy workloads on Redpanda consumers. Scoring path is unaffected.</a:t>
            </a:r>
          </a:p>
        </p:txBody>
      </p:sp>
      <p:sp>
        <p:nvSpPr>
          <p:cNvPr id="33" name="Rectangle 32"/>
          <p:cNvSpPr/>
          <p:nvPr/>
        </p:nvSpPr>
        <p:spPr>
          <a:xfrm>
            <a:off x="6172200" y="2084831"/>
            <a:ext cx="5577840" cy="2743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2212848"/>
            <a:ext cx="5577840" cy="74980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72200" y="2212848"/>
            <a:ext cx="45720" cy="74980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2267712"/>
            <a:ext cx="5166360" cy="256032"/>
          </a:xfrm>
          <a:prstGeom prst="rect">
            <a:avLst/>
          </a:prstGeom>
          <a:noFill/>
        </p:spPr>
        <p:txBody>
          <a:bodyPr wrap="square">
            <a:spAutoFit/>
          </a:bodyPr>
          <a:lstStyle/>
          <a:p>
            <a:pPr algn="l"/>
            <a:r>
              <a:rPr sz="1000" b="1">
                <a:solidFill>
                  <a:srgbClr val="FFFFFF"/>
                </a:solidFill>
                <a:latin typeface="Segoe UI"/>
              </a:rPr>
              <a:t>Investigation Brief</a:t>
            </a:r>
          </a:p>
        </p:txBody>
      </p:sp>
      <p:sp>
        <p:nvSpPr>
          <p:cNvPr id="37" name="TextBox 36"/>
          <p:cNvSpPr txBox="1"/>
          <p:nvPr/>
        </p:nvSpPr>
        <p:spPr>
          <a:xfrm>
            <a:off x="6355080" y="2560320"/>
            <a:ext cx="5166360" cy="329184"/>
          </a:xfrm>
          <a:prstGeom prst="rect">
            <a:avLst/>
          </a:prstGeom>
          <a:noFill/>
        </p:spPr>
        <p:txBody>
          <a:bodyPr wrap="square">
            <a:spAutoFit/>
          </a:bodyPr>
          <a:lstStyle/>
          <a:p>
            <a:pPr algn="l"/>
            <a:r>
              <a:rPr sz="900" b="0">
                <a:solidFill>
                  <a:srgbClr val="CBD5E1"/>
                </a:solidFill>
                <a:latin typeface="Segoe UI"/>
              </a:rPr>
              <a:t>POST /cases/{id}/investigate publishes to Redpanda. investigation-consumer calls Ollama async.</a:t>
            </a:r>
          </a:p>
        </p:txBody>
      </p:sp>
      <p:sp>
        <p:nvSpPr>
          <p:cNvPr id="38" name="Rectangle 37"/>
          <p:cNvSpPr/>
          <p:nvPr/>
        </p:nvSpPr>
        <p:spPr>
          <a:xfrm>
            <a:off x="6172200" y="3081528"/>
            <a:ext cx="5577840" cy="749808"/>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72200" y="3081528"/>
            <a:ext cx="45720" cy="7498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136392"/>
            <a:ext cx="5166360" cy="256032"/>
          </a:xfrm>
          <a:prstGeom prst="rect">
            <a:avLst/>
          </a:prstGeom>
          <a:noFill/>
        </p:spPr>
        <p:txBody>
          <a:bodyPr wrap="square">
            <a:spAutoFit/>
          </a:bodyPr>
          <a:lstStyle/>
          <a:p>
            <a:pPr algn="l"/>
            <a:r>
              <a:rPr sz="1000" b="1">
                <a:solidFill>
                  <a:srgbClr val="FFFFFF"/>
                </a:solidFill>
                <a:latin typeface="Segoe UI"/>
              </a:rPr>
              <a:t>Portfolio Scan</a:t>
            </a:r>
          </a:p>
        </p:txBody>
      </p:sp>
      <p:sp>
        <p:nvSpPr>
          <p:cNvPr id="41" name="TextBox 40"/>
          <p:cNvSpPr txBox="1"/>
          <p:nvPr/>
        </p:nvSpPr>
        <p:spPr>
          <a:xfrm>
            <a:off x="6355080" y="3429000"/>
            <a:ext cx="5166360" cy="329184"/>
          </a:xfrm>
          <a:prstGeom prst="rect">
            <a:avLst/>
          </a:prstGeom>
          <a:noFill/>
        </p:spPr>
        <p:txBody>
          <a:bodyPr wrap="square">
            <a:spAutoFit/>
          </a:bodyPr>
          <a:lstStyle/>
          <a:p>
            <a:pPr algn="l"/>
            <a:r>
              <a:rPr sz="900" b="0">
                <a:solidFill>
                  <a:srgbClr val="CBD5E1"/>
                </a:solidFill>
                <a:latin typeface="Segoe UI"/>
              </a:rPr>
              <a:t>POST /risk-scan triggers chunked ingestion worker. Progress state written to PostgreSQL per chunk.</a:t>
            </a:r>
          </a:p>
        </p:txBody>
      </p:sp>
      <p:sp>
        <p:nvSpPr>
          <p:cNvPr id="42" name="Rectangle 41"/>
          <p:cNvSpPr/>
          <p:nvPr/>
        </p:nvSpPr>
        <p:spPr>
          <a:xfrm>
            <a:off x="5989320" y="3730752"/>
            <a:ext cx="5943600" cy="25328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72200" y="3822191"/>
            <a:ext cx="5577840" cy="347472"/>
          </a:xfrm>
          <a:prstGeom prst="rect">
            <a:avLst/>
          </a:prstGeom>
          <a:noFill/>
        </p:spPr>
        <p:txBody>
          <a:bodyPr wrap="square">
            <a:spAutoFit/>
          </a:bodyPr>
          <a:lstStyle/>
          <a:p>
            <a:pPr algn="l"/>
            <a:r>
              <a:rPr sz="1300" b="1">
                <a:solidFill>
                  <a:srgbClr val="FFFFFF"/>
                </a:solidFill>
                <a:latin typeface="Segoe UI"/>
              </a:rPr>
              <a:t>Scale Strategy</a:t>
            </a:r>
          </a:p>
        </p:txBody>
      </p:sp>
      <p:sp>
        <p:nvSpPr>
          <p:cNvPr id="44" name="Rectangle 43"/>
          <p:cNvSpPr/>
          <p:nvPr/>
        </p:nvSpPr>
        <p:spPr>
          <a:xfrm>
            <a:off x="6172200" y="4251960"/>
            <a:ext cx="5577840" cy="2743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72200" y="4370832"/>
            <a:ext cx="5577840" cy="457200"/>
          </a:xfrm>
          <a:prstGeom prst="rect">
            <a:avLst/>
          </a:prstGeom>
          <a:noFill/>
        </p:spPr>
        <p:txBody>
          <a:bodyPr wrap="square">
            <a:spAutoFit/>
          </a:bodyPr>
          <a:lstStyle/>
          <a:p>
            <a:pPr algn="l"/>
            <a:r>
              <a:rPr sz="900" b="0">
                <a:solidFill>
                  <a:srgbClr val="CBD5E1"/>
                </a:solidFill>
                <a:latin typeface="Segoe UI"/>
              </a:rPr>
              <a:t>Isolate latency budgets: Scoring is synchronous and fast. LLM and portfolio jobs are async. No latency coupling.</a:t>
            </a:r>
          </a:p>
        </p:txBody>
      </p:sp>
      <p:sp>
        <p:nvSpPr>
          <p:cNvPr id="46" name="Rectangle 45"/>
          <p:cNvSpPr/>
          <p:nvPr/>
        </p:nvSpPr>
        <p:spPr>
          <a:xfrm>
            <a:off x="6172200" y="4407408"/>
            <a:ext cx="36576" cy="23774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72200" y="4901184"/>
            <a:ext cx="5577840" cy="457200"/>
          </a:xfrm>
          <a:prstGeom prst="rect">
            <a:avLst/>
          </a:prstGeom>
          <a:noFill/>
        </p:spPr>
        <p:txBody>
          <a:bodyPr wrap="square">
            <a:spAutoFit/>
          </a:bodyPr>
          <a:lstStyle/>
          <a:p>
            <a:pPr algn="l"/>
            <a:r>
              <a:rPr sz="900" b="0">
                <a:solidFill>
                  <a:srgbClr val="CBD5E1"/>
                </a:solidFill>
                <a:latin typeface="Segoe UI"/>
              </a:rPr>
              <a:t>Redis idempotency: Deduplicate repeated scoring requests by request_id. 24-hour TTL. No redundant work.</a:t>
            </a:r>
          </a:p>
        </p:txBody>
      </p:sp>
      <p:sp>
        <p:nvSpPr>
          <p:cNvPr id="48" name="Rectangle 47"/>
          <p:cNvSpPr/>
          <p:nvPr/>
        </p:nvSpPr>
        <p:spPr>
          <a:xfrm>
            <a:off x="6172200" y="4937760"/>
            <a:ext cx="36576" cy="23774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5431536"/>
            <a:ext cx="5577840" cy="457200"/>
          </a:xfrm>
          <a:prstGeom prst="rect">
            <a:avLst/>
          </a:prstGeom>
          <a:noFill/>
        </p:spPr>
        <p:txBody>
          <a:bodyPr wrap="square">
            <a:spAutoFit/>
          </a:bodyPr>
          <a:lstStyle/>
          <a:p>
            <a:pPr algn="l"/>
            <a:r>
              <a:rPr sz="900" b="0">
                <a:solidFill>
                  <a:srgbClr val="CBD5E1"/>
                </a:solidFill>
                <a:latin typeface="Segoe UI"/>
              </a:rPr>
              <a:t>Horizontal API scaling: Scoring workers are stateless and CPU-bound. Scale by adding API instances.</a:t>
            </a:r>
          </a:p>
        </p:txBody>
      </p:sp>
      <p:sp>
        <p:nvSpPr>
          <p:cNvPr id="50" name="Rectangle 49"/>
          <p:cNvSpPr/>
          <p:nvPr/>
        </p:nvSpPr>
        <p:spPr>
          <a:xfrm>
            <a:off x="6172200" y="5468112"/>
            <a:ext cx="36576" cy="23774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72200" y="5961888"/>
            <a:ext cx="5577840" cy="457200"/>
          </a:xfrm>
          <a:prstGeom prst="rect">
            <a:avLst/>
          </a:prstGeom>
          <a:noFill/>
        </p:spPr>
        <p:txBody>
          <a:bodyPr wrap="square">
            <a:spAutoFit/>
          </a:bodyPr>
          <a:lstStyle/>
          <a:p>
            <a:pPr algn="l"/>
            <a:r>
              <a:rPr sz="900" b="0">
                <a:solidFill>
                  <a:srgbClr val="CBD5E1"/>
                </a:solidFill>
                <a:latin typeface="Segoe UI"/>
              </a:rPr>
              <a:t>Independent consumer scale: Investigation and portfolio consumers scale independently of the API layer.</a:t>
            </a:r>
          </a:p>
        </p:txBody>
      </p:sp>
      <p:sp>
        <p:nvSpPr>
          <p:cNvPr id="52" name="Rectangle 51"/>
          <p:cNvSpPr/>
          <p:nvPr/>
        </p:nvSpPr>
        <p:spPr>
          <a:xfrm>
            <a:off x="6172200" y="5998464"/>
            <a:ext cx="36576" cy="23774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SCALE PATH</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From inspection runtime to high-volume fraud decisioning.</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88720"/>
            <a:ext cx="54864" cy="6583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61872"/>
            <a:ext cx="777240" cy="274320"/>
          </a:xfrm>
          <a:prstGeom prst="rect">
            <a:avLst/>
          </a:prstGeom>
          <a:noFill/>
        </p:spPr>
        <p:txBody>
          <a:bodyPr wrap="square">
            <a:spAutoFit/>
          </a:bodyPr>
          <a:lstStyle/>
          <a:p>
            <a:pPr algn="l"/>
            <a:r>
              <a:rPr sz="1000" b="1">
                <a:solidFill>
                  <a:srgbClr val="3B82F6"/>
                </a:solidFill>
                <a:latin typeface="Segoe UI"/>
              </a:rPr>
              <a:t>Stage 1</a:t>
            </a:r>
          </a:p>
        </p:txBody>
      </p:sp>
      <p:sp>
        <p:nvSpPr>
          <p:cNvPr id="9" name="TextBox 8"/>
          <p:cNvSpPr txBox="1"/>
          <p:nvPr/>
        </p:nvSpPr>
        <p:spPr>
          <a:xfrm>
            <a:off x="1325880" y="1243584"/>
            <a:ext cx="3108960" cy="292608"/>
          </a:xfrm>
          <a:prstGeom prst="rect">
            <a:avLst/>
          </a:prstGeom>
          <a:noFill/>
        </p:spPr>
        <p:txBody>
          <a:bodyPr wrap="square">
            <a:spAutoFit/>
          </a:bodyPr>
          <a:lstStyle/>
          <a:p>
            <a:pPr algn="l"/>
            <a:r>
              <a:rPr sz="1100" b="1">
                <a:solidFill>
                  <a:srgbClr val="FFFFFF"/>
                </a:solidFill>
                <a:latin typeface="Segoe UI"/>
              </a:rPr>
              <a:t>Reproducible local runtime</a:t>
            </a:r>
          </a:p>
        </p:txBody>
      </p:sp>
      <p:sp>
        <p:nvSpPr>
          <p:cNvPr id="10" name="TextBox 9"/>
          <p:cNvSpPr txBox="1"/>
          <p:nvPr/>
        </p:nvSpPr>
        <p:spPr>
          <a:xfrm>
            <a:off x="4572000" y="1234440"/>
            <a:ext cx="7132320" cy="548640"/>
          </a:xfrm>
          <a:prstGeom prst="rect">
            <a:avLst/>
          </a:prstGeom>
          <a:noFill/>
        </p:spPr>
        <p:txBody>
          <a:bodyPr wrap="square">
            <a:spAutoFit/>
          </a:bodyPr>
          <a:lstStyle/>
          <a:p>
            <a:pPr algn="l"/>
            <a:r>
              <a:rPr sz="900" b="0">
                <a:solidFill>
                  <a:srgbClr val="CBD5E1"/>
                </a:solidFill>
                <a:latin typeface="Segoe UI"/>
              </a:rPr>
              <a:t>9-service Docker Compose stack. PostgreSQL, Redpanda, Redis, n8n, Ollama, FastAPI, Next.js. Full workflow inspectable locally. 41/41 validation and 10M benchmark verified.</a:t>
            </a:r>
          </a:p>
        </p:txBody>
      </p:sp>
      <p:sp>
        <p:nvSpPr>
          <p:cNvPr id="11" name="Rectangle 10"/>
          <p:cNvSpPr/>
          <p:nvPr/>
        </p:nvSpPr>
        <p:spPr>
          <a:xfrm>
            <a:off x="320040" y="192024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920240"/>
            <a:ext cx="54864" cy="6583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1993392"/>
            <a:ext cx="777240" cy="274320"/>
          </a:xfrm>
          <a:prstGeom prst="rect">
            <a:avLst/>
          </a:prstGeom>
          <a:noFill/>
        </p:spPr>
        <p:txBody>
          <a:bodyPr wrap="square">
            <a:spAutoFit/>
          </a:bodyPr>
          <a:lstStyle/>
          <a:p>
            <a:pPr algn="l"/>
            <a:r>
              <a:rPr sz="1000" b="1">
                <a:solidFill>
                  <a:srgbClr val="3B82F6"/>
                </a:solidFill>
                <a:latin typeface="Segoe UI"/>
              </a:rPr>
              <a:t>Stage 2</a:t>
            </a:r>
          </a:p>
        </p:txBody>
      </p:sp>
      <p:sp>
        <p:nvSpPr>
          <p:cNvPr id="14" name="TextBox 13"/>
          <p:cNvSpPr txBox="1"/>
          <p:nvPr/>
        </p:nvSpPr>
        <p:spPr>
          <a:xfrm>
            <a:off x="1325880" y="1975104"/>
            <a:ext cx="3108960" cy="292608"/>
          </a:xfrm>
          <a:prstGeom prst="rect">
            <a:avLst/>
          </a:prstGeom>
          <a:noFill/>
        </p:spPr>
        <p:txBody>
          <a:bodyPr wrap="square">
            <a:spAutoFit/>
          </a:bodyPr>
          <a:lstStyle/>
          <a:p>
            <a:pPr algn="l"/>
            <a:r>
              <a:rPr sz="1100" b="1">
                <a:solidFill>
                  <a:srgbClr val="FFFFFF"/>
                </a:solidFill>
                <a:latin typeface="Segoe UI"/>
              </a:rPr>
              <a:t>Containerised deployment with stateless API workers</a:t>
            </a:r>
          </a:p>
        </p:txBody>
      </p:sp>
      <p:sp>
        <p:nvSpPr>
          <p:cNvPr id="15" name="TextBox 14"/>
          <p:cNvSpPr txBox="1"/>
          <p:nvPr/>
        </p:nvSpPr>
        <p:spPr>
          <a:xfrm>
            <a:off x="4572000" y="1965960"/>
            <a:ext cx="7132320" cy="548640"/>
          </a:xfrm>
          <a:prstGeom prst="rect">
            <a:avLst/>
          </a:prstGeom>
          <a:noFill/>
        </p:spPr>
        <p:txBody>
          <a:bodyPr wrap="square">
            <a:spAutoFit/>
          </a:bodyPr>
          <a:lstStyle/>
          <a:p>
            <a:pPr algn="l"/>
            <a:r>
              <a:rPr sz="900" b="0">
                <a:solidFill>
                  <a:srgbClr val="CBD5E1"/>
                </a:solidFill>
                <a:latin typeface="Segoe UI"/>
              </a:rPr>
              <a:t>API workers become horizontally scalable. Load balancer in front. Scoring path is stateless and CPU-bound: linear throughput scaling with additional workers.</a:t>
            </a:r>
          </a:p>
        </p:txBody>
      </p:sp>
      <p:sp>
        <p:nvSpPr>
          <p:cNvPr id="16" name="Rectangle 15"/>
          <p:cNvSpPr/>
          <p:nvPr/>
        </p:nvSpPr>
        <p:spPr>
          <a:xfrm>
            <a:off x="320040" y="265176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651760"/>
            <a:ext cx="54864" cy="65836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2724912"/>
            <a:ext cx="777240" cy="274320"/>
          </a:xfrm>
          <a:prstGeom prst="rect">
            <a:avLst/>
          </a:prstGeom>
          <a:noFill/>
        </p:spPr>
        <p:txBody>
          <a:bodyPr wrap="square">
            <a:spAutoFit/>
          </a:bodyPr>
          <a:lstStyle/>
          <a:p>
            <a:pPr algn="l"/>
            <a:r>
              <a:rPr sz="1000" b="1">
                <a:solidFill>
                  <a:srgbClr val="22D3EE"/>
                </a:solidFill>
                <a:latin typeface="Segoe UI"/>
              </a:rPr>
              <a:t>Stage 3</a:t>
            </a:r>
          </a:p>
        </p:txBody>
      </p:sp>
      <p:sp>
        <p:nvSpPr>
          <p:cNvPr id="19" name="TextBox 18"/>
          <p:cNvSpPr txBox="1"/>
          <p:nvPr/>
        </p:nvSpPr>
        <p:spPr>
          <a:xfrm>
            <a:off x="1325880" y="2706624"/>
            <a:ext cx="3108960" cy="292608"/>
          </a:xfrm>
          <a:prstGeom prst="rect">
            <a:avLst/>
          </a:prstGeom>
          <a:noFill/>
        </p:spPr>
        <p:txBody>
          <a:bodyPr wrap="square">
            <a:spAutoFit/>
          </a:bodyPr>
          <a:lstStyle/>
          <a:p>
            <a:pPr algn="l"/>
            <a:r>
              <a:rPr sz="1100" b="1">
                <a:solidFill>
                  <a:srgbClr val="FFFFFF"/>
                </a:solidFill>
                <a:latin typeface="Segoe UI"/>
              </a:rPr>
              <a:t>Managed data layer</a:t>
            </a:r>
          </a:p>
        </p:txBody>
      </p:sp>
      <p:sp>
        <p:nvSpPr>
          <p:cNvPr id="20" name="TextBox 19"/>
          <p:cNvSpPr txBox="1"/>
          <p:nvPr/>
        </p:nvSpPr>
        <p:spPr>
          <a:xfrm>
            <a:off x="4572000" y="2697479"/>
            <a:ext cx="7132320" cy="548640"/>
          </a:xfrm>
          <a:prstGeom prst="rect">
            <a:avLst/>
          </a:prstGeom>
          <a:noFill/>
        </p:spPr>
        <p:txBody>
          <a:bodyPr wrap="square">
            <a:spAutoFit/>
          </a:bodyPr>
          <a:lstStyle/>
          <a:p>
            <a:pPr algn="l"/>
            <a:r>
              <a:rPr sz="900" b="0">
                <a:solidFill>
                  <a:srgbClr val="CBD5E1"/>
                </a:solidFill>
                <a:latin typeface="Segoe UI"/>
              </a:rPr>
              <a:t>PostgreSQL moves to managed RDS or Cloud SQL. Redis to ElastiCache or Memorystore. Redpanda to a managed broker. Object storage for scan exports.</a:t>
            </a:r>
          </a:p>
        </p:txBody>
      </p:sp>
      <p:sp>
        <p:nvSpPr>
          <p:cNvPr id="21" name="Rectangle 20"/>
          <p:cNvSpPr/>
          <p:nvPr/>
        </p:nvSpPr>
        <p:spPr>
          <a:xfrm>
            <a:off x="320040" y="338328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383280"/>
            <a:ext cx="54864" cy="65836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3456432"/>
            <a:ext cx="777240" cy="274320"/>
          </a:xfrm>
          <a:prstGeom prst="rect">
            <a:avLst/>
          </a:prstGeom>
          <a:noFill/>
        </p:spPr>
        <p:txBody>
          <a:bodyPr wrap="square">
            <a:spAutoFit/>
          </a:bodyPr>
          <a:lstStyle/>
          <a:p>
            <a:pPr algn="l"/>
            <a:r>
              <a:rPr sz="1000" b="1">
                <a:solidFill>
                  <a:srgbClr val="22D3EE"/>
                </a:solidFill>
                <a:latin typeface="Segoe UI"/>
              </a:rPr>
              <a:t>Stage 4</a:t>
            </a:r>
          </a:p>
        </p:txBody>
      </p:sp>
      <p:sp>
        <p:nvSpPr>
          <p:cNvPr id="24" name="TextBox 23"/>
          <p:cNvSpPr txBox="1"/>
          <p:nvPr/>
        </p:nvSpPr>
        <p:spPr>
          <a:xfrm>
            <a:off x="1325880" y="3438144"/>
            <a:ext cx="3108960" cy="292608"/>
          </a:xfrm>
          <a:prstGeom prst="rect">
            <a:avLst/>
          </a:prstGeom>
          <a:noFill/>
        </p:spPr>
        <p:txBody>
          <a:bodyPr wrap="square">
            <a:spAutoFit/>
          </a:bodyPr>
          <a:lstStyle/>
          <a:p>
            <a:pPr algn="l"/>
            <a:r>
              <a:rPr sz="1100" b="1">
                <a:solidFill>
                  <a:srgbClr val="FFFFFF"/>
                </a:solidFill>
                <a:latin typeface="Segoe UI"/>
              </a:rPr>
              <a:t>Load-balanced scoring APIs with cache-backed idempotency</a:t>
            </a:r>
          </a:p>
        </p:txBody>
      </p:sp>
      <p:sp>
        <p:nvSpPr>
          <p:cNvPr id="25" name="TextBox 24"/>
          <p:cNvSpPr txBox="1"/>
          <p:nvPr/>
        </p:nvSpPr>
        <p:spPr>
          <a:xfrm>
            <a:off x="4572000" y="3429000"/>
            <a:ext cx="7132320" cy="548640"/>
          </a:xfrm>
          <a:prstGeom prst="rect">
            <a:avLst/>
          </a:prstGeom>
          <a:noFill/>
        </p:spPr>
        <p:txBody>
          <a:bodyPr wrap="square">
            <a:spAutoFit/>
          </a:bodyPr>
          <a:lstStyle/>
          <a:p>
            <a:pPr algn="l"/>
            <a:r>
              <a:rPr sz="900" b="0">
                <a:solidFill>
                  <a:srgbClr val="CBD5E1"/>
                </a:solidFill>
                <a:latin typeface="Segoe UI"/>
              </a:rPr>
              <a:t>Redis deduplication active at scale. Repeated scoring requests returned from cache. Scoring API autoscales based on request queue depth.</a:t>
            </a:r>
          </a:p>
        </p:txBody>
      </p:sp>
      <p:sp>
        <p:nvSpPr>
          <p:cNvPr id="26" name="Rectangle 25"/>
          <p:cNvSpPr/>
          <p:nvPr/>
        </p:nvSpPr>
        <p:spPr>
          <a:xfrm>
            <a:off x="320040" y="411480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4114800"/>
            <a:ext cx="54864" cy="65836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4187952"/>
            <a:ext cx="777240" cy="274320"/>
          </a:xfrm>
          <a:prstGeom prst="rect">
            <a:avLst/>
          </a:prstGeom>
          <a:noFill/>
        </p:spPr>
        <p:txBody>
          <a:bodyPr wrap="square">
            <a:spAutoFit/>
          </a:bodyPr>
          <a:lstStyle/>
          <a:p>
            <a:pPr algn="l"/>
            <a:r>
              <a:rPr sz="1000" b="1">
                <a:solidFill>
                  <a:srgbClr val="34D399"/>
                </a:solidFill>
                <a:latin typeface="Segoe UI"/>
              </a:rPr>
              <a:t>Stage 5</a:t>
            </a:r>
          </a:p>
        </p:txBody>
      </p:sp>
      <p:sp>
        <p:nvSpPr>
          <p:cNvPr id="29" name="TextBox 28"/>
          <p:cNvSpPr txBox="1"/>
          <p:nvPr/>
        </p:nvSpPr>
        <p:spPr>
          <a:xfrm>
            <a:off x="1325880" y="4169663"/>
            <a:ext cx="3108960" cy="292608"/>
          </a:xfrm>
          <a:prstGeom prst="rect">
            <a:avLst/>
          </a:prstGeom>
          <a:noFill/>
        </p:spPr>
        <p:txBody>
          <a:bodyPr wrap="square">
            <a:spAutoFit/>
          </a:bodyPr>
          <a:lstStyle/>
          <a:p>
            <a:pPr algn="l"/>
            <a:r>
              <a:rPr sz="1100" b="1">
                <a:solidFill>
                  <a:srgbClr val="FFFFFF"/>
                </a:solidFill>
                <a:latin typeface="Segoe UI"/>
              </a:rPr>
              <a:t>Queue-backed investigation and portfolio workers</a:t>
            </a:r>
          </a:p>
        </p:txBody>
      </p:sp>
      <p:sp>
        <p:nvSpPr>
          <p:cNvPr id="30" name="TextBox 29"/>
          <p:cNvSpPr txBox="1"/>
          <p:nvPr/>
        </p:nvSpPr>
        <p:spPr>
          <a:xfrm>
            <a:off x="4572000" y="4160520"/>
            <a:ext cx="7132320" cy="548640"/>
          </a:xfrm>
          <a:prstGeom prst="rect">
            <a:avLst/>
          </a:prstGeom>
          <a:noFill/>
        </p:spPr>
        <p:txBody>
          <a:bodyPr wrap="square">
            <a:spAutoFit/>
          </a:bodyPr>
          <a:lstStyle/>
          <a:p>
            <a:pPr algn="l"/>
            <a:r>
              <a:rPr sz="900" b="0">
                <a:solidFill>
                  <a:srgbClr val="CBD5E1"/>
                </a:solidFill>
                <a:latin typeface="Segoe UI"/>
              </a:rPr>
              <a:t>Investigation consumers and portfolio scan workers scale independently on Redpanda partitions. Each consumer group adds throughput without touching the API layer.</a:t>
            </a:r>
          </a:p>
        </p:txBody>
      </p:sp>
      <p:sp>
        <p:nvSpPr>
          <p:cNvPr id="31" name="Rectangle 30"/>
          <p:cNvSpPr/>
          <p:nvPr/>
        </p:nvSpPr>
        <p:spPr>
          <a:xfrm>
            <a:off x="320040" y="484632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 y="4846320"/>
            <a:ext cx="54864" cy="65836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4919472"/>
            <a:ext cx="777240" cy="274320"/>
          </a:xfrm>
          <a:prstGeom prst="rect">
            <a:avLst/>
          </a:prstGeom>
          <a:noFill/>
        </p:spPr>
        <p:txBody>
          <a:bodyPr wrap="square">
            <a:spAutoFit/>
          </a:bodyPr>
          <a:lstStyle/>
          <a:p>
            <a:pPr algn="l"/>
            <a:r>
              <a:rPr sz="1000" b="1">
                <a:solidFill>
                  <a:srgbClr val="34D399"/>
                </a:solidFill>
                <a:latin typeface="Segoe UI"/>
              </a:rPr>
              <a:t>Stage 6</a:t>
            </a:r>
          </a:p>
        </p:txBody>
      </p:sp>
      <p:sp>
        <p:nvSpPr>
          <p:cNvPr id="34" name="TextBox 33"/>
          <p:cNvSpPr txBox="1"/>
          <p:nvPr/>
        </p:nvSpPr>
        <p:spPr>
          <a:xfrm>
            <a:off x="1325880" y="4901183"/>
            <a:ext cx="3108960" cy="292608"/>
          </a:xfrm>
          <a:prstGeom prst="rect">
            <a:avLst/>
          </a:prstGeom>
          <a:noFill/>
        </p:spPr>
        <p:txBody>
          <a:bodyPr wrap="square">
            <a:spAutoFit/>
          </a:bodyPr>
          <a:lstStyle/>
          <a:p>
            <a:pPr algn="l"/>
            <a:r>
              <a:rPr sz="1100" b="1">
                <a:solidFill>
                  <a:srgbClr val="FFFFFF"/>
                </a:solidFill>
                <a:latin typeface="Segoe UI"/>
              </a:rPr>
              <a:t>Observability, SLOs, drift checks, and model governance</a:t>
            </a:r>
          </a:p>
        </p:txBody>
      </p:sp>
      <p:sp>
        <p:nvSpPr>
          <p:cNvPr id="35" name="TextBox 34"/>
          <p:cNvSpPr txBox="1"/>
          <p:nvPr/>
        </p:nvSpPr>
        <p:spPr>
          <a:xfrm>
            <a:off x="4572000" y="4892040"/>
            <a:ext cx="7132320" cy="548640"/>
          </a:xfrm>
          <a:prstGeom prst="rect">
            <a:avLst/>
          </a:prstGeom>
          <a:noFill/>
        </p:spPr>
        <p:txBody>
          <a:bodyPr wrap="square">
            <a:spAutoFit/>
          </a:bodyPr>
          <a:lstStyle/>
          <a:p>
            <a:pPr algn="l"/>
            <a:r>
              <a:rPr sz="900" b="0">
                <a:solidFill>
                  <a:srgbClr val="CBD5E1"/>
                </a:solidFill>
                <a:latin typeface="Segoe UI"/>
              </a:rPr>
              <a:t>Latency SLOs, score drift detection, LLM output quality monitoring, AGENT_VERSION lineage tracking, and alerting on failure rate thresholds.</a:t>
            </a:r>
          </a:p>
        </p:txBody>
      </p:sp>
      <p:sp>
        <p:nvSpPr>
          <p:cNvPr id="36" name="Rectangle 35"/>
          <p:cNvSpPr/>
          <p:nvPr/>
        </p:nvSpPr>
        <p:spPr>
          <a:xfrm>
            <a:off x="320040" y="5577840"/>
            <a:ext cx="11548872"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5577840"/>
            <a:ext cx="54864" cy="65836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 y="5650992"/>
            <a:ext cx="777240" cy="274320"/>
          </a:xfrm>
          <a:prstGeom prst="rect">
            <a:avLst/>
          </a:prstGeom>
          <a:noFill/>
        </p:spPr>
        <p:txBody>
          <a:bodyPr wrap="square">
            <a:spAutoFit/>
          </a:bodyPr>
          <a:lstStyle/>
          <a:p>
            <a:pPr algn="l"/>
            <a:r>
              <a:rPr sz="1000" b="1">
                <a:solidFill>
                  <a:srgbClr val="FBBF24"/>
                </a:solidFill>
                <a:latin typeface="Segoe UI"/>
              </a:rPr>
              <a:t>Stage 7</a:t>
            </a:r>
          </a:p>
        </p:txBody>
      </p:sp>
      <p:sp>
        <p:nvSpPr>
          <p:cNvPr id="39" name="TextBox 38"/>
          <p:cNvSpPr txBox="1"/>
          <p:nvPr/>
        </p:nvSpPr>
        <p:spPr>
          <a:xfrm>
            <a:off x="1325880" y="5632703"/>
            <a:ext cx="3108960" cy="292608"/>
          </a:xfrm>
          <a:prstGeom prst="rect">
            <a:avLst/>
          </a:prstGeom>
          <a:noFill/>
        </p:spPr>
        <p:txBody>
          <a:bodyPr wrap="square">
            <a:spAutoFit/>
          </a:bodyPr>
          <a:lstStyle/>
          <a:p>
            <a:pPr algn="l"/>
            <a:r>
              <a:rPr sz="1100" b="1">
                <a:solidFill>
                  <a:srgbClr val="FFFFFF"/>
                </a:solidFill>
                <a:latin typeface="Segoe UI"/>
              </a:rPr>
              <a:t>Resilience for high-criticality fraud operations</a:t>
            </a:r>
          </a:p>
        </p:txBody>
      </p:sp>
      <p:sp>
        <p:nvSpPr>
          <p:cNvPr id="40" name="TextBox 39"/>
          <p:cNvSpPr txBox="1"/>
          <p:nvPr/>
        </p:nvSpPr>
        <p:spPr>
          <a:xfrm>
            <a:off x="4572000" y="5623559"/>
            <a:ext cx="7132320" cy="548640"/>
          </a:xfrm>
          <a:prstGeom prst="rect">
            <a:avLst/>
          </a:prstGeom>
          <a:noFill/>
        </p:spPr>
        <p:txBody>
          <a:bodyPr wrap="square">
            <a:spAutoFit/>
          </a:bodyPr>
          <a:lstStyle/>
          <a:p>
            <a:pPr algn="l"/>
            <a:r>
              <a:rPr sz="900" b="0">
                <a:solidFill>
                  <a:srgbClr val="CBD5E1"/>
                </a:solidFill>
                <a:latin typeface="Segoe UI"/>
              </a:rPr>
              <a:t>Multi-region read replicas. Retry and circuit breaker patterns. Consumer offset recovery on restart. Failover for LLM inference path.</a:t>
            </a:r>
          </a:p>
        </p:txBody>
      </p:sp>
      <p:sp>
        <p:nvSpPr>
          <p:cNvPr id="41" name="Rectangle 40"/>
          <p:cNvSpPr/>
          <p:nvPr/>
        </p:nvSpPr>
        <p:spPr>
          <a:xfrm>
            <a:off x="320040" y="6327648"/>
            <a:ext cx="11548872" cy="36576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373368"/>
            <a:ext cx="11155680" cy="274320"/>
          </a:xfrm>
          <a:prstGeom prst="rect">
            <a:avLst/>
          </a:prstGeom>
          <a:noFill/>
        </p:spPr>
        <p:txBody>
          <a:bodyPr wrap="square">
            <a:spAutoFit/>
          </a:bodyPr>
          <a:lstStyle/>
          <a:p>
            <a:pPr algn="ctr"/>
            <a:r>
              <a:rPr sz="900" b="0">
                <a:solidFill>
                  <a:srgbClr val="22D3EE"/>
                </a:solidFill>
                <a:latin typeface="Segoe UI"/>
              </a:rPr>
              <a:t>The architecture separates fast scoring, async investigation, portfolio processing, and audit persistence so each layer can scale independently.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INTEGRATION EXPANSION PATH</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Integration strategy: one decision facade over existing service boundaries.</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3566160" cy="53492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298448"/>
            <a:ext cx="3246120" cy="320040"/>
          </a:xfrm>
          <a:prstGeom prst="rect">
            <a:avLst/>
          </a:prstGeom>
          <a:noFill/>
        </p:spPr>
        <p:txBody>
          <a:bodyPr wrap="square">
            <a:spAutoFit/>
          </a:bodyPr>
          <a:lstStyle/>
          <a:p>
            <a:pPr algn="l"/>
            <a:r>
              <a:rPr sz="1100" b="1">
                <a:solidFill>
                  <a:srgbClr val="FFFFFF"/>
                </a:solidFill>
                <a:latin typeface="Segoe UI"/>
              </a:rPr>
              <a:t>Current API Surface</a:t>
            </a:r>
          </a:p>
        </p:txBody>
      </p:sp>
      <p:sp>
        <p:nvSpPr>
          <p:cNvPr id="8" name="TextBox 7"/>
          <p:cNvSpPr txBox="1"/>
          <p:nvPr/>
        </p:nvSpPr>
        <p:spPr>
          <a:xfrm>
            <a:off x="475488" y="1645920"/>
            <a:ext cx="3246120" cy="256032"/>
          </a:xfrm>
          <a:prstGeom prst="rect">
            <a:avLst/>
          </a:prstGeom>
          <a:noFill/>
        </p:spPr>
        <p:txBody>
          <a:bodyPr wrap="square">
            <a:spAutoFit/>
          </a:bodyPr>
          <a:lstStyle/>
          <a:p>
            <a:pPr algn="l"/>
            <a:r>
              <a:rPr sz="900" b="0">
                <a:solidFill>
                  <a:srgbClr val="64748B"/>
                </a:solidFill>
                <a:latin typeface="Segoe UI"/>
              </a:rPr>
              <a:t>27 endpoints across 6 areas</a:t>
            </a:r>
          </a:p>
        </p:txBody>
      </p:sp>
      <p:sp>
        <p:nvSpPr>
          <p:cNvPr id="9" name="Rectangle 8"/>
          <p:cNvSpPr/>
          <p:nvPr/>
        </p:nvSpPr>
        <p:spPr>
          <a:xfrm>
            <a:off x="475488" y="1993392"/>
            <a:ext cx="324612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103120"/>
            <a:ext cx="4572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12263"/>
            <a:ext cx="960120" cy="201168"/>
          </a:xfrm>
          <a:prstGeom prst="rect">
            <a:avLst/>
          </a:prstGeom>
          <a:noFill/>
        </p:spPr>
        <p:txBody>
          <a:bodyPr wrap="square">
            <a:spAutoFit/>
          </a:bodyPr>
          <a:lstStyle/>
          <a:p>
            <a:pPr algn="l"/>
            <a:r>
              <a:rPr sz="900" b="1">
                <a:solidFill>
                  <a:srgbClr val="3B82F6"/>
                </a:solidFill>
                <a:latin typeface="Segoe UI"/>
              </a:rPr>
              <a:t>Scoring</a:t>
            </a:r>
          </a:p>
        </p:txBody>
      </p:sp>
      <p:sp>
        <p:nvSpPr>
          <p:cNvPr id="12" name="TextBox 11"/>
          <p:cNvSpPr txBox="1"/>
          <p:nvPr/>
        </p:nvSpPr>
        <p:spPr>
          <a:xfrm>
            <a:off x="566928" y="2322576"/>
            <a:ext cx="3108960" cy="219456"/>
          </a:xfrm>
          <a:prstGeom prst="rect">
            <a:avLst/>
          </a:prstGeom>
          <a:noFill/>
        </p:spPr>
        <p:txBody>
          <a:bodyPr wrap="square">
            <a:spAutoFit/>
          </a:bodyPr>
          <a:lstStyle/>
          <a:p>
            <a:pPr algn="l"/>
            <a:r>
              <a:rPr sz="800" b="0">
                <a:solidFill>
                  <a:srgbClr val="CBD5E1"/>
                </a:solidFill>
                <a:latin typeface="Segoe UI"/>
              </a:rPr>
              <a:t>POST /score-transaction</a:t>
            </a:r>
          </a:p>
        </p:txBody>
      </p:sp>
      <p:sp>
        <p:nvSpPr>
          <p:cNvPr id="13" name="Rectangle 12"/>
          <p:cNvSpPr/>
          <p:nvPr/>
        </p:nvSpPr>
        <p:spPr>
          <a:xfrm>
            <a:off x="411480" y="2615184"/>
            <a:ext cx="45720" cy="3657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624327"/>
            <a:ext cx="960120" cy="201168"/>
          </a:xfrm>
          <a:prstGeom prst="rect">
            <a:avLst/>
          </a:prstGeom>
          <a:noFill/>
        </p:spPr>
        <p:txBody>
          <a:bodyPr wrap="square">
            <a:spAutoFit/>
          </a:bodyPr>
          <a:lstStyle/>
          <a:p>
            <a:pPr algn="l"/>
            <a:r>
              <a:rPr sz="900" b="1">
                <a:solidFill>
                  <a:srgbClr val="22D3EE"/>
                </a:solidFill>
                <a:latin typeface="Segoe UI"/>
              </a:rPr>
              <a:t>Cases</a:t>
            </a:r>
          </a:p>
        </p:txBody>
      </p:sp>
      <p:sp>
        <p:nvSpPr>
          <p:cNvPr id="15" name="TextBox 14"/>
          <p:cNvSpPr txBox="1"/>
          <p:nvPr/>
        </p:nvSpPr>
        <p:spPr>
          <a:xfrm>
            <a:off x="566928" y="2834639"/>
            <a:ext cx="3108960" cy="219456"/>
          </a:xfrm>
          <a:prstGeom prst="rect">
            <a:avLst/>
          </a:prstGeom>
          <a:noFill/>
        </p:spPr>
        <p:txBody>
          <a:bodyPr wrap="square">
            <a:spAutoFit/>
          </a:bodyPr>
          <a:lstStyle/>
          <a:p>
            <a:pPr algn="l"/>
            <a:r>
              <a:rPr sz="800" b="0">
                <a:solidFill>
                  <a:srgbClr val="CBD5E1"/>
                </a:solidFill>
                <a:latin typeface="Segoe UI"/>
              </a:rPr>
              <a:t>GET/POST /cases, /cases/{id}</a:t>
            </a:r>
          </a:p>
        </p:txBody>
      </p:sp>
      <p:sp>
        <p:nvSpPr>
          <p:cNvPr id="16" name="Rectangle 15"/>
          <p:cNvSpPr/>
          <p:nvPr/>
        </p:nvSpPr>
        <p:spPr>
          <a:xfrm>
            <a:off x="411480" y="3127248"/>
            <a:ext cx="45720" cy="365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36391"/>
            <a:ext cx="960120" cy="201168"/>
          </a:xfrm>
          <a:prstGeom prst="rect">
            <a:avLst/>
          </a:prstGeom>
          <a:noFill/>
        </p:spPr>
        <p:txBody>
          <a:bodyPr wrap="square">
            <a:spAutoFit/>
          </a:bodyPr>
          <a:lstStyle/>
          <a:p>
            <a:pPr algn="l"/>
            <a:r>
              <a:rPr sz="900" b="1">
                <a:solidFill>
                  <a:srgbClr val="34D399"/>
                </a:solidFill>
                <a:latin typeface="Segoe UI"/>
              </a:rPr>
              <a:t>Investigation</a:t>
            </a:r>
          </a:p>
        </p:txBody>
      </p:sp>
      <p:sp>
        <p:nvSpPr>
          <p:cNvPr id="18" name="TextBox 17"/>
          <p:cNvSpPr txBox="1"/>
          <p:nvPr/>
        </p:nvSpPr>
        <p:spPr>
          <a:xfrm>
            <a:off x="566928" y="3346704"/>
            <a:ext cx="3108960" cy="219456"/>
          </a:xfrm>
          <a:prstGeom prst="rect">
            <a:avLst/>
          </a:prstGeom>
          <a:noFill/>
        </p:spPr>
        <p:txBody>
          <a:bodyPr wrap="square">
            <a:spAutoFit/>
          </a:bodyPr>
          <a:lstStyle/>
          <a:p>
            <a:pPr algn="l"/>
            <a:r>
              <a:rPr sz="800" b="0">
                <a:solidFill>
                  <a:srgbClr val="CBD5E1"/>
                </a:solidFill>
                <a:latin typeface="Segoe UI"/>
              </a:rPr>
              <a:t>POST /cases/{id}/investigate</a:t>
            </a:r>
          </a:p>
        </p:txBody>
      </p:sp>
      <p:sp>
        <p:nvSpPr>
          <p:cNvPr id="19" name="Rectangle 18"/>
          <p:cNvSpPr/>
          <p:nvPr/>
        </p:nvSpPr>
        <p:spPr>
          <a:xfrm>
            <a:off x="411480" y="3639312"/>
            <a:ext cx="4572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48456"/>
            <a:ext cx="960120" cy="201168"/>
          </a:xfrm>
          <a:prstGeom prst="rect">
            <a:avLst/>
          </a:prstGeom>
          <a:noFill/>
        </p:spPr>
        <p:txBody>
          <a:bodyPr wrap="square">
            <a:spAutoFit/>
          </a:bodyPr>
          <a:lstStyle/>
          <a:p>
            <a:pPr algn="l"/>
            <a:r>
              <a:rPr sz="900" b="1">
                <a:solidFill>
                  <a:srgbClr val="3B82F6"/>
                </a:solidFill>
                <a:latin typeface="Segoe UI"/>
              </a:rPr>
              <a:t>Workflow</a:t>
            </a:r>
          </a:p>
        </p:txBody>
      </p:sp>
      <p:sp>
        <p:nvSpPr>
          <p:cNvPr id="21" name="TextBox 20"/>
          <p:cNvSpPr txBox="1"/>
          <p:nvPr/>
        </p:nvSpPr>
        <p:spPr>
          <a:xfrm>
            <a:off x="566928" y="3858768"/>
            <a:ext cx="3108960" cy="219456"/>
          </a:xfrm>
          <a:prstGeom prst="rect">
            <a:avLst/>
          </a:prstGeom>
          <a:noFill/>
        </p:spPr>
        <p:txBody>
          <a:bodyPr wrap="square">
            <a:spAutoFit/>
          </a:bodyPr>
          <a:lstStyle/>
          <a:p>
            <a:pPr algn="l"/>
            <a:r>
              <a:rPr sz="800" b="0">
                <a:solidFill>
                  <a:srgbClr val="CBD5E1"/>
                </a:solidFill>
                <a:latin typeface="Segoe UI"/>
              </a:rPr>
              <a:t>POST /workflow/notify-case/{id}</a:t>
            </a:r>
          </a:p>
        </p:txBody>
      </p:sp>
      <p:sp>
        <p:nvSpPr>
          <p:cNvPr id="22" name="Rectangle 21"/>
          <p:cNvSpPr/>
          <p:nvPr/>
        </p:nvSpPr>
        <p:spPr>
          <a:xfrm>
            <a:off x="411480" y="4151376"/>
            <a:ext cx="45720" cy="3657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60520"/>
            <a:ext cx="960120" cy="201168"/>
          </a:xfrm>
          <a:prstGeom prst="rect">
            <a:avLst/>
          </a:prstGeom>
          <a:noFill/>
        </p:spPr>
        <p:txBody>
          <a:bodyPr wrap="square">
            <a:spAutoFit/>
          </a:bodyPr>
          <a:lstStyle/>
          <a:p>
            <a:pPr algn="l"/>
            <a:r>
              <a:rPr sz="900" b="1">
                <a:solidFill>
                  <a:srgbClr val="22D3EE"/>
                </a:solidFill>
                <a:latin typeface="Segoe UI"/>
              </a:rPr>
              <a:t>Audit</a:t>
            </a:r>
          </a:p>
        </p:txBody>
      </p:sp>
      <p:sp>
        <p:nvSpPr>
          <p:cNvPr id="24" name="TextBox 23"/>
          <p:cNvSpPr txBox="1"/>
          <p:nvPr/>
        </p:nvSpPr>
        <p:spPr>
          <a:xfrm>
            <a:off x="566928" y="4370832"/>
            <a:ext cx="3108960" cy="219456"/>
          </a:xfrm>
          <a:prstGeom prst="rect">
            <a:avLst/>
          </a:prstGeom>
          <a:noFill/>
        </p:spPr>
        <p:txBody>
          <a:bodyPr wrap="square">
            <a:spAutoFit/>
          </a:bodyPr>
          <a:lstStyle/>
          <a:p>
            <a:pPr algn="l"/>
            <a:r>
              <a:rPr sz="800" b="0">
                <a:solidFill>
                  <a:srgbClr val="CBD5E1"/>
                </a:solidFill>
                <a:latin typeface="Segoe UI"/>
              </a:rPr>
              <a:t>GET /workflow/events</a:t>
            </a:r>
          </a:p>
        </p:txBody>
      </p:sp>
      <p:sp>
        <p:nvSpPr>
          <p:cNvPr id="25" name="Rectangle 24"/>
          <p:cNvSpPr/>
          <p:nvPr/>
        </p:nvSpPr>
        <p:spPr>
          <a:xfrm>
            <a:off x="411480" y="4663440"/>
            <a:ext cx="45720" cy="365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72583"/>
            <a:ext cx="960120" cy="201168"/>
          </a:xfrm>
          <a:prstGeom prst="rect">
            <a:avLst/>
          </a:prstGeom>
          <a:noFill/>
        </p:spPr>
        <p:txBody>
          <a:bodyPr wrap="square">
            <a:spAutoFit/>
          </a:bodyPr>
          <a:lstStyle/>
          <a:p>
            <a:pPr algn="l"/>
            <a:r>
              <a:rPr sz="900" b="1">
                <a:solidFill>
                  <a:srgbClr val="34D399"/>
                </a:solidFill>
                <a:latin typeface="Segoe UI"/>
              </a:rPr>
              <a:t>Reliability</a:t>
            </a:r>
          </a:p>
        </p:txBody>
      </p:sp>
      <p:sp>
        <p:nvSpPr>
          <p:cNvPr id="27" name="TextBox 26"/>
          <p:cNvSpPr txBox="1"/>
          <p:nvPr/>
        </p:nvSpPr>
        <p:spPr>
          <a:xfrm>
            <a:off x="566928" y="4882896"/>
            <a:ext cx="3108960" cy="219456"/>
          </a:xfrm>
          <a:prstGeom prst="rect">
            <a:avLst/>
          </a:prstGeom>
          <a:noFill/>
        </p:spPr>
        <p:txBody>
          <a:bodyPr wrap="square">
            <a:spAutoFit/>
          </a:bodyPr>
          <a:lstStyle/>
          <a:p>
            <a:pPr algn="l"/>
            <a:r>
              <a:rPr sz="800" b="0">
                <a:solidFill>
                  <a:srgbClr val="CBD5E1"/>
                </a:solidFill>
                <a:latin typeface="Segoe UI"/>
              </a:rPr>
              <a:t>GET /workflow/metrics</a:t>
            </a:r>
          </a:p>
        </p:txBody>
      </p:sp>
      <p:sp>
        <p:nvSpPr>
          <p:cNvPr id="28" name="Rectangle 27"/>
          <p:cNvSpPr/>
          <p:nvPr/>
        </p:nvSpPr>
        <p:spPr>
          <a:xfrm>
            <a:off x="411480" y="5175504"/>
            <a:ext cx="45720" cy="3657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184648"/>
            <a:ext cx="960120" cy="201168"/>
          </a:xfrm>
          <a:prstGeom prst="rect">
            <a:avLst/>
          </a:prstGeom>
          <a:noFill/>
        </p:spPr>
        <p:txBody>
          <a:bodyPr wrap="square">
            <a:spAutoFit/>
          </a:bodyPr>
          <a:lstStyle/>
          <a:p>
            <a:pPr algn="l"/>
            <a:r>
              <a:rPr sz="900" b="1">
                <a:solidFill>
                  <a:srgbClr val="FBBF24"/>
                </a:solidFill>
                <a:latin typeface="Segoe UI"/>
              </a:rPr>
              <a:t>Portfolio</a:t>
            </a:r>
          </a:p>
        </p:txBody>
      </p:sp>
      <p:sp>
        <p:nvSpPr>
          <p:cNvPr id="30" name="TextBox 29"/>
          <p:cNvSpPr txBox="1"/>
          <p:nvPr/>
        </p:nvSpPr>
        <p:spPr>
          <a:xfrm>
            <a:off x="566928" y="5394960"/>
            <a:ext cx="3108960" cy="219456"/>
          </a:xfrm>
          <a:prstGeom prst="rect">
            <a:avLst/>
          </a:prstGeom>
          <a:noFill/>
        </p:spPr>
        <p:txBody>
          <a:bodyPr wrap="square">
            <a:spAutoFit/>
          </a:bodyPr>
          <a:lstStyle/>
          <a:p>
            <a:pPr algn="l"/>
            <a:r>
              <a:rPr sz="800" b="0">
                <a:solidFill>
                  <a:srgbClr val="CBD5E1"/>
                </a:solidFill>
                <a:latin typeface="Segoe UI"/>
              </a:rPr>
              <a:t>POST /risk-scan, GET /risk-scan/{id}/...</a:t>
            </a:r>
          </a:p>
        </p:txBody>
      </p:sp>
      <p:sp>
        <p:nvSpPr>
          <p:cNvPr id="31" name="Rectangle 30"/>
          <p:cNvSpPr/>
          <p:nvPr/>
        </p:nvSpPr>
        <p:spPr>
          <a:xfrm>
            <a:off x="411480" y="5687568"/>
            <a:ext cx="4572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696712"/>
            <a:ext cx="960120" cy="201168"/>
          </a:xfrm>
          <a:prstGeom prst="rect">
            <a:avLst/>
          </a:prstGeom>
          <a:noFill/>
        </p:spPr>
        <p:txBody>
          <a:bodyPr wrap="square">
            <a:spAutoFit/>
          </a:bodyPr>
          <a:lstStyle/>
          <a:p>
            <a:pPr algn="l"/>
            <a:r>
              <a:rPr sz="900" b="1">
                <a:solidFill>
                  <a:srgbClr val="3B82F6"/>
                </a:solidFill>
                <a:latin typeface="Segoe UI"/>
              </a:rPr>
              <a:t>Admin</a:t>
            </a:r>
          </a:p>
        </p:txBody>
      </p:sp>
      <p:sp>
        <p:nvSpPr>
          <p:cNvPr id="33" name="TextBox 32"/>
          <p:cNvSpPr txBox="1"/>
          <p:nvPr/>
        </p:nvSpPr>
        <p:spPr>
          <a:xfrm>
            <a:off x="566928" y="5907024"/>
            <a:ext cx="3108960" cy="219456"/>
          </a:xfrm>
          <a:prstGeom prst="rect">
            <a:avLst/>
          </a:prstGeom>
          <a:noFill/>
        </p:spPr>
        <p:txBody>
          <a:bodyPr wrap="square">
            <a:spAutoFit/>
          </a:bodyPr>
          <a:lstStyle/>
          <a:p>
            <a:pPr algn="l"/>
            <a:r>
              <a:rPr sz="800" b="0">
                <a:solidFill>
                  <a:srgbClr val="CBD5E1"/>
                </a:solidFill>
                <a:latin typeface="Segoe UI"/>
              </a:rPr>
              <a:t>GET /health, GET /cases/summary</a:t>
            </a:r>
          </a:p>
        </p:txBody>
      </p:sp>
      <p:sp>
        <p:nvSpPr>
          <p:cNvPr id="34" name="Rectangle 33"/>
          <p:cNvSpPr/>
          <p:nvPr/>
        </p:nvSpPr>
        <p:spPr>
          <a:xfrm>
            <a:off x="4160520" y="1188720"/>
            <a:ext cx="4160520" cy="5349240"/>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1298448"/>
            <a:ext cx="3794760" cy="347472"/>
          </a:xfrm>
          <a:prstGeom prst="rect">
            <a:avLst/>
          </a:prstGeom>
          <a:noFill/>
        </p:spPr>
        <p:txBody>
          <a:bodyPr wrap="square">
            <a:spAutoFit/>
          </a:bodyPr>
          <a:lstStyle/>
          <a:p>
            <a:pPr algn="ctr"/>
            <a:r>
              <a:rPr sz="1200" b="1">
                <a:solidFill>
                  <a:srgbClr val="FBBF24"/>
                </a:solidFill>
                <a:latin typeface="Segoe UI"/>
              </a:rPr>
              <a:t>Integration Expansion Path</a:t>
            </a:r>
          </a:p>
        </p:txBody>
      </p:sp>
      <p:sp>
        <p:nvSpPr>
          <p:cNvPr id="36" name="TextBox 35"/>
          <p:cNvSpPr txBox="1"/>
          <p:nvPr/>
        </p:nvSpPr>
        <p:spPr>
          <a:xfrm>
            <a:off x="4251960" y="1719072"/>
            <a:ext cx="3977639" cy="411480"/>
          </a:xfrm>
          <a:prstGeom prst="rect">
            <a:avLst/>
          </a:prstGeom>
          <a:noFill/>
        </p:spPr>
        <p:txBody>
          <a:bodyPr wrap="square">
            <a:spAutoFit/>
          </a:bodyPr>
          <a:lstStyle/>
          <a:p>
            <a:pPr algn="ctr"/>
            <a:r>
              <a:rPr sz="1700" b="1">
                <a:solidFill>
                  <a:srgbClr val="FFFFFF"/>
                </a:solidFill>
                <a:latin typeface="Segoe UI"/>
              </a:rPr>
              <a:t>POST /fraud/decision</a:t>
            </a:r>
          </a:p>
        </p:txBody>
      </p:sp>
      <p:sp>
        <p:nvSpPr>
          <p:cNvPr id="37" name="TextBox 36"/>
          <p:cNvSpPr txBox="1"/>
          <p:nvPr/>
        </p:nvSpPr>
        <p:spPr>
          <a:xfrm>
            <a:off x="4315968" y="2194560"/>
            <a:ext cx="3794760" cy="347472"/>
          </a:xfrm>
          <a:prstGeom prst="rect">
            <a:avLst/>
          </a:prstGeom>
          <a:noFill/>
        </p:spPr>
        <p:txBody>
          <a:bodyPr wrap="square">
            <a:spAutoFit/>
          </a:bodyPr>
          <a:lstStyle/>
          <a:p>
            <a:pPr algn="ctr"/>
            <a:r>
              <a:rPr sz="1000" b="0">
                <a:solidFill>
                  <a:srgbClr val="22D3EE"/>
                </a:solidFill>
                <a:latin typeface="Segoe UI"/>
              </a:rPr>
              <a:t>Consolidated external-facing decision facade</a:t>
            </a:r>
          </a:p>
        </p:txBody>
      </p:sp>
      <p:sp>
        <p:nvSpPr>
          <p:cNvPr id="38" name="Rectangle 37"/>
          <p:cNvSpPr/>
          <p:nvPr/>
        </p:nvSpPr>
        <p:spPr>
          <a:xfrm>
            <a:off x="4315968" y="2670048"/>
            <a:ext cx="3794760" cy="1828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15968" y="2816352"/>
            <a:ext cx="3794760" cy="292608"/>
          </a:xfrm>
          <a:prstGeom prst="rect">
            <a:avLst/>
          </a:prstGeom>
          <a:noFill/>
        </p:spPr>
        <p:txBody>
          <a:bodyPr wrap="square">
            <a:spAutoFit/>
          </a:bodyPr>
          <a:lstStyle/>
          <a:p>
            <a:pPr algn="l"/>
            <a:r>
              <a:rPr sz="900" b="0">
                <a:solidFill>
                  <a:srgbClr val="CBD5E1"/>
                </a:solidFill>
                <a:latin typeface="Segoe UI"/>
              </a:rPr>
              <a:t>1  Validate request and authenticate caller</a:t>
            </a:r>
          </a:p>
        </p:txBody>
      </p:sp>
      <p:sp>
        <p:nvSpPr>
          <p:cNvPr id="40" name="TextBox 39"/>
          <p:cNvSpPr txBox="1"/>
          <p:nvPr/>
        </p:nvSpPr>
        <p:spPr>
          <a:xfrm>
            <a:off x="4315968" y="3145536"/>
            <a:ext cx="3794760" cy="292608"/>
          </a:xfrm>
          <a:prstGeom prst="rect">
            <a:avLst/>
          </a:prstGeom>
          <a:noFill/>
        </p:spPr>
        <p:txBody>
          <a:bodyPr wrap="square">
            <a:spAutoFit/>
          </a:bodyPr>
          <a:lstStyle/>
          <a:p>
            <a:pPr algn="l"/>
            <a:r>
              <a:rPr sz="900" b="0">
                <a:solidFill>
                  <a:srgbClr val="CBD5E1"/>
                </a:solidFill>
                <a:latin typeface="Segoe UI"/>
              </a:rPr>
              <a:t>2  Check Redis idempotency (request_id, 24h TTL)</a:t>
            </a:r>
          </a:p>
        </p:txBody>
      </p:sp>
      <p:sp>
        <p:nvSpPr>
          <p:cNvPr id="41" name="TextBox 40"/>
          <p:cNvSpPr txBox="1"/>
          <p:nvPr/>
        </p:nvSpPr>
        <p:spPr>
          <a:xfrm>
            <a:off x="4315968" y="3474720"/>
            <a:ext cx="3794760" cy="292608"/>
          </a:xfrm>
          <a:prstGeom prst="rect">
            <a:avLst/>
          </a:prstGeom>
          <a:noFill/>
        </p:spPr>
        <p:txBody>
          <a:bodyPr wrap="square">
            <a:spAutoFit/>
          </a:bodyPr>
          <a:lstStyle/>
          <a:p>
            <a:pPr algn="l"/>
            <a:r>
              <a:rPr sz="900" b="0">
                <a:solidFill>
                  <a:srgbClr val="CBD5E1"/>
                </a:solidFill>
                <a:latin typeface="Segoe UI"/>
              </a:rPr>
              <a:t>3  Run 4-layer hybrid scoring engine</a:t>
            </a:r>
          </a:p>
        </p:txBody>
      </p:sp>
      <p:sp>
        <p:nvSpPr>
          <p:cNvPr id="42" name="TextBox 41"/>
          <p:cNvSpPr txBox="1"/>
          <p:nvPr/>
        </p:nvSpPr>
        <p:spPr>
          <a:xfrm>
            <a:off x="4315968" y="3803904"/>
            <a:ext cx="3794760" cy="292608"/>
          </a:xfrm>
          <a:prstGeom prst="rect">
            <a:avLst/>
          </a:prstGeom>
          <a:noFill/>
        </p:spPr>
        <p:txBody>
          <a:bodyPr wrap="square">
            <a:spAutoFit/>
          </a:bodyPr>
          <a:lstStyle/>
          <a:p>
            <a:pPr algn="l"/>
            <a:r>
              <a:rPr sz="900" b="0">
                <a:solidFill>
                  <a:srgbClr val="CBD5E1"/>
                </a:solidFill>
                <a:latin typeface="Segoe UI"/>
              </a:rPr>
              <a:t>4  Route: BLOCK, REVIEW, or APPROVE</a:t>
            </a:r>
          </a:p>
        </p:txBody>
      </p:sp>
      <p:sp>
        <p:nvSpPr>
          <p:cNvPr id="43" name="TextBox 42"/>
          <p:cNvSpPr txBox="1"/>
          <p:nvPr/>
        </p:nvSpPr>
        <p:spPr>
          <a:xfrm>
            <a:off x="4315968" y="4133087"/>
            <a:ext cx="3794760" cy="292608"/>
          </a:xfrm>
          <a:prstGeom prst="rect">
            <a:avLst/>
          </a:prstGeom>
          <a:noFill/>
        </p:spPr>
        <p:txBody>
          <a:bodyPr wrap="square">
            <a:spAutoFit/>
          </a:bodyPr>
          <a:lstStyle/>
          <a:p>
            <a:pPr algn="l"/>
            <a:r>
              <a:rPr sz="900" b="0">
                <a:solidFill>
                  <a:srgbClr val="CBD5E1"/>
                </a:solidFill>
                <a:latin typeface="Segoe UI"/>
              </a:rPr>
              <a:t>5  Create case record for REVIEW and BLOCK</a:t>
            </a:r>
          </a:p>
        </p:txBody>
      </p:sp>
      <p:sp>
        <p:nvSpPr>
          <p:cNvPr id="44" name="TextBox 43"/>
          <p:cNvSpPr txBox="1"/>
          <p:nvPr/>
        </p:nvSpPr>
        <p:spPr>
          <a:xfrm>
            <a:off x="4315968" y="4462272"/>
            <a:ext cx="3794760" cy="292608"/>
          </a:xfrm>
          <a:prstGeom prst="rect">
            <a:avLst/>
          </a:prstGeom>
          <a:noFill/>
        </p:spPr>
        <p:txBody>
          <a:bodyPr wrap="square">
            <a:spAutoFit/>
          </a:bodyPr>
          <a:lstStyle/>
          <a:p>
            <a:pPr algn="l"/>
            <a:r>
              <a:rPr sz="900" b="0">
                <a:solidFill>
                  <a:srgbClr val="CBD5E1"/>
                </a:solidFill>
                <a:latin typeface="Segoe UI"/>
              </a:rPr>
              <a:t>6  Dispatch investigation brief (async Redpanda)</a:t>
            </a:r>
          </a:p>
        </p:txBody>
      </p:sp>
      <p:sp>
        <p:nvSpPr>
          <p:cNvPr id="45" name="TextBox 44"/>
          <p:cNvSpPr txBox="1"/>
          <p:nvPr/>
        </p:nvSpPr>
        <p:spPr>
          <a:xfrm>
            <a:off x="4315968" y="4791456"/>
            <a:ext cx="3794760" cy="292608"/>
          </a:xfrm>
          <a:prstGeom prst="rect">
            <a:avLst/>
          </a:prstGeom>
          <a:noFill/>
        </p:spPr>
        <p:txBody>
          <a:bodyPr wrap="square">
            <a:spAutoFit/>
          </a:bodyPr>
          <a:lstStyle/>
          <a:p>
            <a:pPr algn="l"/>
            <a:r>
              <a:rPr sz="900" b="0">
                <a:solidFill>
                  <a:srgbClr val="CBD5E1"/>
                </a:solidFill>
                <a:latin typeface="Segoe UI"/>
              </a:rPr>
              <a:t>7  Dispatch workflow event (async Redpanda)</a:t>
            </a:r>
          </a:p>
        </p:txBody>
      </p:sp>
      <p:sp>
        <p:nvSpPr>
          <p:cNvPr id="46" name="TextBox 45"/>
          <p:cNvSpPr txBox="1"/>
          <p:nvPr/>
        </p:nvSpPr>
        <p:spPr>
          <a:xfrm>
            <a:off x="4315968" y="5120640"/>
            <a:ext cx="3794760" cy="292608"/>
          </a:xfrm>
          <a:prstGeom prst="rect">
            <a:avLst/>
          </a:prstGeom>
          <a:noFill/>
        </p:spPr>
        <p:txBody>
          <a:bodyPr wrap="square">
            <a:spAutoFit/>
          </a:bodyPr>
          <a:lstStyle/>
          <a:p>
            <a:pPr algn="l"/>
            <a:r>
              <a:rPr sz="900" b="0">
                <a:solidFill>
                  <a:srgbClr val="CBD5E1"/>
                </a:solidFill>
                <a:latin typeface="Segoe UI"/>
              </a:rPr>
              <a:t>8  Return decision response package</a:t>
            </a:r>
          </a:p>
        </p:txBody>
      </p:sp>
      <p:sp>
        <p:nvSpPr>
          <p:cNvPr id="47" name="Rectangle 46"/>
          <p:cNvSpPr/>
          <p:nvPr/>
        </p:nvSpPr>
        <p:spPr>
          <a:xfrm>
            <a:off x="8549640" y="1188720"/>
            <a:ext cx="3337560" cy="53492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05088" y="1298448"/>
            <a:ext cx="3017520" cy="320040"/>
          </a:xfrm>
          <a:prstGeom prst="rect">
            <a:avLst/>
          </a:prstGeom>
          <a:noFill/>
        </p:spPr>
        <p:txBody>
          <a:bodyPr wrap="square">
            <a:spAutoFit/>
          </a:bodyPr>
          <a:lstStyle/>
          <a:p>
            <a:pPr algn="l"/>
            <a:r>
              <a:rPr sz="1100" b="1">
                <a:solidFill>
                  <a:srgbClr val="FFFFFF"/>
                </a:solidFill>
                <a:latin typeface="Segoe UI"/>
              </a:rPr>
              <a:t>Response Package</a:t>
            </a:r>
          </a:p>
        </p:txBody>
      </p:sp>
      <p:sp>
        <p:nvSpPr>
          <p:cNvPr id="49" name="TextBox 48"/>
          <p:cNvSpPr txBox="1"/>
          <p:nvPr/>
        </p:nvSpPr>
        <p:spPr>
          <a:xfrm>
            <a:off x="8705088" y="1645920"/>
            <a:ext cx="3017520" cy="256032"/>
          </a:xfrm>
          <a:prstGeom prst="rect">
            <a:avLst/>
          </a:prstGeom>
          <a:noFill/>
        </p:spPr>
        <p:txBody>
          <a:bodyPr wrap="square">
            <a:spAutoFit/>
          </a:bodyPr>
          <a:lstStyle/>
          <a:p>
            <a:pPr algn="l"/>
            <a:r>
              <a:rPr sz="900" b="0">
                <a:solidFill>
                  <a:srgbClr val="64748B"/>
                </a:solidFill>
                <a:latin typeface="Segoe UI"/>
              </a:rPr>
              <a:t>Returned on every call</a:t>
            </a:r>
          </a:p>
        </p:txBody>
      </p:sp>
      <p:sp>
        <p:nvSpPr>
          <p:cNvPr id="50" name="Rectangle 49"/>
          <p:cNvSpPr/>
          <p:nvPr/>
        </p:nvSpPr>
        <p:spPr>
          <a:xfrm>
            <a:off x="8705088" y="1993392"/>
            <a:ext cx="301752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05088" y="2103120"/>
            <a:ext cx="1920240" cy="201168"/>
          </a:xfrm>
          <a:prstGeom prst="rect">
            <a:avLst/>
          </a:prstGeom>
          <a:noFill/>
        </p:spPr>
        <p:txBody>
          <a:bodyPr wrap="square">
            <a:spAutoFit/>
          </a:bodyPr>
          <a:lstStyle/>
          <a:p>
            <a:pPr algn="l"/>
            <a:r>
              <a:rPr sz="800" b="1">
                <a:solidFill>
                  <a:srgbClr val="34D399"/>
                </a:solidFill>
                <a:latin typeface="Segoe UI"/>
              </a:rPr>
              <a:t>decision</a:t>
            </a:r>
          </a:p>
        </p:txBody>
      </p:sp>
      <p:sp>
        <p:nvSpPr>
          <p:cNvPr id="52" name="TextBox 51"/>
          <p:cNvSpPr txBox="1"/>
          <p:nvPr/>
        </p:nvSpPr>
        <p:spPr>
          <a:xfrm>
            <a:off x="8705088" y="2304288"/>
            <a:ext cx="3017520" cy="182880"/>
          </a:xfrm>
          <a:prstGeom prst="rect">
            <a:avLst/>
          </a:prstGeom>
          <a:noFill/>
        </p:spPr>
        <p:txBody>
          <a:bodyPr wrap="square">
            <a:spAutoFit/>
          </a:bodyPr>
          <a:lstStyle/>
          <a:p>
            <a:pPr algn="l"/>
            <a:r>
              <a:rPr sz="800" b="0">
                <a:solidFill>
                  <a:srgbClr val="CBD5E1"/>
                </a:solidFill>
                <a:latin typeface="Segoe UI"/>
              </a:rPr>
              <a:t>BLOCK / REVIEW / APPROVE</a:t>
            </a:r>
          </a:p>
        </p:txBody>
      </p:sp>
      <p:sp>
        <p:nvSpPr>
          <p:cNvPr id="53" name="TextBox 52"/>
          <p:cNvSpPr txBox="1"/>
          <p:nvPr/>
        </p:nvSpPr>
        <p:spPr>
          <a:xfrm>
            <a:off x="8705088" y="2532887"/>
            <a:ext cx="1920240" cy="201168"/>
          </a:xfrm>
          <a:prstGeom prst="rect">
            <a:avLst/>
          </a:prstGeom>
          <a:noFill/>
        </p:spPr>
        <p:txBody>
          <a:bodyPr wrap="square">
            <a:spAutoFit/>
          </a:bodyPr>
          <a:lstStyle/>
          <a:p>
            <a:pPr algn="l"/>
            <a:r>
              <a:rPr sz="800" b="1">
                <a:solidFill>
                  <a:srgbClr val="34D399"/>
                </a:solidFill>
                <a:latin typeface="Segoe UI"/>
              </a:rPr>
              <a:t>risk_score</a:t>
            </a:r>
          </a:p>
        </p:txBody>
      </p:sp>
      <p:sp>
        <p:nvSpPr>
          <p:cNvPr id="54" name="TextBox 53"/>
          <p:cNvSpPr txBox="1"/>
          <p:nvPr/>
        </p:nvSpPr>
        <p:spPr>
          <a:xfrm>
            <a:off x="8705088" y="2734056"/>
            <a:ext cx="3017520" cy="182880"/>
          </a:xfrm>
          <a:prstGeom prst="rect">
            <a:avLst/>
          </a:prstGeom>
          <a:noFill/>
        </p:spPr>
        <p:txBody>
          <a:bodyPr wrap="square">
            <a:spAutoFit/>
          </a:bodyPr>
          <a:lstStyle/>
          <a:p>
            <a:pPr algn="l"/>
            <a:r>
              <a:rPr sz="800" b="0">
                <a:solidFill>
                  <a:srgbClr val="CBD5E1"/>
                </a:solidFill>
                <a:latin typeface="Segoe UI"/>
              </a:rPr>
              <a:t>Final clipped score [0, 1]</a:t>
            </a:r>
          </a:p>
        </p:txBody>
      </p:sp>
      <p:sp>
        <p:nvSpPr>
          <p:cNvPr id="55" name="TextBox 54"/>
          <p:cNvSpPr txBox="1"/>
          <p:nvPr/>
        </p:nvSpPr>
        <p:spPr>
          <a:xfrm>
            <a:off x="8705088" y="2962656"/>
            <a:ext cx="1920240" cy="201168"/>
          </a:xfrm>
          <a:prstGeom prst="rect">
            <a:avLst/>
          </a:prstGeom>
          <a:noFill/>
        </p:spPr>
        <p:txBody>
          <a:bodyPr wrap="square">
            <a:spAutoFit/>
          </a:bodyPr>
          <a:lstStyle/>
          <a:p>
            <a:pPr algn="l"/>
            <a:r>
              <a:rPr sz="800" b="1">
                <a:solidFill>
                  <a:srgbClr val="3B82F6"/>
                </a:solidFill>
                <a:latin typeface="Segoe UI"/>
              </a:rPr>
              <a:t>model_score</a:t>
            </a:r>
          </a:p>
        </p:txBody>
      </p:sp>
      <p:sp>
        <p:nvSpPr>
          <p:cNvPr id="56" name="TextBox 55"/>
          <p:cNvSpPr txBox="1"/>
          <p:nvPr/>
        </p:nvSpPr>
        <p:spPr>
          <a:xfrm>
            <a:off x="8705088" y="3163824"/>
            <a:ext cx="3017520" cy="182880"/>
          </a:xfrm>
          <a:prstGeom prst="rect">
            <a:avLst/>
          </a:prstGeom>
          <a:noFill/>
        </p:spPr>
        <p:txBody>
          <a:bodyPr wrap="square">
            <a:spAutoFit/>
          </a:bodyPr>
          <a:lstStyle/>
          <a:p>
            <a:pPr algn="l"/>
            <a:r>
              <a:rPr sz="800" b="0">
                <a:solidFill>
                  <a:srgbClr val="CBD5E1"/>
                </a:solidFill>
                <a:latin typeface="Segoe UI"/>
              </a:rPr>
              <a:t>XGBoost base score</a:t>
            </a:r>
          </a:p>
        </p:txBody>
      </p:sp>
      <p:sp>
        <p:nvSpPr>
          <p:cNvPr id="57" name="TextBox 56"/>
          <p:cNvSpPr txBox="1"/>
          <p:nvPr/>
        </p:nvSpPr>
        <p:spPr>
          <a:xfrm>
            <a:off x="8705088" y="3392424"/>
            <a:ext cx="1920240" cy="201168"/>
          </a:xfrm>
          <a:prstGeom prst="rect">
            <a:avLst/>
          </a:prstGeom>
          <a:noFill/>
        </p:spPr>
        <p:txBody>
          <a:bodyPr wrap="square">
            <a:spAutoFit/>
          </a:bodyPr>
          <a:lstStyle/>
          <a:p>
            <a:pPr algn="l"/>
            <a:r>
              <a:rPr sz="800" b="1">
                <a:solidFill>
                  <a:srgbClr val="3B82F6"/>
                </a:solidFill>
                <a:latin typeface="Segoe UI"/>
              </a:rPr>
              <a:t>rule_score</a:t>
            </a:r>
          </a:p>
        </p:txBody>
      </p:sp>
      <p:sp>
        <p:nvSpPr>
          <p:cNvPr id="58" name="TextBox 57"/>
          <p:cNvSpPr txBox="1"/>
          <p:nvPr/>
        </p:nvSpPr>
        <p:spPr>
          <a:xfrm>
            <a:off x="8705088" y="3593592"/>
            <a:ext cx="3017520" cy="182880"/>
          </a:xfrm>
          <a:prstGeom prst="rect">
            <a:avLst/>
          </a:prstGeom>
          <a:noFill/>
        </p:spPr>
        <p:txBody>
          <a:bodyPr wrap="square">
            <a:spAutoFit/>
          </a:bodyPr>
          <a:lstStyle/>
          <a:p>
            <a:pPr algn="l"/>
            <a:r>
              <a:rPr sz="800" b="0">
                <a:solidFill>
                  <a:srgbClr val="CBD5E1"/>
                </a:solidFill>
                <a:latin typeface="Segoe UI"/>
              </a:rPr>
              <a:t>Rules layer output</a:t>
            </a:r>
          </a:p>
        </p:txBody>
      </p:sp>
      <p:sp>
        <p:nvSpPr>
          <p:cNvPr id="59" name="TextBox 58"/>
          <p:cNvSpPr txBox="1"/>
          <p:nvPr/>
        </p:nvSpPr>
        <p:spPr>
          <a:xfrm>
            <a:off x="8705088" y="3822191"/>
            <a:ext cx="1920240" cy="201168"/>
          </a:xfrm>
          <a:prstGeom prst="rect">
            <a:avLst/>
          </a:prstGeom>
          <a:noFill/>
        </p:spPr>
        <p:txBody>
          <a:bodyPr wrap="square">
            <a:spAutoFit/>
          </a:bodyPr>
          <a:lstStyle/>
          <a:p>
            <a:pPr algn="l"/>
            <a:r>
              <a:rPr sz="800" b="1">
                <a:solidFill>
                  <a:srgbClr val="22D3EE"/>
                </a:solidFill>
                <a:latin typeface="Segoe UI"/>
              </a:rPr>
              <a:t>rich_signal_boost</a:t>
            </a:r>
          </a:p>
        </p:txBody>
      </p:sp>
      <p:sp>
        <p:nvSpPr>
          <p:cNvPr id="60" name="TextBox 59"/>
          <p:cNvSpPr txBox="1"/>
          <p:nvPr/>
        </p:nvSpPr>
        <p:spPr>
          <a:xfrm>
            <a:off x="8705088" y="4023359"/>
            <a:ext cx="3017520" cy="182880"/>
          </a:xfrm>
          <a:prstGeom prst="rect">
            <a:avLst/>
          </a:prstGeom>
          <a:noFill/>
        </p:spPr>
        <p:txBody>
          <a:bodyPr wrap="square">
            <a:spAutoFit/>
          </a:bodyPr>
          <a:lstStyle/>
          <a:p>
            <a:pPr algn="l"/>
            <a:r>
              <a:rPr sz="800" b="0">
                <a:solidFill>
                  <a:srgbClr val="CBD5E1"/>
                </a:solidFill>
                <a:latin typeface="Segoe UI"/>
              </a:rPr>
              <a:t>Rich signal contribution</a:t>
            </a:r>
          </a:p>
        </p:txBody>
      </p:sp>
      <p:sp>
        <p:nvSpPr>
          <p:cNvPr id="61" name="TextBox 60"/>
          <p:cNvSpPr txBox="1"/>
          <p:nvPr/>
        </p:nvSpPr>
        <p:spPr>
          <a:xfrm>
            <a:off x="8705088" y="4251959"/>
            <a:ext cx="1920240" cy="201168"/>
          </a:xfrm>
          <a:prstGeom prst="rect">
            <a:avLst/>
          </a:prstGeom>
          <a:noFill/>
        </p:spPr>
        <p:txBody>
          <a:bodyPr wrap="square">
            <a:spAutoFit/>
          </a:bodyPr>
          <a:lstStyle/>
          <a:p>
            <a:pPr algn="l"/>
            <a:r>
              <a:rPr sz="800" b="1">
                <a:solidFill>
                  <a:srgbClr val="22D3EE"/>
                </a:solidFill>
                <a:latin typeface="Segoe UI"/>
              </a:rPr>
              <a:t>behavioural_boost</a:t>
            </a:r>
          </a:p>
        </p:txBody>
      </p:sp>
      <p:sp>
        <p:nvSpPr>
          <p:cNvPr id="62" name="TextBox 61"/>
          <p:cNvSpPr txBox="1"/>
          <p:nvPr/>
        </p:nvSpPr>
        <p:spPr>
          <a:xfrm>
            <a:off x="8705088" y="4453127"/>
            <a:ext cx="3017520" cy="182880"/>
          </a:xfrm>
          <a:prstGeom prst="rect">
            <a:avLst/>
          </a:prstGeom>
          <a:noFill/>
        </p:spPr>
        <p:txBody>
          <a:bodyPr wrap="square">
            <a:spAutoFit/>
          </a:bodyPr>
          <a:lstStyle/>
          <a:p>
            <a:pPr algn="l"/>
            <a:r>
              <a:rPr sz="800" b="0">
                <a:solidFill>
                  <a:srgbClr val="CBD5E1"/>
                </a:solidFill>
                <a:latin typeface="Segoe UI"/>
              </a:rPr>
              <a:t>Behavioural boost (cap 0.20)</a:t>
            </a:r>
          </a:p>
        </p:txBody>
      </p:sp>
      <p:sp>
        <p:nvSpPr>
          <p:cNvPr id="63" name="TextBox 62"/>
          <p:cNvSpPr txBox="1"/>
          <p:nvPr/>
        </p:nvSpPr>
        <p:spPr>
          <a:xfrm>
            <a:off x="8705088" y="4681727"/>
            <a:ext cx="1920240" cy="201168"/>
          </a:xfrm>
          <a:prstGeom prst="rect">
            <a:avLst/>
          </a:prstGeom>
          <a:noFill/>
        </p:spPr>
        <p:txBody>
          <a:bodyPr wrap="square">
            <a:spAutoFit/>
          </a:bodyPr>
          <a:lstStyle/>
          <a:p>
            <a:pPr algn="l"/>
            <a:r>
              <a:rPr sz="800" b="1">
                <a:solidFill>
                  <a:srgbClr val="22D3EE"/>
                </a:solidFill>
                <a:latin typeface="Segoe UI"/>
              </a:rPr>
              <a:t>graph_boost</a:t>
            </a:r>
          </a:p>
        </p:txBody>
      </p:sp>
      <p:sp>
        <p:nvSpPr>
          <p:cNvPr id="64" name="TextBox 63"/>
          <p:cNvSpPr txBox="1"/>
          <p:nvPr/>
        </p:nvSpPr>
        <p:spPr>
          <a:xfrm>
            <a:off x="8705088" y="4882895"/>
            <a:ext cx="3017520" cy="182880"/>
          </a:xfrm>
          <a:prstGeom prst="rect">
            <a:avLst/>
          </a:prstGeom>
          <a:noFill/>
        </p:spPr>
        <p:txBody>
          <a:bodyPr wrap="square">
            <a:spAutoFit/>
          </a:bodyPr>
          <a:lstStyle/>
          <a:p>
            <a:pPr algn="l"/>
            <a:r>
              <a:rPr sz="800" b="0">
                <a:solidFill>
                  <a:srgbClr val="CBD5E1"/>
                </a:solidFill>
                <a:latin typeface="Segoe UI"/>
              </a:rPr>
              <a:t>Graph layer (cap 0.15)</a:t>
            </a:r>
          </a:p>
        </p:txBody>
      </p:sp>
      <p:sp>
        <p:nvSpPr>
          <p:cNvPr id="65" name="TextBox 64"/>
          <p:cNvSpPr txBox="1"/>
          <p:nvPr/>
        </p:nvSpPr>
        <p:spPr>
          <a:xfrm>
            <a:off x="8705088" y="5111496"/>
            <a:ext cx="1920240" cy="201168"/>
          </a:xfrm>
          <a:prstGeom prst="rect">
            <a:avLst/>
          </a:prstGeom>
          <a:noFill/>
        </p:spPr>
        <p:txBody>
          <a:bodyPr wrap="square">
            <a:spAutoFit/>
          </a:bodyPr>
          <a:lstStyle/>
          <a:p>
            <a:pPr algn="l"/>
            <a:r>
              <a:rPr sz="800" b="1">
                <a:solidFill>
                  <a:srgbClr val="FBBF24"/>
                </a:solidFill>
                <a:latin typeface="Segoe UI"/>
              </a:rPr>
              <a:t>reason_codes</a:t>
            </a:r>
          </a:p>
        </p:txBody>
      </p:sp>
      <p:sp>
        <p:nvSpPr>
          <p:cNvPr id="66" name="TextBox 65"/>
          <p:cNvSpPr txBox="1"/>
          <p:nvPr/>
        </p:nvSpPr>
        <p:spPr>
          <a:xfrm>
            <a:off x="8705088" y="5312664"/>
            <a:ext cx="3017520" cy="182880"/>
          </a:xfrm>
          <a:prstGeom prst="rect">
            <a:avLst/>
          </a:prstGeom>
          <a:noFill/>
        </p:spPr>
        <p:txBody>
          <a:bodyPr wrap="square">
            <a:spAutoFit/>
          </a:bodyPr>
          <a:lstStyle/>
          <a:p>
            <a:pPr algn="l"/>
            <a:r>
              <a:rPr sz="800" b="0">
                <a:solidFill>
                  <a:srgbClr val="CBD5E1"/>
                </a:solidFill>
                <a:latin typeface="Segoe UI"/>
              </a:rPr>
              <a:t>Array of fired reason codes</a:t>
            </a:r>
          </a:p>
        </p:txBody>
      </p:sp>
      <p:sp>
        <p:nvSpPr>
          <p:cNvPr id="67" name="TextBox 66"/>
          <p:cNvSpPr txBox="1"/>
          <p:nvPr/>
        </p:nvSpPr>
        <p:spPr>
          <a:xfrm>
            <a:off x="8705088" y="5541264"/>
            <a:ext cx="1920240" cy="201168"/>
          </a:xfrm>
          <a:prstGeom prst="rect">
            <a:avLst/>
          </a:prstGeom>
          <a:noFill/>
        </p:spPr>
        <p:txBody>
          <a:bodyPr wrap="square">
            <a:spAutoFit/>
          </a:bodyPr>
          <a:lstStyle/>
          <a:p>
            <a:pPr algn="l"/>
            <a:r>
              <a:rPr sz="800" b="1">
                <a:solidFill>
                  <a:srgbClr val="34D399"/>
                </a:solidFill>
                <a:latin typeface="Segoe UI"/>
              </a:rPr>
              <a:t>case_id</a:t>
            </a:r>
          </a:p>
        </p:txBody>
      </p:sp>
      <p:sp>
        <p:nvSpPr>
          <p:cNvPr id="68" name="TextBox 67"/>
          <p:cNvSpPr txBox="1"/>
          <p:nvPr/>
        </p:nvSpPr>
        <p:spPr>
          <a:xfrm>
            <a:off x="8705088" y="5742431"/>
            <a:ext cx="3017520" cy="182880"/>
          </a:xfrm>
          <a:prstGeom prst="rect">
            <a:avLst/>
          </a:prstGeom>
          <a:noFill/>
        </p:spPr>
        <p:txBody>
          <a:bodyPr wrap="square">
            <a:spAutoFit/>
          </a:bodyPr>
          <a:lstStyle/>
          <a:p>
            <a:pPr algn="l"/>
            <a:r>
              <a:rPr sz="800" b="0">
                <a:solidFill>
                  <a:srgbClr val="CBD5E1"/>
                </a:solidFill>
                <a:latin typeface="Segoe UI"/>
              </a:rPr>
              <a:t>Assigned case UUID</a:t>
            </a:r>
          </a:p>
        </p:txBody>
      </p:sp>
      <p:sp>
        <p:nvSpPr>
          <p:cNvPr id="69" name="TextBox 68"/>
          <p:cNvSpPr txBox="1"/>
          <p:nvPr/>
        </p:nvSpPr>
        <p:spPr>
          <a:xfrm>
            <a:off x="8705088" y="5971031"/>
            <a:ext cx="1920240" cy="201168"/>
          </a:xfrm>
          <a:prstGeom prst="rect">
            <a:avLst/>
          </a:prstGeom>
          <a:noFill/>
        </p:spPr>
        <p:txBody>
          <a:bodyPr wrap="square">
            <a:spAutoFit/>
          </a:bodyPr>
          <a:lstStyle/>
          <a:p>
            <a:pPr algn="l"/>
            <a:r>
              <a:rPr sz="800" b="1">
                <a:solidFill>
                  <a:srgbClr val="3B82F6"/>
                </a:solidFill>
                <a:latin typeface="Segoe UI"/>
              </a:rPr>
              <a:t>recommended_next_action</a:t>
            </a:r>
          </a:p>
        </p:txBody>
      </p:sp>
      <p:sp>
        <p:nvSpPr>
          <p:cNvPr id="70" name="TextBox 69"/>
          <p:cNvSpPr txBox="1"/>
          <p:nvPr/>
        </p:nvSpPr>
        <p:spPr>
          <a:xfrm>
            <a:off x="8705088" y="6172199"/>
            <a:ext cx="3017520" cy="182880"/>
          </a:xfrm>
          <a:prstGeom prst="rect">
            <a:avLst/>
          </a:prstGeom>
          <a:noFill/>
        </p:spPr>
        <p:txBody>
          <a:bodyPr wrap="square">
            <a:spAutoFit/>
          </a:bodyPr>
          <a:lstStyle/>
          <a:p>
            <a:pPr algn="l"/>
            <a:r>
              <a:rPr sz="800" b="0">
                <a:solidFill>
                  <a:srgbClr val="CBD5E1"/>
                </a:solidFill>
                <a:latin typeface="Segoe UI"/>
              </a:rPr>
              <a:t>Suggested analyst 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DEPLOYMENT STRATEGY</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Protect product quality before forcing deployment onto a fragile free tier.</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5440680" cy="53492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5074920" cy="347472"/>
          </a:xfrm>
          <a:prstGeom prst="rect">
            <a:avLst/>
          </a:prstGeom>
          <a:noFill/>
        </p:spPr>
        <p:txBody>
          <a:bodyPr wrap="square">
            <a:spAutoFit/>
          </a:bodyPr>
          <a:lstStyle/>
          <a:p>
            <a:pPr algn="l"/>
            <a:r>
              <a:rPr sz="1400" b="1">
                <a:solidFill>
                  <a:srgbClr val="34D399"/>
                </a:solidFill>
                <a:latin typeface="Segoe UI"/>
              </a:rPr>
              <a:t>Current Inspection Package</a:t>
            </a:r>
          </a:p>
        </p:txBody>
      </p:sp>
      <p:sp>
        <p:nvSpPr>
          <p:cNvPr id="8" name="Rectangle 7"/>
          <p:cNvSpPr/>
          <p:nvPr/>
        </p:nvSpPr>
        <p:spPr>
          <a:xfrm>
            <a:off x="502920" y="1737360"/>
            <a:ext cx="507492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74519"/>
            <a:ext cx="5074920" cy="438912"/>
          </a:xfrm>
          <a:prstGeom prst="rect">
            <a:avLst/>
          </a:prstGeom>
          <a:noFill/>
        </p:spPr>
        <p:txBody>
          <a:bodyPr wrap="square">
            <a:spAutoFit/>
          </a:bodyPr>
          <a:lstStyle/>
          <a:p>
            <a:pPr algn="l"/>
            <a:r>
              <a:rPr sz="1000" b="0">
                <a:solidFill>
                  <a:srgbClr val="CBD5E1"/>
                </a:solidFill>
                <a:latin typeface="Segoe UI"/>
              </a:rPr>
              <a:t>  Production-style local runtime on Docker Compose.</a:t>
            </a:r>
          </a:p>
        </p:txBody>
      </p:sp>
      <p:sp>
        <p:nvSpPr>
          <p:cNvPr id="10" name="TextBox 9"/>
          <p:cNvSpPr txBox="1"/>
          <p:nvPr/>
        </p:nvSpPr>
        <p:spPr>
          <a:xfrm>
            <a:off x="502920" y="2386584"/>
            <a:ext cx="5074920" cy="438912"/>
          </a:xfrm>
          <a:prstGeom prst="rect">
            <a:avLst/>
          </a:prstGeom>
          <a:noFill/>
        </p:spPr>
        <p:txBody>
          <a:bodyPr wrap="square">
            <a:spAutoFit/>
          </a:bodyPr>
          <a:lstStyle/>
          <a:p>
            <a:pPr algn="l"/>
            <a:r>
              <a:rPr sz="1000" b="0">
                <a:solidFill>
                  <a:srgbClr val="CBD5E1"/>
                </a:solidFill>
                <a:latin typeface="Segoe UI"/>
              </a:rPr>
              <a:t>  PostgreSQL, Redpanda, Redis, n8n, Ollama, FastAPI, Next.js.</a:t>
            </a:r>
          </a:p>
        </p:txBody>
      </p:sp>
      <p:sp>
        <p:nvSpPr>
          <p:cNvPr id="11" name="TextBox 10"/>
          <p:cNvSpPr txBox="1"/>
          <p:nvPr/>
        </p:nvSpPr>
        <p:spPr>
          <a:xfrm>
            <a:off x="502920" y="2898648"/>
            <a:ext cx="5074920" cy="438912"/>
          </a:xfrm>
          <a:prstGeom prst="rect">
            <a:avLst/>
          </a:prstGeom>
          <a:noFill/>
        </p:spPr>
        <p:txBody>
          <a:bodyPr wrap="square">
            <a:spAutoFit/>
          </a:bodyPr>
          <a:lstStyle/>
          <a:p>
            <a:pPr algn="l"/>
            <a:r>
              <a:rPr sz="1000" b="0">
                <a:solidFill>
                  <a:srgbClr val="CBD5E1"/>
                </a:solidFill>
                <a:latin typeface="Segoe UI"/>
              </a:rPr>
              <a:t>  All 9 components start with a documented startup sequence.</a:t>
            </a:r>
          </a:p>
        </p:txBody>
      </p:sp>
      <p:sp>
        <p:nvSpPr>
          <p:cNvPr id="12" name="TextBox 11"/>
          <p:cNvSpPr txBox="1"/>
          <p:nvPr/>
        </p:nvSpPr>
        <p:spPr>
          <a:xfrm>
            <a:off x="502920" y="3410712"/>
            <a:ext cx="5074920" cy="438912"/>
          </a:xfrm>
          <a:prstGeom prst="rect">
            <a:avLst/>
          </a:prstGeom>
          <a:noFill/>
        </p:spPr>
        <p:txBody>
          <a:bodyPr wrap="square">
            <a:spAutoFit/>
          </a:bodyPr>
          <a:lstStyle/>
          <a:p>
            <a:pPr algn="l"/>
            <a:r>
              <a:rPr sz="1000" b="0">
                <a:solidFill>
                  <a:srgbClr val="CBD5E1"/>
                </a:solidFill>
                <a:latin typeface="Segoe UI"/>
              </a:rPr>
              <a:t>  41/41 validation checks and 10M benchmark verified.</a:t>
            </a:r>
          </a:p>
        </p:txBody>
      </p:sp>
      <p:sp>
        <p:nvSpPr>
          <p:cNvPr id="13" name="TextBox 12"/>
          <p:cNvSpPr txBox="1"/>
          <p:nvPr/>
        </p:nvSpPr>
        <p:spPr>
          <a:xfrm>
            <a:off x="502920" y="3922776"/>
            <a:ext cx="5074920" cy="438912"/>
          </a:xfrm>
          <a:prstGeom prst="rect">
            <a:avLst/>
          </a:prstGeom>
          <a:noFill/>
        </p:spPr>
        <p:txBody>
          <a:bodyPr wrap="square">
            <a:spAutoFit/>
          </a:bodyPr>
          <a:lstStyle/>
          <a:p>
            <a:pPr algn="l"/>
            <a:r>
              <a:rPr sz="1000" b="0">
                <a:solidFill>
                  <a:srgbClr val="CBD5E1"/>
                </a:solidFill>
                <a:latin typeface="Segoe UI"/>
              </a:rPr>
              <a:t>  Reviewer access: http://localhost:3000</a:t>
            </a:r>
          </a:p>
        </p:txBody>
      </p:sp>
      <p:sp>
        <p:nvSpPr>
          <p:cNvPr id="14" name="TextBox 13"/>
          <p:cNvSpPr txBox="1"/>
          <p:nvPr/>
        </p:nvSpPr>
        <p:spPr>
          <a:xfrm>
            <a:off x="502920" y="4434840"/>
            <a:ext cx="5074920" cy="438912"/>
          </a:xfrm>
          <a:prstGeom prst="rect">
            <a:avLst/>
          </a:prstGeom>
          <a:noFill/>
        </p:spPr>
        <p:txBody>
          <a:bodyPr wrap="square">
            <a:spAutoFit/>
          </a:bodyPr>
          <a:lstStyle/>
          <a:p>
            <a:pPr algn="l"/>
            <a:r>
              <a:rPr sz="1000" b="0">
                <a:solidFill>
                  <a:srgbClr val="CBD5E1"/>
                </a:solidFill>
                <a:latin typeface="Segoe UI"/>
              </a:rPr>
              <a:t>  API documentation: http://localhost:8000/docs</a:t>
            </a:r>
          </a:p>
        </p:txBody>
      </p:sp>
      <p:sp>
        <p:nvSpPr>
          <p:cNvPr id="15" name="TextBox 14"/>
          <p:cNvSpPr txBox="1"/>
          <p:nvPr/>
        </p:nvSpPr>
        <p:spPr>
          <a:xfrm>
            <a:off x="502920" y="4946904"/>
            <a:ext cx="5074920" cy="438912"/>
          </a:xfrm>
          <a:prstGeom prst="rect">
            <a:avLst/>
          </a:prstGeom>
          <a:noFill/>
        </p:spPr>
        <p:txBody>
          <a:bodyPr wrap="square">
            <a:spAutoFit/>
          </a:bodyPr>
          <a:lstStyle/>
          <a:p>
            <a:pPr algn="l"/>
            <a:r>
              <a:rPr sz="1000" b="0">
                <a:solidFill>
                  <a:srgbClr val="CBD5E1"/>
                </a:solidFill>
                <a:latin typeface="Segoe UI"/>
              </a:rPr>
              <a:t>  External video walkthrough for async review.</a:t>
            </a:r>
          </a:p>
        </p:txBody>
      </p:sp>
      <p:sp>
        <p:nvSpPr>
          <p:cNvPr id="16" name="TextBox 15"/>
          <p:cNvSpPr txBox="1"/>
          <p:nvPr/>
        </p:nvSpPr>
        <p:spPr>
          <a:xfrm>
            <a:off x="502920" y="5458968"/>
            <a:ext cx="5074920" cy="438912"/>
          </a:xfrm>
          <a:prstGeom prst="rect">
            <a:avLst/>
          </a:prstGeom>
          <a:noFill/>
        </p:spPr>
        <p:txBody>
          <a:bodyPr wrap="square">
            <a:spAutoFit/>
          </a:bodyPr>
          <a:lstStyle/>
          <a:p>
            <a:pPr algn="l"/>
            <a:r>
              <a:rPr sz="1000" b="0">
                <a:solidFill>
                  <a:srgbClr val="CBD5E1"/>
                </a:solidFill>
                <a:latin typeface="Segoe UI"/>
              </a:rPr>
              <a:t>  Zero infrastructure cost for the review package.</a:t>
            </a:r>
          </a:p>
        </p:txBody>
      </p:sp>
      <p:sp>
        <p:nvSpPr>
          <p:cNvPr id="17" name="Rectangle 16"/>
          <p:cNvSpPr/>
          <p:nvPr/>
        </p:nvSpPr>
        <p:spPr>
          <a:xfrm>
            <a:off x="5989320" y="1188720"/>
            <a:ext cx="5943600" cy="53492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298448"/>
            <a:ext cx="5577840" cy="347472"/>
          </a:xfrm>
          <a:prstGeom prst="rect">
            <a:avLst/>
          </a:prstGeom>
          <a:noFill/>
        </p:spPr>
        <p:txBody>
          <a:bodyPr wrap="square">
            <a:spAutoFit/>
          </a:bodyPr>
          <a:lstStyle/>
          <a:p>
            <a:pPr algn="l"/>
            <a:r>
              <a:rPr sz="1400" b="1">
                <a:solidFill>
                  <a:srgbClr val="FBBF24"/>
                </a:solidFill>
                <a:latin typeface="Segoe UI"/>
              </a:rPr>
              <a:t>Cloud Scale Package</a:t>
            </a:r>
          </a:p>
        </p:txBody>
      </p:sp>
      <p:sp>
        <p:nvSpPr>
          <p:cNvPr id="19" name="Rectangle 18"/>
          <p:cNvSpPr/>
          <p:nvPr/>
        </p:nvSpPr>
        <p:spPr>
          <a:xfrm>
            <a:off x="6172200" y="1737360"/>
            <a:ext cx="5577840" cy="1828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874519"/>
            <a:ext cx="5577840" cy="438912"/>
          </a:xfrm>
          <a:prstGeom prst="rect">
            <a:avLst/>
          </a:prstGeom>
          <a:noFill/>
        </p:spPr>
        <p:txBody>
          <a:bodyPr wrap="square">
            <a:spAutoFit/>
          </a:bodyPr>
          <a:lstStyle/>
          <a:p>
            <a:pPr algn="l"/>
            <a:r>
              <a:rPr sz="1000" b="0">
                <a:solidFill>
                  <a:srgbClr val="CBD5E1"/>
                </a:solidFill>
                <a:latin typeface="Segoe UI"/>
              </a:rPr>
              <a:t>  Authentication and RBAC (design documented in docs/AUTH_RBAC_DESIGN.md).</a:t>
            </a:r>
          </a:p>
        </p:txBody>
      </p:sp>
      <p:sp>
        <p:nvSpPr>
          <p:cNvPr id="21" name="TextBox 20"/>
          <p:cNvSpPr txBox="1"/>
          <p:nvPr/>
        </p:nvSpPr>
        <p:spPr>
          <a:xfrm>
            <a:off x="6172200" y="2386584"/>
            <a:ext cx="5577840" cy="438912"/>
          </a:xfrm>
          <a:prstGeom prst="rect">
            <a:avLst/>
          </a:prstGeom>
          <a:noFill/>
        </p:spPr>
        <p:txBody>
          <a:bodyPr wrap="square">
            <a:spAutoFit/>
          </a:bodyPr>
          <a:lstStyle/>
          <a:p>
            <a:pPr algn="l"/>
            <a:r>
              <a:rPr sz="1000" b="0">
                <a:solidFill>
                  <a:srgbClr val="CBD5E1"/>
                </a:solidFill>
                <a:latin typeface="Segoe UI"/>
              </a:rPr>
              <a:t>  TLS, ingress, and managed certificates.</a:t>
            </a:r>
          </a:p>
        </p:txBody>
      </p:sp>
      <p:sp>
        <p:nvSpPr>
          <p:cNvPr id="22" name="TextBox 21"/>
          <p:cNvSpPr txBox="1"/>
          <p:nvPr/>
        </p:nvSpPr>
        <p:spPr>
          <a:xfrm>
            <a:off x="6172200" y="2898648"/>
            <a:ext cx="5577840" cy="438912"/>
          </a:xfrm>
          <a:prstGeom prst="rect">
            <a:avLst/>
          </a:prstGeom>
          <a:noFill/>
        </p:spPr>
        <p:txBody>
          <a:bodyPr wrap="square">
            <a:spAutoFit/>
          </a:bodyPr>
          <a:lstStyle/>
          <a:p>
            <a:pPr algn="l"/>
            <a:r>
              <a:rPr sz="1000" b="0">
                <a:solidFill>
                  <a:srgbClr val="CBD5E1"/>
                </a:solidFill>
                <a:latin typeface="Segoe UI"/>
              </a:rPr>
              <a:t>  Cloud deployment: AWS, GCP, or Azure (option matrix in docs/DEPLOYMENT_STRATEGY.md).</a:t>
            </a:r>
          </a:p>
        </p:txBody>
      </p:sp>
      <p:sp>
        <p:nvSpPr>
          <p:cNvPr id="23" name="TextBox 22"/>
          <p:cNvSpPr txBox="1"/>
          <p:nvPr/>
        </p:nvSpPr>
        <p:spPr>
          <a:xfrm>
            <a:off x="6172200" y="3410712"/>
            <a:ext cx="5577840" cy="438912"/>
          </a:xfrm>
          <a:prstGeom prst="rect">
            <a:avLst/>
          </a:prstGeom>
          <a:noFill/>
        </p:spPr>
        <p:txBody>
          <a:bodyPr wrap="square">
            <a:spAutoFit/>
          </a:bodyPr>
          <a:lstStyle/>
          <a:p>
            <a:pPr algn="l"/>
            <a:r>
              <a:rPr sz="1000" b="0">
                <a:solidFill>
                  <a:srgbClr val="CBD5E1"/>
                </a:solidFill>
                <a:latin typeface="Segoe UI"/>
              </a:rPr>
              <a:t>  Managed PostgreSQL, Redis, message broker, and object storage.</a:t>
            </a:r>
          </a:p>
        </p:txBody>
      </p:sp>
      <p:sp>
        <p:nvSpPr>
          <p:cNvPr id="24" name="TextBox 23"/>
          <p:cNvSpPr txBox="1"/>
          <p:nvPr/>
        </p:nvSpPr>
        <p:spPr>
          <a:xfrm>
            <a:off x="6172200" y="3922776"/>
            <a:ext cx="5577840" cy="438912"/>
          </a:xfrm>
          <a:prstGeom prst="rect">
            <a:avLst/>
          </a:prstGeom>
          <a:noFill/>
        </p:spPr>
        <p:txBody>
          <a:bodyPr wrap="square">
            <a:spAutoFit/>
          </a:bodyPr>
          <a:lstStyle/>
          <a:p>
            <a:pPr algn="l"/>
            <a:r>
              <a:rPr sz="1000" b="0">
                <a:solidFill>
                  <a:srgbClr val="CBD5E1"/>
                </a:solidFill>
                <a:latin typeface="Segoe UI"/>
              </a:rPr>
              <a:t>  Horizontally scaled stateless API workers behind a load balancer.</a:t>
            </a:r>
          </a:p>
        </p:txBody>
      </p:sp>
      <p:sp>
        <p:nvSpPr>
          <p:cNvPr id="25" name="TextBox 24"/>
          <p:cNvSpPr txBox="1"/>
          <p:nvPr/>
        </p:nvSpPr>
        <p:spPr>
          <a:xfrm>
            <a:off x="6172200" y="4434840"/>
            <a:ext cx="5577840" cy="438912"/>
          </a:xfrm>
          <a:prstGeom prst="rect">
            <a:avLst/>
          </a:prstGeom>
          <a:noFill/>
        </p:spPr>
        <p:txBody>
          <a:bodyPr wrap="square">
            <a:spAutoFit/>
          </a:bodyPr>
          <a:lstStyle/>
          <a:p>
            <a:pPr algn="l"/>
            <a:r>
              <a:rPr sz="1000" b="0">
                <a:solidFill>
                  <a:srgbClr val="CBD5E1"/>
                </a:solidFill>
                <a:latin typeface="Segoe UI"/>
              </a:rPr>
              <a:t>  Multi-broker Redpanda topology for production throughput.</a:t>
            </a:r>
          </a:p>
        </p:txBody>
      </p:sp>
      <p:sp>
        <p:nvSpPr>
          <p:cNvPr id="26" name="TextBox 25"/>
          <p:cNvSpPr txBox="1"/>
          <p:nvPr/>
        </p:nvSpPr>
        <p:spPr>
          <a:xfrm>
            <a:off x="6172200" y="4946904"/>
            <a:ext cx="5577840" cy="438912"/>
          </a:xfrm>
          <a:prstGeom prst="rect">
            <a:avLst/>
          </a:prstGeom>
          <a:noFill/>
        </p:spPr>
        <p:txBody>
          <a:bodyPr wrap="square">
            <a:spAutoFit/>
          </a:bodyPr>
          <a:lstStyle/>
          <a:p>
            <a:pPr algn="l"/>
            <a:r>
              <a:rPr sz="1000" b="0">
                <a:solidFill>
                  <a:srgbClr val="CBD5E1"/>
                </a:solidFill>
                <a:latin typeface="Segoe UI"/>
              </a:rPr>
              <a:t>  Institution-specific scoring calibration and SLO alerting.</a:t>
            </a:r>
          </a:p>
        </p:txBody>
      </p:sp>
      <p:sp>
        <p:nvSpPr>
          <p:cNvPr id="27" name="TextBox 26"/>
          <p:cNvSpPr txBox="1"/>
          <p:nvPr/>
        </p:nvSpPr>
        <p:spPr>
          <a:xfrm>
            <a:off x="6172200" y="5458968"/>
            <a:ext cx="5577840" cy="438912"/>
          </a:xfrm>
          <a:prstGeom prst="rect">
            <a:avLst/>
          </a:prstGeom>
          <a:noFill/>
        </p:spPr>
        <p:txBody>
          <a:bodyPr wrap="square">
            <a:spAutoFit/>
          </a:bodyPr>
          <a:lstStyle/>
          <a:p>
            <a:pPr algn="l"/>
            <a:r>
              <a:rPr sz="1000" b="0">
                <a:solidFill>
                  <a:srgbClr val="CBD5E1"/>
                </a:solidFill>
                <a:latin typeface="Segoe UI"/>
              </a:rPr>
              <a:t>  Governance controls: AGENT_VERSION lineage, audit log integrity, drift monitoring.</a:t>
            </a:r>
          </a:p>
        </p:txBody>
      </p:sp>
      <p:sp>
        <p:nvSpPr>
          <p:cNvPr id="28" name="TextBox 27"/>
          <p:cNvSpPr txBox="1"/>
          <p:nvPr/>
        </p:nvSpPr>
        <p:spPr>
          <a:xfrm>
            <a:off x="320040" y="6510528"/>
            <a:ext cx="11548872" cy="256032"/>
          </a:xfrm>
          <a:prstGeom prst="rect">
            <a:avLst/>
          </a:prstGeom>
          <a:noFill/>
        </p:spPr>
        <p:txBody>
          <a:bodyPr wrap="square">
            <a:spAutoFit/>
          </a:bodyPr>
          <a:lstStyle/>
          <a:p>
            <a:pPr algn="ctr"/>
            <a:r>
              <a:rPr sz="900" b="0">
                <a:solidFill>
                  <a:srgbClr val="64748B"/>
                </a:solidFill>
                <a:latin typeface="Segoe UI"/>
              </a:rPr>
              <a:t>Cost categories: managed database, broker, cache, storage, observability, secrets, TLS, LLM inference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274320"/>
          </a:xfrm>
          <a:prstGeom prst="rect">
            <a:avLst/>
          </a:prstGeom>
          <a:noFill/>
        </p:spPr>
        <p:txBody>
          <a:bodyPr wrap="square">
            <a:spAutoFit/>
          </a:bodyPr>
          <a:lstStyle/>
          <a:p>
            <a:pPr algn="l"/>
            <a:r>
              <a:rPr sz="900" b="1">
                <a:solidFill>
                  <a:srgbClr val="64748B"/>
                </a:solidFill>
                <a:latin typeface="Segoe UI"/>
              </a:rPr>
              <a:t>EXECUTIVE CLOSE</a:t>
            </a:r>
          </a:p>
        </p:txBody>
      </p:sp>
      <p:sp>
        <p:nvSpPr>
          <p:cNvPr id="4" name="TextBox 3"/>
          <p:cNvSpPr txBox="1"/>
          <p:nvPr/>
        </p:nvSpPr>
        <p:spPr>
          <a:xfrm>
            <a:off x="320040" y="384048"/>
            <a:ext cx="11548872" cy="566928"/>
          </a:xfrm>
          <a:prstGeom prst="rect">
            <a:avLst/>
          </a:prstGeom>
          <a:noFill/>
        </p:spPr>
        <p:txBody>
          <a:bodyPr wrap="square">
            <a:spAutoFit/>
          </a:bodyPr>
          <a:lstStyle/>
          <a:p>
            <a:pPr algn="l"/>
            <a:r>
              <a:rPr sz="2800" b="1">
                <a:solidFill>
                  <a:srgbClr val="FFFFFF"/>
                </a:solidFill>
                <a:latin typeface="Segoe UI"/>
              </a:rPr>
              <a:t>What reviewers should take away.</a:t>
            </a:r>
          </a:p>
        </p:txBody>
      </p:sp>
      <p:sp>
        <p:nvSpPr>
          <p:cNvPr id="5" name="Rectangle 4"/>
          <p:cNvSpPr/>
          <p:nvPr/>
        </p:nvSpPr>
        <p:spPr>
          <a:xfrm>
            <a:off x="320040" y="1051560"/>
            <a:ext cx="1154887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61872"/>
            <a:ext cx="11548872" cy="7589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61872"/>
            <a:ext cx="54864" cy="7589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16736"/>
            <a:ext cx="3200400" cy="274320"/>
          </a:xfrm>
          <a:prstGeom prst="rect">
            <a:avLst/>
          </a:prstGeom>
          <a:noFill/>
        </p:spPr>
        <p:txBody>
          <a:bodyPr wrap="square">
            <a:spAutoFit/>
          </a:bodyPr>
          <a:lstStyle/>
          <a:p>
            <a:pPr algn="l"/>
            <a:r>
              <a:rPr sz="1100" b="1">
                <a:solidFill>
                  <a:srgbClr val="FFFFFF"/>
                </a:solidFill>
                <a:latin typeface="Segoe UI"/>
              </a:rPr>
              <a:t>End-to-end fraud intelligence workflow</a:t>
            </a:r>
          </a:p>
        </p:txBody>
      </p:sp>
      <p:sp>
        <p:nvSpPr>
          <p:cNvPr id="9" name="TextBox 8"/>
          <p:cNvSpPr txBox="1"/>
          <p:nvPr/>
        </p:nvSpPr>
        <p:spPr>
          <a:xfrm>
            <a:off x="3886200" y="1325880"/>
            <a:ext cx="7818120" cy="566928"/>
          </a:xfrm>
          <a:prstGeom prst="rect">
            <a:avLst/>
          </a:prstGeom>
          <a:noFill/>
        </p:spPr>
        <p:txBody>
          <a:bodyPr wrap="square">
            <a:spAutoFit/>
          </a:bodyPr>
          <a:lstStyle/>
          <a:p>
            <a:pPr algn="l"/>
            <a:r>
              <a:rPr sz="900" b="0">
                <a:solidFill>
                  <a:srgbClr val="CBD5E1"/>
                </a:solidFill>
                <a:latin typeface="Segoe UI"/>
              </a:rPr>
              <a:t>Scoring, triage, evidence review, AI investigation, verdict capture, audit trail, reliability, and portfolio scan. All nine stages implemented, connected, and inspectable.</a:t>
            </a:r>
          </a:p>
        </p:txBody>
      </p:sp>
      <p:sp>
        <p:nvSpPr>
          <p:cNvPr id="10" name="Rectangle 9"/>
          <p:cNvSpPr/>
          <p:nvPr/>
        </p:nvSpPr>
        <p:spPr>
          <a:xfrm>
            <a:off x="320040" y="2130552"/>
            <a:ext cx="11548872" cy="7589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30552"/>
            <a:ext cx="54864" cy="75895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185416"/>
            <a:ext cx="3200400" cy="274320"/>
          </a:xfrm>
          <a:prstGeom prst="rect">
            <a:avLst/>
          </a:prstGeom>
          <a:noFill/>
        </p:spPr>
        <p:txBody>
          <a:bodyPr wrap="square">
            <a:spAutoFit/>
          </a:bodyPr>
          <a:lstStyle/>
          <a:p>
            <a:pPr algn="l"/>
            <a:r>
              <a:rPr sz="1100" b="1">
                <a:solidFill>
                  <a:srgbClr val="FFFFFF"/>
                </a:solidFill>
                <a:latin typeface="Segoe UI"/>
              </a:rPr>
              <a:t>Hybrid model and rules architecture</a:t>
            </a:r>
          </a:p>
        </p:txBody>
      </p:sp>
      <p:sp>
        <p:nvSpPr>
          <p:cNvPr id="13" name="TextBox 12"/>
          <p:cNvSpPr txBox="1"/>
          <p:nvPr/>
        </p:nvSpPr>
        <p:spPr>
          <a:xfrm>
            <a:off x="3886200" y="2194560"/>
            <a:ext cx="7818120" cy="566928"/>
          </a:xfrm>
          <a:prstGeom prst="rect">
            <a:avLst/>
          </a:prstGeom>
          <a:noFill/>
        </p:spPr>
        <p:txBody>
          <a:bodyPr wrap="square">
            <a:spAutoFit/>
          </a:bodyPr>
          <a:lstStyle/>
          <a:p>
            <a:pPr algn="l"/>
            <a:r>
              <a:rPr sz="900" b="0">
                <a:solidFill>
                  <a:srgbClr val="CBD5E1"/>
                </a:solidFill>
                <a:latin typeface="Segoe UI"/>
              </a:rPr>
              <a:t>XGBoost base score with rule engine, rich signal boost, behavioural deviation layer, and graph topology boost. Each layer emits distinct reason codes visible in the case dossier.</a:t>
            </a:r>
          </a:p>
        </p:txBody>
      </p:sp>
      <p:sp>
        <p:nvSpPr>
          <p:cNvPr id="14" name="Rectangle 13"/>
          <p:cNvSpPr/>
          <p:nvPr/>
        </p:nvSpPr>
        <p:spPr>
          <a:xfrm>
            <a:off x="320040" y="2999232"/>
            <a:ext cx="11548872" cy="7589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999232"/>
            <a:ext cx="54864" cy="7589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054096"/>
            <a:ext cx="3200400" cy="274320"/>
          </a:xfrm>
          <a:prstGeom prst="rect">
            <a:avLst/>
          </a:prstGeom>
          <a:noFill/>
        </p:spPr>
        <p:txBody>
          <a:bodyPr wrap="square">
            <a:spAutoFit/>
          </a:bodyPr>
          <a:lstStyle/>
          <a:p>
            <a:pPr algn="l"/>
            <a:r>
              <a:rPr sz="1100" b="1">
                <a:solidFill>
                  <a:srgbClr val="FFFFFF"/>
                </a:solidFill>
                <a:latin typeface="Segoe UI"/>
              </a:rPr>
              <a:t>Governed AI investigation layer</a:t>
            </a:r>
          </a:p>
        </p:txBody>
      </p:sp>
      <p:sp>
        <p:nvSpPr>
          <p:cNvPr id="17" name="TextBox 16"/>
          <p:cNvSpPr txBox="1"/>
          <p:nvPr/>
        </p:nvSpPr>
        <p:spPr>
          <a:xfrm>
            <a:off x="3886200" y="3063239"/>
            <a:ext cx="7818120" cy="566928"/>
          </a:xfrm>
          <a:prstGeom prst="rect">
            <a:avLst/>
          </a:prstGeom>
          <a:noFill/>
        </p:spPr>
        <p:txBody>
          <a:bodyPr wrap="square">
            <a:spAutoFit/>
          </a:bodyPr>
          <a:lstStyle/>
          <a:p>
            <a:pPr algn="l"/>
            <a:r>
              <a:rPr sz="900" b="0">
                <a:solidFill>
                  <a:srgbClr val="CBD5E1"/>
                </a:solidFill>
                <a:latin typeface="Segoe UI"/>
              </a:rPr>
              <a:t>Schema-validated LLM output. AGENT_VERSION traceability on every brief. Retry with error feedback. Analyst verdict always required.</a:t>
            </a:r>
          </a:p>
        </p:txBody>
      </p:sp>
      <p:sp>
        <p:nvSpPr>
          <p:cNvPr id="18" name="Rectangle 17"/>
          <p:cNvSpPr/>
          <p:nvPr/>
        </p:nvSpPr>
        <p:spPr>
          <a:xfrm>
            <a:off x="320040" y="3867911"/>
            <a:ext cx="11548872" cy="7589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867911"/>
            <a:ext cx="54864" cy="7589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922775"/>
            <a:ext cx="3200400" cy="274320"/>
          </a:xfrm>
          <a:prstGeom prst="rect">
            <a:avLst/>
          </a:prstGeom>
          <a:noFill/>
        </p:spPr>
        <p:txBody>
          <a:bodyPr wrap="square">
            <a:spAutoFit/>
          </a:bodyPr>
          <a:lstStyle/>
          <a:p>
            <a:pPr algn="l"/>
            <a:r>
              <a:rPr sz="1100" b="1">
                <a:solidFill>
                  <a:srgbClr val="FFFFFF"/>
                </a:solidFill>
                <a:latin typeface="Segoe UI"/>
              </a:rPr>
              <a:t>Portfolio-scale benchmark evidence</a:t>
            </a:r>
          </a:p>
        </p:txBody>
      </p:sp>
      <p:sp>
        <p:nvSpPr>
          <p:cNvPr id="21" name="TextBox 20"/>
          <p:cNvSpPr txBox="1"/>
          <p:nvPr/>
        </p:nvSpPr>
        <p:spPr>
          <a:xfrm>
            <a:off x="3886200" y="3931920"/>
            <a:ext cx="7818120" cy="566928"/>
          </a:xfrm>
          <a:prstGeom prst="rect">
            <a:avLst/>
          </a:prstGeom>
          <a:noFill/>
        </p:spPr>
        <p:txBody>
          <a:bodyPr wrap="square">
            <a:spAutoFit/>
          </a:bodyPr>
          <a:lstStyle/>
          <a:p>
            <a:pPr algn="l"/>
            <a:r>
              <a:rPr sz="900" b="0">
                <a:solidFill>
                  <a:srgbClr val="CBD5E1"/>
                </a:solidFill>
                <a:latin typeface="Segoe UI"/>
              </a:rPr>
              <a:t>10M synthetic rows. Chunked ingestion, indexed pagination, cursor-streamed export. Zero OOM events. All verified in scripts/benchmark_portfolio_scan.py.</a:t>
            </a:r>
          </a:p>
        </p:txBody>
      </p:sp>
      <p:sp>
        <p:nvSpPr>
          <p:cNvPr id="22" name="Rectangle 21"/>
          <p:cNvSpPr/>
          <p:nvPr/>
        </p:nvSpPr>
        <p:spPr>
          <a:xfrm>
            <a:off x="320040" y="4736592"/>
            <a:ext cx="11548872" cy="7589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4736592"/>
            <a:ext cx="54864" cy="7589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791455"/>
            <a:ext cx="3200400" cy="274320"/>
          </a:xfrm>
          <a:prstGeom prst="rect">
            <a:avLst/>
          </a:prstGeom>
          <a:noFill/>
        </p:spPr>
        <p:txBody>
          <a:bodyPr wrap="square">
            <a:spAutoFit/>
          </a:bodyPr>
          <a:lstStyle/>
          <a:p>
            <a:pPr algn="l"/>
            <a:r>
              <a:rPr sz="1100" b="1">
                <a:solidFill>
                  <a:srgbClr val="FFFFFF"/>
                </a:solidFill>
                <a:latin typeface="Segoe UI"/>
              </a:rPr>
              <a:t>Clear engineering roadmap</a:t>
            </a:r>
          </a:p>
        </p:txBody>
      </p:sp>
      <p:sp>
        <p:nvSpPr>
          <p:cNvPr id="25" name="TextBox 24"/>
          <p:cNvSpPr txBox="1"/>
          <p:nvPr/>
        </p:nvSpPr>
        <p:spPr>
          <a:xfrm>
            <a:off x="3886200" y="4800600"/>
            <a:ext cx="7818120" cy="566928"/>
          </a:xfrm>
          <a:prstGeom prst="rect">
            <a:avLst/>
          </a:prstGeom>
          <a:noFill/>
        </p:spPr>
        <p:txBody>
          <a:bodyPr wrap="square">
            <a:spAutoFit/>
          </a:bodyPr>
          <a:lstStyle/>
          <a:p>
            <a:pPr algn="l"/>
            <a:r>
              <a:rPr sz="900" b="0">
                <a:solidFill>
                  <a:srgbClr val="CBD5E1"/>
                </a:solidFill>
                <a:latin typeface="Segoe UI"/>
              </a:rPr>
              <a:t>Integration facade, cloud deployment path, observability layer, governance controls, and high-volume scaling strategy are documented and architecturally supported.</a:t>
            </a:r>
          </a:p>
        </p:txBody>
      </p:sp>
      <p:sp>
        <p:nvSpPr>
          <p:cNvPr id="26" name="Rectangle 25"/>
          <p:cNvSpPr/>
          <p:nvPr/>
        </p:nvSpPr>
        <p:spPr>
          <a:xfrm>
            <a:off x="320040" y="5650992"/>
            <a:ext cx="11548872" cy="658368"/>
          </a:xfrm>
          <a:prstGeom prst="rect">
            <a:avLst/>
          </a:prstGeom>
          <a:solidFill>
            <a:srgbClr val="1E2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742432"/>
            <a:ext cx="11064240" cy="502920"/>
          </a:xfrm>
          <a:prstGeom prst="rect">
            <a:avLst/>
          </a:prstGeom>
          <a:noFill/>
        </p:spPr>
        <p:txBody>
          <a:bodyPr wrap="square">
            <a:spAutoFit/>
          </a:bodyPr>
          <a:lstStyle/>
          <a:p>
            <a:pPr algn="ctr"/>
            <a:r>
              <a:rPr sz="1200" b="1">
                <a:solidFill>
                  <a:srgbClr val="FFFFFF"/>
                </a:solidFill>
                <a:latin typeface="Segoe UI"/>
              </a:rPr>
              <a:t>Built to demonstrate how fraud decisioning can move from isolated scores to evidence-led, analyst-controlled, operationally reviewable intelligence.</a:t>
            </a:r>
          </a:p>
        </p:txBody>
      </p:sp>
      <p:sp>
        <p:nvSpPr>
          <p:cNvPr id="28" name="TextBox 27"/>
          <p:cNvSpPr txBox="1"/>
          <p:nvPr/>
        </p:nvSpPr>
        <p:spPr>
          <a:xfrm>
            <a:off x="320040" y="6473952"/>
            <a:ext cx="11548872" cy="274320"/>
          </a:xfrm>
          <a:prstGeom prst="rect">
            <a:avLst/>
          </a:prstGeom>
          <a:noFill/>
        </p:spPr>
        <p:txBody>
          <a:bodyPr wrap="square">
            <a:spAutoFit/>
          </a:bodyPr>
          <a:lstStyle/>
          <a:p>
            <a:pPr algn="ctr"/>
            <a:r>
              <a:rPr sz="800" b="0">
                <a:solidFill>
                  <a:srgbClr val="64748B"/>
                </a:solidFill>
                <a:latin typeface="Segoe UI"/>
              </a:rPr>
              <a:t>Inspect:  scoring/ config.py  |  investigation/ reasoner.py  |  scripts/ benchmark  |  scripts/ verify_release  |  docs/ SYSTEM_SNAPSHOT.md  |  docs/ INTEGRATION_API_BLUEPRINT.md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
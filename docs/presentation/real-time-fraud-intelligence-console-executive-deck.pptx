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slide. The six tiles are concrete, verifiable figures.</a:t>
            </a:r>
          </a:p>
          <a:p>
            <a:r>
              <a:t>41/41: scripts/verify_release_readiness.py</a:t>
            </a:r>
          </a:p>
          <a:p>
            <a:r>
              <a:t>10M: scripts/benchmark_portfolio_scan.py</a:t>
            </a:r>
          </a:p>
          <a:p>
            <a:r>
              <a:t>27 endpoints: OpenAPI surface at /docs</a:t>
            </a:r>
          </a:p>
          <a:p>
            <a:r>
              <a:t>8 routes: Next.js routing table</a:t>
            </a:r>
          </a:p>
          <a:p>
            <a:r>
              <a:t>7 services: Docker Compose topology</a:t>
            </a:r>
          </a:p>
          <a:p>
            <a:r>
              <a:t>Video: external walkthrough package, not committed to the repo.</a:t>
            </a:r>
          </a:p>
          <a:p>
            <a:r>
              <a:t>Frame this as a complete, inspectable fraud intelligence workflow built on a production-style local runtime. Not a proof-of-concept. Not a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operational gaps the console addresses.</a:t>
            </a:r>
          </a:p>
          <a:p/>
          <a:p>
            <a:r>
              <a:t>1. Risk scores are generated but not routed into structured review queues. Analysts see a number, not a case.</a:t>
            </a:r>
          </a:p>
          <a:p>
            <a:r>
              <a:t>2. Evidence is available in transaction records but not grouped by signal type. Analysts re-derive context the system already knows.</a:t>
            </a:r>
          </a:p>
          <a:p>
            <a:r>
              <a:t>3. Fraud operations teams have no single audit trail connecting score, verdict, investigation brief, and workflow event to a case record.</a:t>
            </a:r>
          </a:p>
          <a:p>
            <a:r>
              <a:t>4. Portfolio-level review requires batch scoring, risk-tier filtering, and selective promotion. Row-by-row inspection does not scale.</a:t>
            </a:r>
          </a:p>
          <a:p/>
          <a:p>
            <a:r>
              <a:t>Each card is a solved problem in the current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eight-stage workflow is the product architecture in visual form.</a:t>
            </a:r>
          </a:p>
          <a:p>
            <a:r>
              <a:t>Each stage is a distinct product surface with a defined role and a clear handoff.</a:t>
            </a:r>
          </a:p>
          <a:p>
            <a:r>
              <a:t>Transaction event -&gt; Hybrid scoring (XGBoost + rules + boosts) -&gt; Decision routing -&gt; Review queue (P0-P3) -&gt; Case dossier (evidence grouped by layer) -&gt; Investigation brief (async LLM, advisory) -&gt; Analyst verdict (required, captured) -&gt; Audit trail (every event timestamped and case-linked).</a:t>
            </a:r>
          </a:p>
          <a:p>
            <a:r>
              <a:t>Portfolio scan is a parallel workflow: bulk ingestion, risk-tier review, and selective case promotion.</a:t>
            </a:r>
          </a:p>
          <a:p>
            <a:r>
              <a:t>All eight stages are implemented, connected, and inspectable in source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Nine-component service topology.</a:t>
            </a:r>
          </a:p>
          <a:p/>
          <a:p>
            <a:r>
              <a:t>FastAPI: 27 REST endpoints covering scoring, cases, investigation, workflow, audit, portfolio.</a:t>
            </a:r>
          </a:p>
          <a:p>
            <a:r>
              <a:t>Next.js (React 18): 8 analyst-facing screens from command center to portfolio scan.</a:t>
            </a:r>
          </a:p>
          <a:p>
            <a:r>
              <a:t>Redpanda (Kafka-compatible): 2 topics: score.results and cases.investigate.</a:t>
            </a:r>
          </a:p>
          <a:p>
            <a:r>
              <a:t>PostgreSQL v16: 5-table persistence model for predictions, cases, events, reports, scans.</a:t>
            </a:r>
          </a:p>
          <a:p>
            <a:r>
              <a:t>Redis: request_id idempotency with 24-hour TTL.</a:t>
            </a:r>
          </a:p>
          <a:p>
            <a:r>
              <a:t>n8n: webhook dispatch and callback recording for case workflow automation.</a:t>
            </a:r>
          </a:p>
          <a:p>
            <a:r>
              <a:t>Ollama: local LLM runtime (phi3 or llama3) for investigation brief generation.</a:t>
            </a:r>
          </a:p>
          <a:p>
            <a:r>
              <a:t>XGBoost model artifact: scikit-learn pipeline, offline-trained, deterministic inference.</a:t>
            </a:r>
          </a:p>
          <a:p>
            <a:r>
              <a:t>Docker Compose: orchestrates all 9 components on a single local machine.</a:t>
            </a:r>
          </a:p>
          <a:p/>
          <a:p>
            <a:r>
              <a:t>Each managed-cloud equivalent is documented in docs/DEPLOYMENT_STRATEGY.md. The path from local runtime to cloud-managed services is well-defined for each component.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analyst workflow across the first four stages.</a:t>
            </a:r>
          </a:p>
          <a:p/>
          <a:p>
            <a:r>
              <a:t>Command Center (/): KPI strip, 6-stage pipeline map, stale case alerts, system connectivity health. Operational awareness before opening any case.</a:t>
            </a:r>
          </a:p>
          <a:p/>
          <a:p>
            <a:r>
              <a:t>Review Queue (/queue): Cases ranked P0-P3 by score band. Inline score bars. Status filters for pending, in-progress, and escalated. Queue ordered by tier first, score descending within tier.</a:t>
            </a:r>
          </a:p>
          <a:p/>
          <a:p>
            <a:r>
              <a:t>Case Dossier (/cases/[id]): Signals grouped by origin layer. Model attribution section shows score contribution per layer. Lifecycle timeline shows full case state history.</a:t>
            </a:r>
          </a:p>
          <a:p/>
          <a:p>
            <a:r>
              <a:t>Verdict Capture: POST /review-case/{case_id}. Verdict options: CONFIRM_FRAUD, FALSE_POSITIVE, ESCALATE, APPROVE. Notes field. Timestamps and writes workflow audit event on submit.</a:t>
            </a:r>
          </a:p>
          <a:p/>
          <a:p>
            <a:r>
              <a:t>Screenshot shows the command center at http://localhost:3000.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evidence-led investigation model.</a:t>
            </a:r>
          </a:p>
          <a:p/>
          <a:p>
            <a:r>
              <a:t>Evidence is grouped into four signal layers, each corresponding to a scoring engine stage:</a:t>
            </a:r>
          </a:p>
          <a:p>
            <a:r>
              <a:t>Base signals: amount, time, model prediction flag, rule flags, reason codes.</a:t>
            </a:r>
          </a:p>
          <a:p>
            <a:r>
              <a:t>Rich signals: device trust, geo distance anomaly, velocity, merchant risk, chargeback history.</a:t>
            </a:r>
          </a:p>
          <a:p>
            <a:r>
              <a:t>Behavioural signals: 30-day entity deviation, new device, new country, unusual channel.</a:t>
            </a:r>
          </a:p>
          <a:p>
            <a:r>
              <a:t>Graph intelligence: shared device across accounts, counterparty fan-in and fan-out.</a:t>
            </a:r>
          </a:p>
          <a:p/>
          <a:p>
            <a:r>
              <a:t>Investigation brief is generated async via Redpanda -&gt; Ollama -&gt; PostgreSQL.</a:t>
            </a:r>
          </a:p>
          <a:p>
            <a:r>
              <a:t>Schema-validated on every call. Retry with error feedback appended on failure.</a:t>
            </a:r>
          </a:p>
          <a:p>
            <a:r>
              <a:t>AGENT_VERSION stored on every InvestigationReport row: immutable link between brief and agent config.</a:t>
            </a:r>
          </a:p>
          <a:p>
            <a:r>
              <a:t>No automated path from LLM recommendation to case action.</a:t>
            </a:r>
          </a:p>
          <a:p>
            <a:r>
              <a:t>POST /review-case/{case_id} is the required final step.</a:t>
            </a:r>
          </a:p>
          <a:p/>
          <a:p>
            <a:r>
              <a:t>Screenshot shows the AI investigation panel with brief output fields.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Portfolio benchmark results from scripts/benchmark_portfolio_scan.py.</a:t>
            </a:r>
          </a:p>
          <a:p>
            <a:r>
              <a:t>All metrics are measured, repeatable, and verifiable in source code.</a:t>
            </a:r>
          </a:p>
          <a:p/>
          <a:p>
            <a:r>
              <a:t>10M synthetic rows: full ingestion and export cycle completed without OOM or restart.</a:t>
            </a:r>
          </a:p>
          <a:p>
            <a:r>
              <a:t>8.42M P1 filter: paginated count query across 8.42M qualifying rows.</a:t>
            </a:r>
          </a:p>
          <a:p>
            <a:r>
              <a:t>4.19s: P1 filter response time including paginated count at that scale.</a:t>
            </a:r>
          </a:p>
          <a:p>
            <a:r>
              <a:t>6.99ms: export time to first byte. Reflects cursor readiness, not full materialisation.</a:t>
            </a:r>
          </a:p>
          <a:p>
            <a:r>
              <a:t>1.64 GiB: full streaming export with flat API memory throughout.</a:t>
            </a:r>
          </a:p>
          <a:p>
            <a:r>
              <a:t>0 OOM events or API restarts: stability evidence across the full cycle.</a:t>
            </a:r>
          </a:p>
          <a:p/>
          <a:p>
            <a:r>
              <a:t>Three architecture properties produce these numbers:</a:t>
            </a:r>
          </a:p>
          <a:p>
            <a:r>
              <a:t>Chunked ingestion: CSV never fully loaded into API heap.</a:t>
            </a:r>
          </a:p>
          <a:p>
            <a:r>
              <a:t>Composite index (scan_id, risk_tier, id): sub-second filtered pages.</a:t>
            </a:r>
          </a:p>
          <a:p>
            <a:r>
              <a:t>Server-side PostgreSQL cursor: API memory stays flat during export.</a:t>
            </a:r>
          </a:p>
          <a:p>
            <a:r>
              <a:t>POST /risk-scan/{id}/promote/{row_id} elevates flagged rows to review-queue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Latency architecture.</a:t>
            </a:r>
          </a:p>
          <a:p/>
          <a:p>
            <a:r>
              <a:t>Synchronous scoring path (fast, deterministic):</a:t>
            </a:r>
          </a:p>
          <a:p>
            <a:r>
              <a:t>Feature extraction (signals grouped by layer into scoring context)</a:t>
            </a:r>
          </a:p>
          <a:p>
            <a:r>
              <a:t>XGBoost inference (offline-trained artifact, deterministic output)</a:t>
            </a:r>
          </a:p>
          <a:p>
            <a:r>
              <a:t>Rule engine (threshold and flag evaluation, reason codes emitted)</a:t>
            </a:r>
          </a:p>
          <a:p>
            <a:r>
              <a:t>Decision routing (BLOCK, REVIEW, APPROVE)</a:t>
            </a:r>
          </a:p>
          <a:p>
            <a:r>
              <a:t>PostgreSQL write + Redpanda event dispatch</a:t>
            </a:r>
          </a:p>
          <a:p/>
          <a:p>
            <a:r>
              <a:t>Asynchronous paths (heavy workloads isolated from scoring throughput):</a:t>
            </a:r>
          </a:p>
          <a:p>
            <a:r>
              <a:t>Investigation brief: POST /cases/{id}/investigate -&gt; Redpanda -&gt; investigation-consumer -&gt; Ollama</a:t>
            </a:r>
          </a:p>
          <a:p>
            <a:r>
              <a:t>Portfolio scan: POST /risk-scan -&gt; chunked ingestion worker -&gt; indexed PostgreSQL</a:t>
            </a:r>
          </a:p>
          <a:p/>
          <a:p>
            <a:r>
              <a:t>Scale strategy:</a:t>
            </a:r>
          </a:p>
          <a:p>
            <a:r>
              <a:t>Redis idempotency: deduplicate repeated requests by request_id, 24-hour TTL.</a:t>
            </a:r>
          </a:p>
          <a:p>
            <a:r>
              <a:t>Horizontal API scaling: scoring workers are stateless and CPU-bound.</a:t>
            </a:r>
          </a:p>
          <a:p>
            <a:r>
              <a:t>Independent consumer scaling: investigation and portfolio consumers scale on Redpanda partitions.</a:t>
            </a:r>
          </a:p>
          <a:p>
            <a:r>
              <a:t>Observability: reliability metrics surface latency pressure before SLO breach.</a:t>
            </a:r>
          </a:p>
          <a:p/>
          <a:p>
            <a:r>
              <a:t>Latency design is based on current service topology and async path separation. Specific p95 values require load testing against a target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Seven-stage scale path from local runtime to high-volume fraud decisioning.</a:t>
            </a:r>
          </a:p>
          <a:p/>
          <a:p>
            <a:r>
              <a:t>Stage 1 is fully delivered in the current product.</a:t>
            </a:r>
          </a:p>
          <a:p>
            <a:r>
              <a:t>Stages 2 through 7 represent the architecture roadmap that current service boundaries support.</a:t>
            </a:r>
          </a:p>
          <a:p/>
          <a:p>
            <a:r>
              <a:t>Stage 1: 9-service Docker Compose stack. 41/41 validation and 10M benchmark verified.</a:t>
            </a:r>
          </a:p>
          <a:p>
            <a:r>
              <a:t>Stage 2: Stateless API workers behind a load balancer. Scoring scales horizontally.</a:t>
            </a:r>
          </a:p>
          <a:p>
            <a:r>
              <a:t>Stage 3: Managed PostgreSQL, Redis, Redpanda, and object storage per cloud provider.</a:t>
            </a:r>
          </a:p>
          <a:p>
            <a:r>
              <a:t>Stage 4: Repeat request caching via Redis. API autoscales on queue depth.</a:t>
            </a:r>
          </a:p>
          <a:p>
            <a:r>
              <a:t>Stage 5: Investigation and portfolio consumers scale on Redpanda partition count.</a:t>
            </a:r>
          </a:p>
          <a:p>
            <a:r>
              <a:t>Stage 6: Latency SLOs, score drift detection, agent version lineage tracking, alerting.</a:t>
            </a:r>
          </a:p>
          <a:p>
            <a:r>
              <a:t>Stage 7: Multi-region reads, circuit breakers, consumer offset recovery, LLM failover.</a:t>
            </a:r>
          </a:p>
          <a:p/>
          <a:p>
            <a:r>
              <a:t>The architecture separates fast scoring, async investigation, portfolio processing, and audit persistence so each layer can scale independently.</a:t>
            </a:r>
          </a:p>
          <a:p/>
          <a:p>
            <a:r>
              <a:t>This slide presents the scale architecture supported by current service boundaries. Each stage builds on the previous. Specific throughput targets require load testing against a target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Integration expansion path.</a:t>
            </a:r>
          </a:p>
          <a:p/>
          <a:p>
            <a:r>
              <a:t>The current product exposes 27 endpoints across six API surface areas: scoring, cases, investigation, workflow, audit, and portfolio.</a:t>
            </a:r>
          </a:p>
          <a:p/>
          <a:p>
            <a:r>
              <a:t>The next integration layer is a consolidated external-facing decision facade: POST /fraud/decision.</a:t>
            </a:r>
          </a:p>
          <a:p>
            <a:r>
              <a:t>This facade sits in front of existing service boundaries and returns a unified decision package.</a:t>
            </a:r>
          </a:p>
          <a:p/>
          <a:p>
            <a:r>
              <a:t>The consolidated facade is the next integration layer over the existing scoring, case, investigation, workflow, reliability, and portfolio API surfaces.</a:t>
            </a:r>
          </a:p>
          <a:p/>
          <a:p>
            <a:r>
              <a:t>Before external exposure, the facade requires: authentication (JWT or API key), rate limiting, TLS, API key rotation, secrets management, and monitoring.</a:t>
            </a:r>
          </a:p>
          <a:p>
            <a:r>
              <a:t>The complete integration specification is in docs/INTEGRATION_API_BLUEPRINT.md.</a:t>
            </a:r>
          </a:p>
          <a:p/>
          <a:p>
            <a:r>
              <a:t>Integration targets: payment platforms, fraud operations tools, risk engines, and case management systems.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Deployment strategy rationale.</a:t>
            </a:r>
          </a:p>
          <a:p/>
          <a:p>
            <a:r>
              <a:t>The full technology stack includes: database, message broker, cache, workflow automation, LLM inference, backend API, frontend, and monitoring.</a:t>
            </a:r>
          </a:p>
          <a:p/>
          <a:p>
            <a:r>
              <a:t>Free-tier cloud deployments frequently underrepresent system quality: services sleep on inactivity, state is lost on restart, and resource constraints mask throughput characteristics that are core to the product story.</a:t>
            </a:r>
          </a:p>
          <a:p/>
          <a:p>
            <a:r>
              <a:t>The production deployment path is fully documented in docs/DEPLOYMENT_STRATEGY.md with a 30-item hardening checklist, cost category matrix, and five-option deployment matrix.</a:t>
            </a:r>
          </a:p>
          <a:p/>
          <a:p>
            <a:r>
              <a:t>Cost estimates require provider-specific verification. The cost categories listed are the infrastructure components that carry recurring cost in any full-stack production deployment.</a:t>
            </a:r>
          </a:p>
          <a:p/>
          <a:p>
            <a:r>
              <a:t>Current inspection package is zero-cost and fully self-contained.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core takeaways for executive and senior technical reviewers.</a:t>
            </a:r>
          </a:p>
          <a:p/>
          <a:p>
            <a:r>
              <a:t>1. End-to-end fraud intelligence workflow: scoring feeds triage, triage feeds investigation, investigation feeds verdict, verdict writes the audit trail. All nine stages implemented and connected.</a:t>
            </a:r>
          </a:p>
          <a:p/>
          <a:p>
            <a:r>
              <a:t>2. Hybrid scoring with evidence: XGBoost base score combined with rule engine, rich signal boost, behavioural deviation layer, and graph topology boost. Each layer emits distinct reason codes visible in the case dossier.</a:t>
            </a:r>
          </a:p>
          <a:p/>
          <a:p>
            <a:r>
              <a:t>3. Analyst-controlled case decisioning: the AI brief is advisory. Analyst verdict via POST /review-case/{case_id} is always the required final action. No automated path from recommendation to case action.</a:t>
            </a:r>
          </a:p>
          <a:p/>
          <a:p>
            <a:r>
              <a:t>4. Audit-ready workflow trail: every case action, automation event, and n8n callback is timestamped, sourced, and case-linked in PostgreSQL.</a:t>
            </a:r>
          </a:p>
          <a:p/>
          <a:p>
            <a:r>
              <a:t>5. Clear path to scale and integration: scale path documented across 7 stages, integration facade designed, deployment strategy with 30-item hardening checklist.</a:t>
            </a:r>
          </a:p>
          <a:p/>
          <a:p>
            <a:r>
              <a:t>Reviewer inspection path:</a:t>
            </a:r>
          </a:p>
          <a:p>
            <a:r>
              <a:t>fraud-console/src/scoring/ - scoring engine</a:t>
            </a:r>
          </a:p>
          <a:p>
            <a:r>
              <a:t>fraud-console/src/investigation/reasoner.py - AI brief layer</a:t>
            </a:r>
          </a:p>
          <a:p>
            <a:r>
              <a:t>scripts/benchmark_portfolio_scan.py - portfolio benchmark</a:t>
            </a:r>
          </a:p>
          <a:p>
            <a:r>
              <a:t>scripts/verify_release_readiness.py - 41/41 validation</a:t>
            </a:r>
          </a:p>
          <a:p>
            <a:r>
              <a:t>docs/SYSTEM_SNAPSHOT.md - full system reference</a:t>
            </a:r>
          </a:p>
          <a:p>
            <a:r>
              <a:t>docs/INTEGRATION_API_BLUEPRINT.md - integration design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Segoe UI"/>
              </a:rPr>
              <a:t>Real-Time Fraud Intelligence Console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2763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D3EE"/>
                </a:solidFill>
                <a:latin typeface="Segoe UI"/>
              </a:rPr>
              <a:t>Risk scoring  |  Evidence-led triage  |  AI investigation  |  Workflow auditability  |  Portfolio scan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0116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8C8DB"/>
                </a:solidFill>
                <a:latin typeface="Segoe UI"/>
              </a:rPr>
              <a:t>Ijaz Mohamed Ali Kakkod  |  Executive product walkthrough package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239572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02336" y="2633472"/>
            <a:ext cx="3401568" cy="1316736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336" y="2633472"/>
            <a:ext cx="3401568" cy="5029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743200"/>
            <a:ext cx="34015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4D399"/>
                </a:solidFill>
                <a:latin typeface="Segoe UI"/>
              </a:rPr>
              <a:t>41 / 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3346704"/>
            <a:ext cx="3401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8C8DB"/>
                </a:solidFill>
                <a:latin typeface="Segoe UI"/>
              </a:rPr>
              <a:t>Validation checks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8264" y="2633472"/>
            <a:ext cx="3401568" cy="1316736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98264" y="2633472"/>
            <a:ext cx="3401568" cy="5029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98264" y="2743200"/>
            <a:ext cx="34015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2D3EE"/>
                </a:solidFill>
                <a:latin typeface="Segoe UI"/>
              </a:rPr>
              <a:t>10 M 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8264" y="3346704"/>
            <a:ext cx="3401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8C8DB"/>
                </a:solidFill>
                <a:latin typeface="Segoe UI"/>
              </a:rPr>
              <a:t>Portfolio scan evidence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94192" y="2633472"/>
            <a:ext cx="3401568" cy="1316736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94192" y="2633472"/>
            <a:ext cx="3401568" cy="5029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2743200"/>
            <a:ext cx="34015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B82F6"/>
                </a:solidFill>
                <a:latin typeface="Segoe UI"/>
              </a:rPr>
              <a:t>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3346704"/>
            <a:ext cx="3401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8C8DB"/>
                </a:solidFill>
                <a:latin typeface="Segoe UI"/>
              </a:rPr>
              <a:t>API endpoints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" y="4096512"/>
            <a:ext cx="3401568" cy="1316736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2336" y="4096512"/>
            <a:ext cx="3401568" cy="5029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2336" y="4206240"/>
            <a:ext cx="34015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34D399"/>
                </a:solidFill>
                <a:latin typeface="Segoe UI"/>
              </a:rPr>
              <a:t>8 routes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" y="4809744"/>
            <a:ext cx="3401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8C8DB"/>
                </a:solidFill>
                <a:latin typeface="Segoe UI"/>
              </a:rPr>
              <a:t>Analyst screens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98264" y="4096512"/>
            <a:ext cx="3401568" cy="1316736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98264" y="4096512"/>
            <a:ext cx="3401568" cy="5029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98264" y="4206240"/>
            <a:ext cx="34015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BBF24"/>
                </a:solidFill>
                <a:latin typeface="Segoe UI"/>
              </a:rPr>
              <a:t>7 services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8264" y="4809744"/>
            <a:ext cx="3401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8C8DB"/>
                </a:solidFill>
                <a:latin typeface="Segoe UI"/>
              </a:rPr>
              <a:t>Local runtime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94192" y="4096512"/>
            <a:ext cx="3401568" cy="1316736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394192" y="4096512"/>
            <a:ext cx="3401568" cy="5029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94192" y="4206240"/>
            <a:ext cx="34015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2D3EE"/>
                </a:solidFill>
                <a:latin typeface="Segoe UI"/>
              </a:rPr>
              <a:t>Video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4809744"/>
            <a:ext cx="340156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8C8DB"/>
                </a:solidFill>
                <a:latin typeface="Segoe UI"/>
              </a:rPr>
              <a:t>External walkthrough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" y="6473952"/>
            <a:ext cx="11494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6880"/>
                </a:solidFill>
                <a:latin typeface="Segoe UI"/>
              </a:rPr>
              <a:t>PostgreSQL  |  Redpanda  |  Redis  |  n8n  |  Ollama  |  FastAPI  |  Next.js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82880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6880"/>
                </a:solidFill>
                <a:latin typeface="Segoe UI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940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Fraud Triage Breaks Between Score and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11556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335024"/>
            <a:ext cx="2681478" cy="532180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335024"/>
            <a:ext cx="2681478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828800"/>
            <a:ext cx="268147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3B82F6"/>
                </a:solidFill>
                <a:latin typeface="Segoe U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2852928"/>
            <a:ext cx="268147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Scores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3456432"/>
            <a:ext cx="268147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8C8DB"/>
                </a:solidFill>
                <a:latin typeface="Segoe UI"/>
              </a:rPr>
              <a:t>without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4982" y="1335024"/>
            <a:ext cx="2681478" cy="532180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84982" y="1335024"/>
            <a:ext cx="2681478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84982" y="1828800"/>
            <a:ext cx="268147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22D3EE"/>
                </a:solidFill>
                <a:latin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84982" y="2852928"/>
            <a:ext cx="268147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Queues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84982" y="3456432"/>
            <a:ext cx="268147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8C8DB"/>
                </a:solidFill>
                <a:latin typeface="Segoe UI"/>
              </a:rPr>
              <a:t>without prioritisation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2492" y="1335024"/>
            <a:ext cx="2681478" cy="532180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2492" y="1335024"/>
            <a:ext cx="2681478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22492" y="1828800"/>
            <a:ext cx="268147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34D399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2492" y="2852928"/>
            <a:ext cx="268147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Cases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2492" y="3456432"/>
            <a:ext cx="268147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8C8DB"/>
                </a:solidFill>
                <a:latin typeface="Segoe UI"/>
              </a:rPr>
              <a:t>without traceability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60002" y="1335024"/>
            <a:ext cx="2681478" cy="532180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60002" y="1335024"/>
            <a:ext cx="2681478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60002" y="1828800"/>
            <a:ext cx="268147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>
                <a:solidFill>
                  <a:srgbClr val="FBBF24"/>
                </a:solidFill>
                <a:latin typeface="Segoe U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60002" y="2852928"/>
            <a:ext cx="268147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Portfolios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60002" y="3456432"/>
            <a:ext cx="268147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8C8DB"/>
                </a:solidFill>
                <a:latin typeface="Segoe UI"/>
              </a:rPr>
              <a:t>without scale 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82880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6880"/>
                </a:solidFill>
                <a:latin typeface="Segoe UI"/>
              </a:rPr>
              <a:t>PRODUCT PROMISE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940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One Connected Fraud Decisioning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11556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8700" y="1353312"/>
            <a:ext cx="1170432" cy="1417320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28700" y="1353312"/>
            <a:ext cx="117043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43100" y="1389888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3B82F6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8700" y="1600200"/>
            <a:ext cx="11704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Transaction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08276" y="1719072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6880"/>
                </a:solidFill>
                <a:latin typeface="Segoe UI"/>
              </a:rPr>
              <a:t>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08860" y="1353312"/>
            <a:ext cx="1170432" cy="1417320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08860" y="1353312"/>
            <a:ext cx="117043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23259" y="1389888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3B82F6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08860" y="1600200"/>
            <a:ext cx="11704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Scoring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8435" y="1719072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6880"/>
                </a:solidFill>
                <a:latin typeface="Segoe UI"/>
              </a:rPr>
              <a:t>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89020" y="1353312"/>
            <a:ext cx="1170432" cy="1417320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89020" y="1353312"/>
            <a:ext cx="1170432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3420" y="1389888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22D3EE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9020" y="1600200"/>
            <a:ext cx="11704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Routing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8596" y="1719072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6880"/>
                </a:solidFill>
                <a:latin typeface="Segoe UI"/>
              </a:rPr>
              <a:t>&gt;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69179" y="1353312"/>
            <a:ext cx="1170432" cy="1417320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9179" y="1353312"/>
            <a:ext cx="1170432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83579" y="1389888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22D3EE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79" y="1600200"/>
            <a:ext cx="11704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Review Queue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48755" y="1719072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6880"/>
                </a:solidFill>
                <a:latin typeface="Segoe UI"/>
              </a:rPr>
              <a:t>&gt;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9340" y="1353312"/>
            <a:ext cx="1170432" cy="1417320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9340" y="1353312"/>
            <a:ext cx="1170432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63739" y="1389888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34D399"/>
                </a:solidFill>
                <a:latin typeface="Segoe U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49340" y="1600200"/>
            <a:ext cx="11704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Case Dossier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8915" y="1719072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6880"/>
                </a:solidFill>
                <a:latin typeface="Segoe UI"/>
              </a:rPr>
              <a:t>&gt;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29500" y="1353312"/>
            <a:ext cx="1170432" cy="1417320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29500" y="1353312"/>
            <a:ext cx="1170432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43900" y="1389888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34D399"/>
                </a:solidFill>
                <a:latin typeface="Segoe U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9500" y="1600200"/>
            <a:ext cx="11704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AI Brief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09076" y="1719072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6880"/>
                </a:solidFill>
                <a:latin typeface="Segoe UI"/>
              </a:rPr>
              <a:t>&gt;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09659" y="1353312"/>
            <a:ext cx="1170432" cy="1417320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709659" y="1353312"/>
            <a:ext cx="1170432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24059" y="1389888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FBBF24"/>
                </a:solidFill>
                <a:latin typeface="Segoe UI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09659" y="1600200"/>
            <a:ext cx="11704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Verdict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89235" y="1719072"/>
            <a:ext cx="1097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6880"/>
                </a:solidFill>
                <a:latin typeface="Segoe UI"/>
              </a:rPr>
              <a:t>&gt;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989819" y="1353312"/>
            <a:ext cx="1170432" cy="1417320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989819" y="1353312"/>
            <a:ext cx="1170432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904219" y="1389888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3B82F6"/>
                </a:solidFill>
                <a:latin typeface="Segoe UI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89819" y="1600200"/>
            <a:ext cx="117043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Audit Trail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7472" y="294436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7472" y="3090672"/>
            <a:ext cx="11494008" cy="56692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0352" y="3145536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BBF24"/>
                </a:solidFill>
                <a:latin typeface="Segoe UI"/>
              </a:rPr>
              <a:t>Portfolio Scan: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40280" y="3145536"/>
            <a:ext cx="9418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Bulk CSV ingestion  &gt;  Chunked scoring  &gt;  Risk-tier filtering  &gt;  Paginated review  &gt;  Cursor-streamed export  &gt;  Case promotion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47472" y="3822191"/>
            <a:ext cx="11494008" cy="731520"/>
          </a:xfrm>
          <a:prstGeom prst="rect">
            <a:avLst/>
          </a:prstGeom>
          <a:solidFill>
            <a:srgbClr val="1E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3968496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The console connects model scores to analyst-controlled fraud decisions, with a full audit trail on every case.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7472" y="4754880"/>
            <a:ext cx="114940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6880"/>
                </a:solidFill>
                <a:latin typeface="Segoe UI"/>
              </a:rPr>
              <a:t>41/41 release readiness checks pass across all workflow stages.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82880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6880"/>
                </a:solidFill>
                <a:latin typeface="Segoe U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940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Modular Architecture With Clear Service Boundaries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11556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298448"/>
            <a:ext cx="3660647" cy="1426464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98448"/>
            <a:ext cx="3660647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426464"/>
            <a:ext cx="340461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FastAPI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1892807"/>
            <a:ext cx="3404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  <a:latin typeface="Segoe UI"/>
              </a:rPr>
              <a:t>27 REST endpoints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64152" y="1298448"/>
            <a:ext cx="3660647" cy="1426464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4152" y="1298448"/>
            <a:ext cx="3660647" cy="45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2167" y="1426464"/>
            <a:ext cx="340461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Next.js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2167" y="1892807"/>
            <a:ext cx="3404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2D3EE"/>
                </a:solidFill>
                <a:latin typeface="Segoe UI"/>
              </a:rPr>
              <a:t>8 analyst screens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0832" y="1298448"/>
            <a:ext cx="3660647" cy="1426464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0832" y="1298448"/>
            <a:ext cx="3660647" cy="45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8848" y="1426464"/>
            <a:ext cx="340461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Redpanda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8848" y="1892807"/>
            <a:ext cx="3404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4D399"/>
                </a:solidFill>
                <a:latin typeface="Segoe UI"/>
              </a:rPr>
              <a:t>Event streaming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2944368"/>
            <a:ext cx="3660647" cy="1426464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2944368"/>
            <a:ext cx="3660647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3072384"/>
            <a:ext cx="340461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PostgreSQL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3538727"/>
            <a:ext cx="3404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  <a:latin typeface="Segoe UI"/>
              </a:rPr>
              <a:t>Persistence layer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64152" y="2944368"/>
            <a:ext cx="3660647" cy="1426464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64152" y="2944368"/>
            <a:ext cx="3660647" cy="45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2167" y="3072384"/>
            <a:ext cx="340461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Redis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92167" y="3538727"/>
            <a:ext cx="3404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2D3EE"/>
                </a:solidFill>
                <a:latin typeface="Segoe UI"/>
              </a:rPr>
              <a:t>Idempotency cache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0832" y="2944368"/>
            <a:ext cx="3660647" cy="1426464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80832" y="2944368"/>
            <a:ext cx="3660647" cy="45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8848" y="3072384"/>
            <a:ext cx="340461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n8n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8848" y="3538727"/>
            <a:ext cx="3404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4D399"/>
                </a:solidFill>
                <a:latin typeface="Segoe UI"/>
              </a:rPr>
              <a:t>Workflow automation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" y="4590288"/>
            <a:ext cx="3660647" cy="1426464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7472" y="4590288"/>
            <a:ext cx="3660647" cy="457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488" y="4718303"/>
            <a:ext cx="340461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Ollama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5184648"/>
            <a:ext cx="3404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BBF24"/>
                </a:solidFill>
                <a:latin typeface="Segoe UI"/>
              </a:rPr>
              <a:t>Local LLM inference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64152" y="4590288"/>
            <a:ext cx="3660647" cy="1426464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64152" y="4590288"/>
            <a:ext cx="3660647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92167" y="4718303"/>
            <a:ext cx="340461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XGBoost Model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92167" y="5184648"/>
            <a:ext cx="3404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B82F6"/>
                </a:solidFill>
                <a:latin typeface="Segoe UI"/>
              </a:rPr>
              <a:t>Scoring artifact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80832" y="4590288"/>
            <a:ext cx="3660647" cy="1426464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80832" y="4590288"/>
            <a:ext cx="3660647" cy="45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08848" y="4718303"/>
            <a:ext cx="340461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Docker Compose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8848" y="5184648"/>
            <a:ext cx="3404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2D3EE"/>
                </a:solidFill>
                <a:latin typeface="Segoe UI"/>
              </a:rPr>
              <a:t>Runtime orchestration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" y="6473952"/>
            <a:ext cx="11494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6880"/>
                </a:solidFill>
                <a:latin typeface="Segoe UI"/>
              </a:rPr>
              <a:t>Production-style local runtime  |  Independent, inspectable services  |  Clear path to cloud equivalents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82880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6880"/>
                </a:solidFill>
                <a:latin typeface="Segoe UI"/>
              </a:rPr>
              <a:t>ANALYST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940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From Command Center to Case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11556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298448"/>
            <a:ext cx="5486400" cy="111556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98448"/>
            <a:ext cx="54864" cy="111556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389888"/>
            <a:ext cx="347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B82F6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389888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Command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810512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Operational state at a glance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2596896"/>
            <a:ext cx="5486400" cy="111556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" y="2596896"/>
            <a:ext cx="54864" cy="111556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688336"/>
            <a:ext cx="347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D3EE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8336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Review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108960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P0-P3 priority ranking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" y="3895344"/>
            <a:ext cx="5486400" cy="111556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" y="3895344"/>
            <a:ext cx="54864" cy="111556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3986783"/>
            <a:ext cx="347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4D399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986783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Case Dossier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407408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Evidence by scoring layer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" y="5193792"/>
            <a:ext cx="5486400" cy="111556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7472" y="5193792"/>
            <a:ext cx="54864" cy="11155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285231"/>
            <a:ext cx="3474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BBF24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285231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Verdict Capture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705856"/>
            <a:ext cx="4434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Analyst decision. Audit trail updated.</a:t>
            </a:r>
          </a:p>
        </p:txBody>
      </p:sp>
      <p:pic>
        <p:nvPicPr>
          <p:cNvPr id="26" name="Picture 25" descr="01_overview_command_cen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1188720"/>
            <a:ext cx="5687568" cy="3554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82880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6880"/>
                </a:solidFill>
                <a:latin typeface="Segoe UI"/>
              </a:rPr>
              <a:t>EVIDENCE AND INVESTIGATION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940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Evidence-Led Review With Analyst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11556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298448"/>
            <a:ext cx="5577840" cy="74980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98448"/>
            <a:ext cx="54864" cy="7498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353312"/>
            <a:ext cx="5138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Base Signals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682495"/>
            <a:ext cx="5138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8DB"/>
                </a:solidFill>
                <a:latin typeface="Segoe UI"/>
              </a:rPr>
              <a:t>Amount, time, rule flags, reason codes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" y="2157984"/>
            <a:ext cx="5577840" cy="74980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" y="2157984"/>
            <a:ext cx="54864" cy="74980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212848"/>
            <a:ext cx="5138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Rich Signals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542032"/>
            <a:ext cx="5138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8DB"/>
                </a:solidFill>
                <a:latin typeface="Segoe UI"/>
              </a:rPr>
              <a:t>Device, geo, velocity, merchant risk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3017520"/>
            <a:ext cx="5577840" cy="74980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" y="3017520"/>
            <a:ext cx="54864" cy="7498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072384"/>
            <a:ext cx="5138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Behavioural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401568"/>
            <a:ext cx="5138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8DB"/>
                </a:solidFill>
                <a:latin typeface="Segoe UI"/>
              </a:rPr>
              <a:t>30-day deviation, new device and country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3877056"/>
            <a:ext cx="5577840" cy="74980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3877056"/>
            <a:ext cx="54864" cy="74980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3931920"/>
            <a:ext cx="5138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Graph Intelligence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4261104"/>
            <a:ext cx="5138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8DB"/>
                </a:solidFill>
                <a:latin typeface="Segoe UI"/>
              </a:rPr>
              <a:t>Shared devices and transaction flow patterns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" y="4498848"/>
            <a:ext cx="5577840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7472" y="4663440"/>
            <a:ext cx="5577840" cy="694944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7472" y="4663440"/>
            <a:ext cx="54864" cy="69494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4718303"/>
            <a:ext cx="5138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AI Brief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" y="5029200"/>
            <a:ext cx="51389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8DB"/>
                </a:solidFill>
                <a:latin typeface="Segoe UI"/>
              </a:rPr>
              <a:t>Validated output. Every brief version-tracked.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472" y="5468112"/>
            <a:ext cx="5577840" cy="694944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47472" y="5468112"/>
            <a:ext cx="54864" cy="69494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5522975"/>
            <a:ext cx="5138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Analyst Verdict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" y="5833872"/>
            <a:ext cx="51389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8DB"/>
                </a:solidFill>
                <a:latin typeface="Segoe UI"/>
              </a:rPr>
              <a:t>Required final step. Updates the audit trail.</a:t>
            </a:r>
          </a:p>
        </p:txBody>
      </p:sp>
      <p:pic>
        <p:nvPicPr>
          <p:cNvPr id="31" name="Picture 30" descr="07_ai_investigation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1188720"/>
            <a:ext cx="5687568" cy="56875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82880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6880"/>
                </a:solidFill>
                <a:latin typeface="Segoe UI"/>
              </a:rPr>
              <a:t>PORTFOLIO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940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10M-Row Portfolio Scan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11556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298448"/>
            <a:ext cx="1778508" cy="2029968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98448"/>
            <a:ext cx="1778508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63040"/>
            <a:ext cx="17785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34D399"/>
                </a:solidFill>
                <a:latin typeface="Segoe UI"/>
              </a:rPr>
              <a:t>10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2148840"/>
            <a:ext cx="1778508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8C8DB"/>
                </a:solidFill>
                <a:latin typeface="Segoe UI"/>
              </a:rPr>
              <a:t>Synthetic rows processed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90572" y="1298448"/>
            <a:ext cx="1778508" cy="2029968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90572" y="1298448"/>
            <a:ext cx="1778508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0572" y="1463040"/>
            <a:ext cx="17785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34D399"/>
                </a:solidFill>
                <a:latin typeface="Segoe UI"/>
              </a:rPr>
              <a:t>8.42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90572" y="2148840"/>
            <a:ext cx="1778508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8C8DB"/>
                </a:solidFill>
                <a:latin typeface="Segoe UI"/>
              </a:rPr>
              <a:t>P1 filter query count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33672" y="1298448"/>
            <a:ext cx="1778508" cy="2029968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33672" y="1298448"/>
            <a:ext cx="1778508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33672" y="1463040"/>
            <a:ext cx="17785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2D3EE"/>
                </a:solidFill>
                <a:latin typeface="Segoe UI"/>
              </a:rPr>
              <a:t>4.19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33672" y="2148840"/>
            <a:ext cx="1778508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8C8DB"/>
                </a:solidFill>
                <a:latin typeface="Segoe UI"/>
              </a:rPr>
              <a:t>P1 filter response time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6772" y="1298448"/>
            <a:ext cx="1778508" cy="2029968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6772" y="1298448"/>
            <a:ext cx="1778508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1463040"/>
            <a:ext cx="17785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3B82F6"/>
                </a:solidFill>
                <a:latin typeface="Segoe UI"/>
              </a:rPr>
              <a:t>6.99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2148840"/>
            <a:ext cx="1778508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8C8DB"/>
                </a:solidFill>
                <a:latin typeface="Segoe UI"/>
              </a:rPr>
              <a:t>Export time to first byte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19872" y="1298448"/>
            <a:ext cx="1778508" cy="2029968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19872" y="1298448"/>
            <a:ext cx="1778508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1463040"/>
            <a:ext cx="17785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22D3EE"/>
                </a:solidFill>
                <a:latin typeface="Segoe UI"/>
              </a:rPr>
              <a:t>1.64 GiB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9872" y="2148840"/>
            <a:ext cx="1778508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8C8DB"/>
                </a:solidFill>
                <a:latin typeface="Segoe UI"/>
              </a:rPr>
              <a:t>Cursor-streamed export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62972" y="1298448"/>
            <a:ext cx="1778508" cy="2029968"/>
          </a:xfrm>
          <a:prstGeom prst="rect">
            <a:avLst/>
          </a:prstGeom>
          <a:solidFill>
            <a:srgbClr val="18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62972" y="1298448"/>
            <a:ext cx="1778508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62972" y="1463040"/>
            <a:ext cx="17785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BBF24"/>
                </a:solidFill>
                <a:latin typeface="Segoe U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62972" y="2148840"/>
            <a:ext cx="1778508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8C8DB"/>
                </a:solidFill>
                <a:latin typeface="Segoe UI"/>
              </a:rPr>
              <a:t>OOM events and API restarts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" y="349300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472" y="363931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Segoe UI"/>
              </a:rPr>
              <a:t>What it demonstrates: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72" y="3977639"/>
            <a:ext cx="2722626" cy="2542032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47472" y="3977639"/>
            <a:ext cx="2722626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4096512"/>
            <a:ext cx="246659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Chunked ingestion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" y="4572000"/>
            <a:ext cx="2466594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Full CSV never loaded into API memory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71266" y="3977639"/>
            <a:ext cx="2722626" cy="2542032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71266" y="3977639"/>
            <a:ext cx="2722626" cy="45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99282" y="4096512"/>
            <a:ext cx="246659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Indexed page queries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99282" y="4572000"/>
            <a:ext cx="2466594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Sub-second tier filters at 8M+ rows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95060" y="3977639"/>
            <a:ext cx="2722626" cy="2542032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95060" y="3977639"/>
            <a:ext cx="2722626" cy="45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23076" y="4096512"/>
            <a:ext cx="246659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Streaming export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23076" y="4572000"/>
            <a:ext cx="2466594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API memory stays flat at 1.64 GiB output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18854" y="3977639"/>
            <a:ext cx="2722626" cy="2542032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18854" y="3977639"/>
            <a:ext cx="2722626" cy="457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46870" y="4096512"/>
            <a:ext cx="246659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Priority triage at scale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46870" y="4572000"/>
            <a:ext cx="2466594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Risk-tier filters and case promotion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82880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6880"/>
                </a:solidFill>
                <a:latin typeface="Segoe UI"/>
              </a:rPr>
              <a:t>LATENCY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940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Keep Scoring Fast. Move Heavy Work Async.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11556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298448"/>
            <a:ext cx="5413248" cy="4187952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98448"/>
            <a:ext cx="5413248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426464"/>
            <a:ext cx="508406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Fast Synchronous Path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" y="1847088"/>
            <a:ext cx="5084064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" y="2286000"/>
            <a:ext cx="5084064" cy="530352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2286000"/>
            <a:ext cx="45720" cy="5303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377440"/>
            <a:ext cx="47183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Feature extraction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2907792"/>
            <a:ext cx="5084064" cy="530352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2907792"/>
            <a:ext cx="45720" cy="5303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999232"/>
            <a:ext cx="47183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XGBoost inference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" y="3529584"/>
            <a:ext cx="5084064" cy="530352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3529584"/>
            <a:ext cx="45720" cy="5303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3621024"/>
            <a:ext cx="47183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Rule engine evaluation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" y="4151376"/>
            <a:ext cx="5084064" cy="530352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4151376"/>
            <a:ext cx="45720" cy="5303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" y="4242816"/>
            <a:ext cx="47183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Decision routing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4773168"/>
            <a:ext cx="5084064" cy="530352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" y="4773168"/>
            <a:ext cx="45720" cy="5303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4944" y="4864608"/>
            <a:ext cx="47183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PostgreSQL persistence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98464" y="1298448"/>
            <a:ext cx="5833872" cy="2176272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98464" y="1298448"/>
            <a:ext cx="5833872" cy="5486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63056" y="142646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Asynchronous Paths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63056" y="1847088"/>
            <a:ext cx="5486400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6" y="2286000"/>
            <a:ext cx="5486400" cy="73152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2286000"/>
            <a:ext cx="45720" cy="7315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45936" y="2359152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Investigation Brief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5936" y="2688336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8DB"/>
                </a:solidFill>
                <a:latin typeface="Segoe UI"/>
              </a:rPr>
              <a:t>Redpanda -&gt; Ollama -&gt; PostgreSQL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63056" y="3163824"/>
            <a:ext cx="5486400" cy="731520"/>
          </a:xfrm>
          <a:prstGeom prst="rect">
            <a:avLst/>
          </a:prstGeom>
          <a:solidFill>
            <a:srgbClr val="080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63056" y="3163824"/>
            <a:ext cx="45720" cy="7315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236976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Portfolio Scan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3566160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8DB"/>
                </a:solidFill>
                <a:latin typeface="Segoe UI"/>
              </a:rPr>
              <a:t>Chunked worker -&gt; indexed PostgreSQL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98464" y="3657600"/>
            <a:ext cx="5833872" cy="1828800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98464" y="3657600"/>
            <a:ext cx="5833872" cy="45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63056" y="376732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Scale Strategy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63056" y="4133087"/>
            <a:ext cx="5486400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63056" y="4251960"/>
            <a:ext cx="36576" cy="32918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27648" y="427024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8DB"/>
                </a:solidFill>
                <a:latin typeface="Segoe UI"/>
              </a:rPr>
              <a:t>Redis caching: Deduplicate repeat requests. 24-hour window.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3056" y="4745736"/>
            <a:ext cx="36576" cy="32918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27648" y="476402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8DB"/>
                </a:solidFill>
                <a:latin typeface="Segoe UI"/>
              </a:rPr>
              <a:t>Horizontal API workers: Add capacity as request volume grows.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63056" y="5239512"/>
            <a:ext cx="36576" cy="32918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27648" y="525780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B8C8DB"/>
                </a:solidFill>
                <a:latin typeface="Segoe UI"/>
              </a:rPr>
              <a:t>Independent consumers: Investigation and portfolio scale separately.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82880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6880"/>
                </a:solidFill>
                <a:latin typeface="Segoe UI"/>
              </a:rPr>
              <a:t>SCALE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940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Scale Path to High-Volume Decisioning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11556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298448"/>
            <a:ext cx="4389120" cy="56692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98448"/>
            <a:ext cx="54864" cy="5669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" y="1353312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B82F6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5" y="137160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Local reproducible runtime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" y="1956815"/>
            <a:ext cx="5413248" cy="56692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" y="1956815"/>
            <a:ext cx="54864" cy="56692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011679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B82F6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2029967"/>
            <a:ext cx="4270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Containerised stateless workers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2615184"/>
            <a:ext cx="6437376" cy="56692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" y="2615184"/>
            <a:ext cx="54864" cy="56692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2670048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5" y="2688336"/>
            <a:ext cx="52943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Managed data layer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3273552"/>
            <a:ext cx="7461504" cy="56692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3273552"/>
            <a:ext cx="54864" cy="56692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3328416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Sego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5" y="3346704"/>
            <a:ext cx="631850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Cached deduplication at scale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" y="3931920"/>
            <a:ext cx="8485632" cy="56692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7472" y="3931920"/>
            <a:ext cx="54864" cy="56692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" y="3986783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4D399"/>
                </a:solidFill>
                <a:latin typeface="Segoe U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5" y="4005072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Queue-backed async workers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" y="4590288"/>
            <a:ext cx="9509760" cy="56692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47472" y="4590288"/>
            <a:ext cx="54864" cy="56692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" y="4645151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4D399"/>
                </a:solidFill>
                <a:latin typeface="Segoe U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5" y="4663440"/>
            <a:ext cx="8366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Observability and SLOs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" y="5248656"/>
            <a:ext cx="10533888" cy="56692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7472" y="5248656"/>
            <a:ext cx="54864" cy="56692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" y="5303520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BBF24"/>
                </a:solidFill>
                <a:latin typeface="Segoe UI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5" y="5321808"/>
            <a:ext cx="93908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Resilience planning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7472" y="6309360"/>
            <a:ext cx="11494008" cy="384048"/>
          </a:xfrm>
          <a:prstGeom prst="rect">
            <a:avLst/>
          </a:prstGeom>
          <a:solidFill>
            <a:srgbClr val="1E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" y="6364224"/>
            <a:ext cx="11494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2D3EE"/>
                </a:solidFill>
                <a:latin typeface="Segoe UI"/>
              </a:rPr>
              <a:t>Each layer scales independently.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82880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6880"/>
                </a:solidFill>
                <a:latin typeface="Segoe UI"/>
              </a:rPr>
              <a:t>INTEGRATION EXPANSION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940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Integration Expansion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11556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2377440"/>
            <a:ext cx="2560320" cy="1645920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2377440"/>
            <a:ext cx="2560320" cy="54864"/>
          </a:xfrm>
          <a:prstGeom prst="rect">
            <a:avLst/>
          </a:prstGeom>
          <a:solidFill>
            <a:srgbClr val="556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252374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C8DB"/>
                </a:solidFill>
                <a:latin typeface="Segoe UI"/>
              </a:rPr>
              <a:t>External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2944368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6880"/>
                </a:solidFill>
                <a:latin typeface="Segoe UI"/>
              </a:rPr>
              <a:t>Payment processor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3273552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6880"/>
                </a:solidFill>
                <a:latin typeface="Segoe UI"/>
              </a:rPr>
              <a:t>Risk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3602736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56880"/>
                </a:solidFill>
                <a:latin typeface="Segoe UI"/>
              </a:rPr>
              <a:t>Case management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9232" y="3035808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B82F6"/>
                </a:solidFill>
                <a:latin typeface="Segoe UI"/>
              </a:rPr>
              <a:t>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377440"/>
            <a:ext cx="3474720" cy="1645920"/>
          </a:xfrm>
          <a:prstGeom prst="rect">
            <a:avLst/>
          </a:prstGeom>
          <a:solidFill>
            <a:srgbClr val="1E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10128" y="2377440"/>
            <a:ext cx="347472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2487168"/>
            <a:ext cx="3328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BBF24"/>
                </a:solidFill>
                <a:latin typeface="Segoe UI"/>
              </a:rPr>
              <a:t>Integration Expansion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816352"/>
            <a:ext cx="3328415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POST /fraud/decision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6432" y="3310128"/>
            <a:ext cx="318211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8C8DB"/>
                </a:solidFill>
                <a:latin typeface="Segoe UI"/>
              </a:rPr>
              <a:t>One API returns the full fraud decision package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3035808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34D399"/>
                </a:solidFill>
                <a:latin typeface="Segoe UI"/>
              </a:rPr>
              <a:t>&gt;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05472" y="1298448"/>
            <a:ext cx="4389120" cy="4389120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05472" y="1298448"/>
            <a:ext cx="4389120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70064" y="1417320"/>
            <a:ext cx="40599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Segoe UI"/>
              </a:rPr>
              <a:t>Decision Package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70064" y="1810512"/>
            <a:ext cx="36576" cy="32918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368" y="182880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4D399"/>
                </a:solidFill>
                <a:latin typeface="Segoe UI"/>
              </a:rPr>
              <a:t>decision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368" y="2029967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8C8DB"/>
                </a:solidFill>
                <a:latin typeface="Segoe UI"/>
              </a:rPr>
              <a:t>BLOCK  /  REVIEW  /  APPROVE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70064" y="2304288"/>
            <a:ext cx="36576" cy="32918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16368" y="232257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4D399"/>
                </a:solidFill>
                <a:latin typeface="Segoe UI"/>
              </a:rPr>
              <a:t>risk_score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16368" y="2523744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8C8DB"/>
                </a:solidFill>
                <a:latin typeface="Segoe UI"/>
              </a:rPr>
              <a:t>Final clipped [0, 1]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70064" y="2798064"/>
            <a:ext cx="36576" cy="32918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16368" y="281635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B82F6"/>
                </a:solidFill>
                <a:latin typeface="Segoe UI"/>
              </a:rPr>
              <a:t>model_score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8" y="3017520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8C8DB"/>
                </a:solidFill>
                <a:latin typeface="Segoe UI"/>
              </a:rPr>
              <a:t>XGBoost base layer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70064" y="3291840"/>
            <a:ext cx="36576" cy="32918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331012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B82F6"/>
                </a:solidFill>
                <a:latin typeface="Segoe UI"/>
              </a:rPr>
              <a:t>reason_codes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3511296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8C8DB"/>
                </a:solidFill>
                <a:latin typeface="Segoe UI"/>
              </a:rPr>
              <a:t>Array of fired reason codes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70064" y="3785616"/>
            <a:ext cx="36576" cy="32918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16368" y="380390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D3EE"/>
                </a:solidFill>
                <a:latin typeface="Segoe UI"/>
              </a:rPr>
              <a:t>case_id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16368" y="40050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8C8DB"/>
                </a:solidFill>
                <a:latin typeface="Segoe UI"/>
              </a:rPr>
              <a:t>Assigned case reference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70064" y="4279392"/>
            <a:ext cx="36576" cy="329184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16368" y="4297679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2D3EE"/>
                </a:solidFill>
                <a:latin typeface="Segoe UI"/>
              </a:rPr>
              <a:t>audit_trace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16368" y="449884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8C8DB"/>
                </a:solidFill>
                <a:latin typeface="Segoe UI"/>
              </a:rPr>
              <a:t>Audit event reference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70064" y="4773168"/>
            <a:ext cx="36576" cy="32918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16368" y="479145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BBF24"/>
                </a:solidFill>
                <a:latin typeface="Segoe UI"/>
              </a:rPr>
              <a:t>next_action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16368" y="4992624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B8C8DB"/>
                </a:solidFill>
                <a:latin typeface="Segoe UI"/>
              </a:rPr>
              <a:t>Recommended analyst action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7472" y="422452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7472" y="4343400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56880"/>
                </a:solidFill>
                <a:latin typeface="Segoe UI"/>
              </a:rPr>
              <a:t>Current surface: 27 endpoints across scoring, cases, investigation, workflow, audit, portfolio, and reliability.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0880" y="4343400"/>
            <a:ext cx="48188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3B82F6"/>
                </a:solidFill>
                <a:latin typeface="Segoe UI"/>
              </a:rPr>
              <a:t>docs/INTEGRATION_API_BLUEPRINT.md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82880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6880"/>
                </a:solidFill>
                <a:latin typeface="Segoe UI"/>
              </a:rPr>
              <a:t>DEPLOYMENT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940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Protect Product Quality Before Public Cloud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11556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298448"/>
            <a:ext cx="5376672" cy="495604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98448"/>
            <a:ext cx="5376672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44752"/>
            <a:ext cx="5010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4D399"/>
                </a:solidFill>
                <a:latin typeface="Segoe UI"/>
              </a:rPr>
              <a:t>Current Inspection Package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883664"/>
            <a:ext cx="5010912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" y="2011680"/>
            <a:ext cx="45720" cy="40233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02996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8DB"/>
                </a:solidFill>
                <a:latin typeface="Segoe UI"/>
              </a:rPr>
              <a:t>GitHub repo with full source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2633472"/>
            <a:ext cx="45720" cy="40233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651760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8DB"/>
                </a:solidFill>
                <a:latin typeface="Segoe UI"/>
              </a:rPr>
              <a:t>External video walkthrough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3255264"/>
            <a:ext cx="45720" cy="40233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27355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8DB"/>
                </a:solidFill>
                <a:latin typeface="Segoe UI"/>
              </a:rPr>
              <a:t>Docker Compose local runtime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" y="3877056"/>
            <a:ext cx="45720" cy="40233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89534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8DB"/>
                </a:solidFill>
                <a:latin typeface="Segoe UI"/>
              </a:rPr>
              <a:t>All 9 services validated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" y="4498848"/>
            <a:ext cx="45720" cy="40233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451713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8DB"/>
                </a:solidFill>
                <a:latin typeface="Segoe UI"/>
              </a:rPr>
              <a:t>41/41 checks and 10M benchmark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" y="5120640"/>
            <a:ext cx="45720" cy="40233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513892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8DB"/>
                </a:solidFill>
                <a:latin typeface="Segoe UI"/>
              </a:rPr>
              <a:t>Reviewer access: localhost:3000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53328" y="1298448"/>
            <a:ext cx="5779008" cy="4956048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53328" y="1298448"/>
            <a:ext cx="5779008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36208" y="1444752"/>
            <a:ext cx="54132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BBF24"/>
                </a:solidFill>
                <a:latin typeface="Segoe UI"/>
              </a:rPr>
              <a:t>Cloud Scale Package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6208" y="1883664"/>
            <a:ext cx="541324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2011680"/>
            <a:ext cx="45720" cy="40233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029968"/>
            <a:ext cx="5193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8DB"/>
                </a:solidFill>
                <a:latin typeface="Segoe UI"/>
              </a:rPr>
              <a:t>Auth and RBAC (design documented)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6208" y="2633472"/>
            <a:ext cx="45720" cy="40233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2651760"/>
            <a:ext cx="5193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8DB"/>
                </a:solidFill>
                <a:latin typeface="Segoe UI"/>
              </a:rPr>
              <a:t>TLS, ingress, managed certificates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36208" y="3255264"/>
            <a:ext cx="45720" cy="40233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3273552"/>
            <a:ext cx="5193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8DB"/>
                </a:solidFill>
                <a:latin typeface="Segoe UI"/>
              </a:rPr>
              <a:t>Managed PostgreSQL and Redis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6208" y="3877056"/>
            <a:ext cx="45720" cy="40233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895344"/>
            <a:ext cx="5193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8DB"/>
                </a:solidFill>
                <a:latin typeface="Segoe UI"/>
              </a:rPr>
              <a:t>Managed message broker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6208" y="4498848"/>
            <a:ext cx="45720" cy="40233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4517136"/>
            <a:ext cx="5193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8DB"/>
                </a:solidFill>
                <a:latin typeface="Segoe UI"/>
              </a:rPr>
              <a:t>Horizontally scaled API workers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36208" y="5120640"/>
            <a:ext cx="45720" cy="40233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9088" y="5138928"/>
            <a:ext cx="51937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8C8DB"/>
                </a:solidFill>
                <a:latin typeface="Segoe UI"/>
              </a:rPr>
              <a:t>Observability, secrets, SLO alerting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72" y="6455664"/>
            <a:ext cx="11494008" cy="292608"/>
          </a:xfrm>
          <a:prstGeom prst="rect">
            <a:avLst/>
          </a:prstGeom>
          <a:solidFill>
            <a:srgbClr val="1E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0352" y="6492240"/>
            <a:ext cx="11064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22D3EE"/>
                </a:solidFill>
                <a:latin typeface="Segoe UI"/>
              </a:rPr>
              <a:t>Full-stack cloud should be built deliberately, not forced onto fragile free tiers.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82880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6880"/>
                </a:solidFill>
                <a:latin typeface="Segoe UI"/>
              </a:rPr>
              <a:t>EXECUTIVE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7472" y="438912"/>
            <a:ext cx="114940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Segoe UI"/>
              </a:rPr>
              <a:t>What Reviewers Should Take Away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115568"/>
            <a:ext cx="11494008" cy="20116"/>
          </a:xfrm>
          <a:prstGeom prst="rect">
            <a:avLst/>
          </a:prstGeom>
          <a:solidFill>
            <a:srgbClr val="3A4A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298448"/>
            <a:ext cx="11494008" cy="804672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98448"/>
            <a:ext cx="54864" cy="80467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End-to-end fraud intelligence 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389888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Nine connected stages. All implemented.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" y="2194560"/>
            <a:ext cx="11494008" cy="804672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" y="2194560"/>
            <a:ext cx="54864" cy="804672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2677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Hybrid scoring with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Reason codes per layer. Fully traceable.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3090672"/>
            <a:ext cx="11494008" cy="804672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" y="3090672"/>
            <a:ext cx="54864" cy="8046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163824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Analyst-controlled case decisioning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182112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AI brief advisory. Verdict always required.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3986783"/>
            <a:ext cx="11494008" cy="804672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3986783"/>
            <a:ext cx="54864" cy="80467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059935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Audit-ready workflow trail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4078223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Timestamped, sourced, case-linked.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" y="4882896"/>
            <a:ext cx="11494008" cy="804672"/>
          </a:xfrm>
          <a:prstGeom prst="rect">
            <a:avLst/>
          </a:prstGeom>
          <a:solidFill>
            <a:srgbClr val="0F1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7472" y="4882896"/>
            <a:ext cx="54864" cy="804672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956048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Clear path to scale and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4974336"/>
            <a:ext cx="5623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8DB"/>
                </a:solidFill>
                <a:latin typeface="Segoe UI"/>
              </a:rPr>
              <a:t>7-stage roadmap. Integration facade designed.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" y="5925312"/>
            <a:ext cx="11494008" cy="685800"/>
          </a:xfrm>
          <a:prstGeom prst="rect">
            <a:avLst/>
          </a:prstGeom>
          <a:solidFill>
            <a:srgbClr val="1E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" y="6035040"/>
            <a:ext cx="114940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From isolated scores to evidence-led fraud decisioning.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
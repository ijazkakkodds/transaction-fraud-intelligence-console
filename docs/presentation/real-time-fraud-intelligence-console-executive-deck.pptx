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product and the problem it solves. This is a fully-implemented, locally-runnable fraud intelligence console: scoring, triage, investigation, audit, and portfolio scan in a single analyst workflow. The six metric tiles are validated figures from the release-readiness suite and portfolio benchmark.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operational gap this product addresses. Fraud teams typically have a risk score but no workflow connecting it to analyst action, audit trail, or AI advisory support. The console closes that gap end-to-end.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8-stage analyst lifecycle. Each stage is a distinct product surface with a clear handoff to the next. Emphasise that the system connects every stage into a single coherent workflow rather than treating them as independent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7-service microservice topology. Each service is independently runnable and has a defined role. Highlight that the model artifact was trained offline and served as a static file, keeping the scoring path deterministic and fast.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analyst entry point: the command center gives operational orientation, then the review queue provides structured triage. Emphasise that the queue is ranked by priority tier, not just score, and that SLA pressure is visible before the analyst opens any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evidence grouping design. Each group corresponds to a distinct scoring layer. The analyst can see which layer fired and what it contributes, not just a flat list of signals. Model attribution section shows the score contribution from each of the four layers.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AI investigation brief layer. Key governance points: schema-validated LLM output, retry with error feedback, AGENT_VERSION traceability on every brief, and analyst-only final verdict. No automated path from LLM recommendation to case action exists.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portfolio-scale benchmark results. All five metrics are documented, repeatable, and verifiable in source code. Key architectural properties that enable this scale: chunked ingestion (no full CSV in heap), cursor-streamed export (no full result set in API memory), composite indexes for sub-second pagination.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proposed POST /fraud/decision integration facade. This endpoint is NOT YET IMPLEMENTED. It is an architecture proposal. Distinguish clearly between the existing 27-endpoint API (implemented) and the proposed unified facade (blueprint only). The current API surfaces scoring, investigation, workflow, audit, and scan endpoints.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local-first deployment recommendation. The system is not deployed. It runs locally on localhost. This is intentional: the inspection package is designed for portfolio review, not operational deployment. Cloud deployment is deferred to Phase 21 pending auth, TLS, environment configuration, and institution-specific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security posture honestly. In-scope items are implemented. Deferred items are documented design decisions, not oversights. Refer to docs/AUTH_RBAC_DESIGN.md and docs/SECURITY_POSTURE.md for the full rationale behind each deferral.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directing the reviewer to the inspection checklist. All 14 source files are named and locatable. The validation suite, benchmark results, and documentation are all co-located in the repo. Emphasise that every claim in this deck is backed by source code, a test result, or a documented design decision.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05840"/>
            <a:ext cx="11155680" cy="822960"/>
          </a:xfrm>
          <a:prstGeom prst="rect">
            <a:avLst/>
          </a:prstGeom>
          <a:noFill/>
        </p:spPr>
        <p:txBody>
          <a:bodyPr wrap="square">
            <a:spAutoFit/>
          </a:bodyPr>
          <a:lstStyle/>
          <a:p>
            <a:pPr algn="ctr"/>
            <a:r>
              <a:rPr sz="4000" b="1">
                <a:solidFill>
                  <a:srgbClr val="FFFFFF"/>
                </a:solidFill>
                <a:latin typeface="Segoe UI"/>
              </a:rPr>
              <a:t>Real-Time Fraud Intelligence Console</a:t>
            </a:r>
          </a:p>
        </p:txBody>
      </p:sp>
      <p:sp>
        <p:nvSpPr>
          <p:cNvPr id="4" name="TextBox 3"/>
          <p:cNvSpPr txBox="1"/>
          <p:nvPr/>
        </p:nvSpPr>
        <p:spPr>
          <a:xfrm>
            <a:off x="502920" y="1828800"/>
            <a:ext cx="11155680" cy="365760"/>
          </a:xfrm>
          <a:prstGeom prst="rect">
            <a:avLst/>
          </a:prstGeom>
          <a:noFill/>
        </p:spPr>
        <p:txBody>
          <a:bodyPr wrap="square">
            <a:spAutoFit/>
          </a:bodyPr>
          <a:lstStyle/>
          <a:p>
            <a:pPr algn="ctr"/>
            <a:r>
              <a:rPr sz="1700" b="0">
                <a:solidFill>
                  <a:srgbClr val="22D3EE"/>
                </a:solidFill>
                <a:latin typeface="Segoe UI"/>
              </a:rPr>
              <a:t>Scoring  |  Triage  |  Investigation  |  Audit  |  Portfolio Scan</a:t>
            </a:r>
          </a:p>
        </p:txBody>
      </p:sp>
      <p:sp>
        <p:nvSpPr>
          <p:cNvPr id="5" name="Rectangle 4"/>
          <p:cNvSpPr/>
          <p:nvPr/>
        </p:nvSpPr>
        <p:spPr>
          <a:xfrm>
            <a:off x="320040" y="237744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2743200"/>
            <a:ext cx="329184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834640"/>
            <a:ext cx="3017520" cy="502920"/>
          </a:xfrm>
          <a:prstGeom prst="rect">
            <a:avLst/>
          </a:prstGeom>
          <a:noFill/>
        </p:spPr>
        <p:txBody>
          <a:bodyPr wrap="square">
            <a:spAutoFit/>
          </a:bodyPr>
          <a:lstStyle/>
          <a:p>
            <a:pPr algn="ctr"/>
            <a:r>
              <a:rPr sz="2600" b="1">
                <a:solidFill>
                  <a:srgbClr val="34D399"/>
                </a:solidFill>
                <a:latin typeface="Segoe UI"/>
              </a:rPr>
              <a:t>41 / 41</a:t>
            </a:r>
          </a:p>
        </p:txBody>
      </p:sp>
      <p:sp>
        <p:nvSpPr>
          <p:cNvPr id="8" name="TextBox 7"/>
          <p:cNvSpPr txBox="1"/>
          <p:nvPr/>
        </p:nvSpPr>
        <p:spPr>
          <a:xfrm>
            <a:off x="640080" y="3364992"/>
            <a:ext cx="3017520" cy="411480"/>
          </a:xfrm>
          <a:prstGeom prst="rect">
            <a:avLst/>
          </a:prstGeom>
          <a:noFill/>
        </p:spPr>
        <p:txBody>
          <a:bodyPr wrap="square">
            <a:spAutoFit/>
          </a:bodyPr>
          <a:lstStyle/>
          <a:p>
            <a:pPr algn="ctr"/>
            <a:r>
              <a:rPr sz="1200" b="0">
                <a:solidFill>
                  <a:srgbClr val="CBD5E1"/>
                </a:solidFill>
                <a:latin typeface="Segoe UI"/>
              </a:rPr>
              <a:t>Validation checks</a:t>
            </a:r>
          </a:p>
        </p:txBody>
      </p:sp>
      <p:sp>
        <p:nvSpPr>
          <p:cNvPr id="9" name="Rectangle 8"/>
          <p:cNvSpPr/>
          <p:nvPr/>
        </p:nvSpPr>
        <p:spPr>
          <a:xfrm>
            <a:off x="4590288" y="2743200"/>
            <a:ext cx="329184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27448" y="2834640"/>
            <a:ext cx="3017520" cy="502920"/>
          </a:xfrm>
          <a:prstGeom prst="rect">
            <a:avLst/>
          </a:prstGeom>
          <a:noFill/>
        </p:spPr>
        <p:txBody>
          <a:bodyPr wrap="square">
            <a:spAutoFit/>
          </a:bodyPr>
          <a:lstStyle/>
          <a:p>
            <a:pPr algn="ctr"/>
            <a:r>
              <a:rPr sz="2600" b="1">
                <a:solidFill>
                  <a:srgbClr val="34D399"/>
                </a:solidFill>
                <a:latin typeface="Segoe UI"/>
              </a:rPr>
              <a:t>11 / 11</a:t>
            </a:r>
          </a:p>
        </p:txBody>
      </p:sp>
      <p:sp>
        <p:nvSpPr>
          <p:cNvPr id="11" name="TextBox 10"/>
          <p:cNvSpPr txBox="1"/>
          <p:nvPr/>
        </p:nvSpPr>
        <p:spPr>
          <a:xfrm>
            <a:off x="4727448" y="3364992"/>
            <a:ext cx="3017520" cy="411480"/>
          </a:xfrm>
          <a:prstGeom prst="rect">
            <a:avLst/>
          </a:prstGeom>
          <a:noFill/>
        </p:spPr>
        <p:txBody>
          <a:bodyPr wrap="square">
            <a:spAutoFit/>
          </a:bodyPr>
          <a:lstStyle/>
          <a:p>
            <a:pPr algn="ctr"/>
            <a:r>
              <a:rPr sz="1200" b="0">
                <a:solidFill>
                  <a:srgbClr val="CBD5E1"/>
                </a:solidFill>
                <a:latin typeface="Segoe UI"/>
              </a:rPr>
              <a:t>Benchmark metrics</a:t>
            </a:r>
          </a:p>
        </p:txBody>
      </p:sp>
      <p:sp>
        <p:nvSpPr>
          <p:cNvPr id="12" name="Rectangle 11"/>
          <p:cNvSpPr/>
          <p:nvPr/>
        </p:nvSpPr>
        <p:spPr>
          <a:xfrm>
            <a:off x="8677656" y="2743200"/>
            <a:ext cx="329184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6" y="2834640"/>
            <a:ext cx="3017520" cy="502920"/>
          </a:xfrm>
          <a:prstGeom prst="rect">
            <a:avLst/>
          </a:prstGeom>
          <a:noFill/>
        </p:spPr>
        <p:txBody>
          <a:bodyPr wrap="square">
            <a:spAutoFit/>
          </a:bodyPr>
          <a:lstStyle/>
          <a:p>
            <a:pPr algn="ctr"/>
            <a:r>
              <a:rPr sz="2600" b="1">
                <a:solidFill>
                  <a:srgbClr val="34D399"/>
                </a:solidFill>
                <a:latin typeface="Segoe UI"/>
              </a:rPr>
              <a:t>10 M rows</a:t>
            </a:r>
          </a:p>
        </p:txBody>
      </p:sp>
      <p:sp>
        <p:nvSpPr>
          <p:cNvPr id="14" name="TextBox 13"/>
          <p:cNvSpPr txBox="1"/>
          <p:nvPr/>
        </p:nvSpPr>
        <p:spPr>
          <a:xfrm>
            <a:off x="8814816" y="3364992"/>
            <a:ext cx="3017520" cy="411480"/>
          </a:xfrm>
          <a:prstGeom prst="rect">
            <a:avLst/>
          </a:prstGeom>
          <a:noFill/>
        </p:spPr>
        <p:txBody>
          <a:bodyPr wrap="square">
            <a:spAutoFit/>
          </a:bodyPr>
          <a:lstStyle/>
          <a:p>
            <a:pPr algn="ctr"/>
            <a:r>
              <a:rPr sz="1200" b="0">
                <a:solidFill>
                  <a:srgbClr val="CBD5E1"/>
                </a:solidFill>
                <a:latin typeface="Segoe UI"/>
              </a:rPr>
              <a:t>Portfolio scan scale</a:t>
            </a:r>
          </a:p>
        </p:txBody>
      </p:sp>
      <p:sp>
        <p:nvSpPr>
          <p:cNvPr id="15" name="Rectangle 14"/>
          <p:cNvSpPr/>
          <p:nvPr/>
        </p:nvSpPr>
        <p:spPr>
          <a:xfrm>
            <a:off x="502920" y="4160520"/>
            <a:ext cx="329184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251959"/>
            <a:ext cx="3017520" cy="502920"/>
          </a:xfrm>
          <a:prstGeom prst="rect">
            <a:avLst/>
          </a:prstGeom>
          <a:noFill/>
        </p:spPr>
        <p:txBody>
          <a:bodyPr wrap="square">
            <a:spAutoFit/>
          </a:bodyPr>
          <a:lstStyle/>
          <a:p>
            <a:pPr algn="ctr"/>
            <a:r>
              <a:rPr sz="2600" b="1">
                <a:solidFill>
                  <a:srgbClr val="34D399"/>
                </a:solidFill>
                <a:latin typeface="Segoe UI"/>
              </a:rPr>
              <a:t>7 services</a:t>
            </a:r>
          </a:p>
        </p:txBody>
      </p:sp>
      <p:sp>
        <p:nvSpPr>
          <p:cNvPr id="17" name="TextBox 16"/>
          <p:cNvSpPr txBox="1"/>
          <p:nvPr/>
        </p:nvSpPr>
        <p:spPr>
          <a:xfrm>
            <a:off x="640080" y="4782312"/>
            <a:ext cx="3017520" cy="411480"/>
          </a:xfrm>
          <a:prstGeom prst="rect">
            <a:avLst/>
          </a:prstGeom>
          <a:noFill/>
        </p:spPr>
        <p:txBody>
          <a:bodyPr wrap="square">
            <a:spAutoFit/>
          </a:bodyPr>
          <a:lstStyle/>
          <a:p>
            <a:pPr algn="ctr"/>
            <a:r>
              <a:rPr sz="1200" b="0">
                <a:solidFill>
                  <a:srgbClr val="CBD5E1"/>
                </a:solidFill>
                <a:latin typeface="Segoe UI"/>
              </a:rPr>
              <a:t>Microservice topology</a:t>
            </a:r>
          </a:p>
        </p:txBody>
      </p:sp>
      <p:sp>
        <p:nvSpPr>
          <p:cNvPr id="18" name="Rectangle 17"/>
          <p:cNvSpPr/>
          <p:nvPr/>
        </p:nvSpPr>
        <p:spPr>
          <a:xfrm>
            <a:off x="4590288" y="4160520"/>
            <a:ext cx="329184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27448" y="4251959"/>
            <a:ext cx="3017520" cy="502920"/>
          </a:xfrm>
          <a:prstGeom prst="rect">
            <a:avLst/>
          </a:prstGeom>
          <a:noFill/>
        </p:spPr>
        <p:txBody>
          <a:bodyPr wrap="square">
            <a:spAutoFit/>
          </a:bodyPr>
          <a:lstStyle/>
          <a:p>
            <a:pPr algn="ctr"/>
            <a:r>
              <a:rPr sz="2600" b="1">
                <a:solidFill>
                  <a:srgbClr val="34D399"/>
                </a:solidFill>
                <a:latin typeface="Segoe UI"/>
              </a:rPr>
              <a:t>27 endpoints</a:t>
            </a:r>
          </a:p>
        </p:txBody>
      </p:sp>
      <p:sp>
        <p:nvSpPr>
          <p:cNvPr id="20" name="TextBox 19"/>
          <p:cNvSpPr txBox="1"/>
          <p:nvPr/>
        </p:nvSpPr>
        <p:spPr>
          <a:xfrm>
            <a:off x="4727448" y="4782312"/>
            <a:ext cx="3017520" cy="411480"/>
          </a:xfrm>
          <a:prstGeom prst="rect">
            <a:avLst/>
          </a:prstGeom>
          <a:noFill/>
        </p:spPr>
        <p:txBody>
          <a:bodyPr wrap="square">
            <a:spAutoFit/>
          </a:bodyPr>
          <a:lstStyle/>
          <a:p>
            <a:pPr algn="ctr"/>
            <a:r>
              <a:rPr sz="1200" b="0">
                <a:solidFill>
                  <a:srgbClr val="CBD5E1"/>
                </a:solidFill>
                <a:latin typeface="Segoe UI"/>
              </a:rPr>
              <a:t>API surface</a:t>
            </a:r>
          </a:p>
        </p:txBody>
      </p:sp>
      <p:sp>
        <p:nvSpPr>
          <p:cNvPr id="21" name="Rectangle 20"/>
          <p:cNvSpPr/>
          <p:nvPr/>
        </p:nvSpPr>
        <p:spPr>
          <a:xfrm>
            <a:off x="8677656" y="4160520"/>
            <a:ext cx="329184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14816" y="4251959"/>
            <a:ext cx="3017520" cy="502920"/>
          </a:xfrm>
          <a:prstGeom prst="rect">
            <a:avLst/>
          </a:prstGeom>
          <a:noFill/>
        </p:spPr>
        <p:txBody>
          <a:bodyPr wrap="square">
            <a:spAutoFit/>
          </a:bodyPr>
          <a:lstStyle/>
          <a:p>
            <a:pPr algn="ctr"/>
            <a:r>
              <a:rPr sz="2600" b="1">
                <a:solidFill>
                  <a:srgbClr val="34D399"/>
                </a:solidFill>
                <a:latin typeface="Segoe UI"/>
              </a:rPr>
              <a:t>8 routes</a:t>
            </a:r>
          </a:p>
        </p:txBody>
      </p:sp>
      <p:sp>
        <p:nvSpPr>
          <p:cNvPr id="23" name="TextBox 22"/>
          <p:cNvSpPr txBox="1"/>
          <p:nvPr/>
        </p:nvSpPr>
        <p:spPr>
          <a:xfrm>
            <a:off x="8814816" y="4782312"/>
            <a:ext cx="3017520" cy="411480"/>
          </a:xfrm>
          <a:prstGeom prst="rect">
            <a:avLst/>
          </a:prstGeom>
          <a:noFill/>
        </p:spPr>
        <p:txBody>
          <a:bodyPr wrap="square">
            <a:spAutoFit/>
          </a:bodyPr>
          <a:lstStyle/>
          <a:p>
            <a:pPr algn="ctr"/>
            <a:r>
              <a:rPr sz="1200" b="0">
                <a:solidFill>
                  <a:srgbClr val="CBD5E1"/>
                </a:solidFill>
                <a:latin typeface="Segoe UI"/>
              </a:rPr>
              <a:t>Analyst-facing screens</a:t>
            </a:r>
          </a:p>
        </p:txBody>
      </p:sp>
      <p:sp>
        <p:nvSpPr>
          <p:cNvPr id="24" name="TextBox 23"/>
          <p:cNvSpPr txBox="1"/>
          <p:nvPr/>
        </p:nvSpPr>
        <p:spPr>
          <a:xfrm>
            <a:off x="502920" y="6309360"/>
            <a:ext cx="11155680" cy="320040"/>
          </a:xfrm>
          <a:prstGeom prst="rect">
            <a:avLst/>
          </a:prstGeom>
          <a:noFill/>
        </p:spPr>
        <p:txBody>
          <a:bodyPr wrap="square">
            <a:spAutoFit/>
          </a:bodyPr>
          <a:lstStyle/>
          <a:p>
            <a:pPr algn="ctr"/>
            <a:r>
              <a:rPr sz="1000" b="0">
                <a:solidFill>
                  <a:srgbClr val="64748B"/>
                </a:solidFill>
                <a:latin typeface="Segoe UI"/>
              </a:rPr>
              <a:t>Local inspection package  |  PostgreSQL + Redpanda + Ollama + Next.js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PROBLEM</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Fraud decisioning is a workflow problem, not a scoring problem.</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80160"/>
            <a:ext cx="1152144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548640" cy="822960"/>
          </a:xfrm>
          <a:prstGeom prst="rect">
            <a:avLst/>
          </a:prstGeom>
          <a:noFill/>
        </p:spPr>
        <p:txBody>
          <a:bodyPr wrap="square">
            <a:spAutoFit/>
          </a:bodyPr>
          <a:lstStyle/>
          <a:p>
            <a:pPr algn="l"/>
            <a:r>
              <a:rPr sz="2800" b="1">
                <a:solidFill>
                  <a:srgbClr val="3B82F6"/>
                </a:solidFill>
                <a:latin typeface="Segoe UI"/>
              </a:rPr>
              <a:t>01</a:t>
            </a:r>
          </a:p>
        </p:txBody>
      </p:sp>
      <p:sp>
        <p:nvSpPr>
          <p:cNvPr id="8" name="TextBox 7"/>
          <p:cNvSpPr txBox="1"/>
          <p:nvPr/>
        </p:nvSpPr>
        <p:spPr>
          <a:xfrm>
            <a:off x="1188720" y="1353312"/>
            <a:ext cx="10241280" cy="384048"/>
          </a:xfrm>
          <a:prstGeom prst="rect">
            <a:avLst/>
          </a:prstGeom>
          <a:noFill/>
        </p:spPr>
        <p:txBody>
          <a:bodyPr wrap="square">
            <a:spAutoFit/>
          </a:bodyPr>
          <a:lstStyle/>
          <a:p>
            <a:pPr algn="l"/>
            <a:r>
              <a:rPr sz="1400" b="1">
                <a:solidFill>
                  <a:srgbClr val="FFFFFF"/>
                </a:solidFill>
                <a:latin typeface="Segoe UI"/>
              </a:rPr>
              <a:t>A risk score without triage is noise.</a:t>
            </a:r>
          </a:p>
        </p:txBody>
      </p:sp>
      <p:sp>
        <p:nvSpPr>
          <p:cNvPr id="9" name="TextBox 8"/>
          <p:cNvSpPr txBox="1"/>
          <p:nvPr/>
        </p:nvSpPr>
        <p:spPr>
          <a:xfrm>
            <a:off x="1188720" y="1783080"/>
            <a:ext cx="10241280" cy="457200"/>
          </a:xfrm>
          <a:prstGeom prst="rect">
            <a:avLst/>
          </a:prstGeom>
          <a:noFill/>
        </p:spPr>
        <p:txBody>
          <a:bodyPr wrap="square">
            <a:spAutoFit/>
          </a:bodyPr>
          <a:lstStyle/>
          <a:p>
            <a:pPr algn="l"/>
            <a:r>
              <a:rPr sz="1100" b="0">
                <a:solidFill>
                  <a:srgbClr val="CBD5E1"/>
                </a:solidFill>
                <a:latin typeface="Segoe UI"/>
              </a:rPr>
              <a:t>Analysts need a structured queue with priority tiers, not a raw score feed.</a:t>
            </a:r>
          </a:p>
        </p:txBody>
      </p:sp>
      <p:sp>
        <p:nvSpPr>
          <p:cNvPr id="10" name="Rectangle 9"/>
          <p:cNvSpPr/>
          <p:nvPr/>
        </p:nvSpPr>
        <p:spPr>
          <a:xfrm>
            <a:off x="320040" y="2514600"/>
            <a:ext cx="1152144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606040"/>
            <a:ext cx="548640" cy="822960"/>
          </a:xfrm>
          <a:prstGeom prst="rect">
            <a:avLst/>
          </a:prstGeom>
          <a:noFill/>
        </p:spPr>
        <p:txBody>
          <a:bodyPr wrap="square">
            <a:spAutoFit/>
          </a:bodyPr>
          <a:lstStyle/>
          <a:p>
            <a:pPr algn="l"/>
            <a:r>
              <a:rPr sz="2800" b="1">
                <a:solidFill>
                  <a:srgbClr val="3B82F6"/>
                </a:solidFill>
                <a:latin typeface="Segoe UI"/>
              </a:rPr>
              <a:t>02</a:t>
            </a:r>
          </a:p>
        </p:txBody>
      </p:sp>
      <p:sp>
        <p:nvSpPr>
          <p:cNvPr id="12" name="TextBox 11"/>
          <p:cNvSpPr txBox="1"/>
          <p:nvPr/>
        </p:nvSpPr>
        <p:spPr>
          <a:xfrm>
            <a:off x="1188720" y="2587752"/>
            <a:ext cx="10241280" cy="384048"/>
          </a:xfrm>
          <a:prstGeom prst="rect">
            <a:avLst/>
          </a:prstGeom>
          <a:noFill/>
        </p:spPr>
        <p:txBody>
          <a:bodyPr wrap="square">
            <a:spAutoFit/>
          </a:bodyPr>
          <a:lstStyle/>
          <a:p>
            <a:pPr algn="l"/>
            <a:r>
              <a:rPr sz="1400" b="1">
                <a:solidFill>
                  <a:srgbClr val="FFFFFF"/>
                </a:solidFill>
                <a:latin typeface="Segoe UI"/>
              </a:rPr>
              <a:t>Evidence without grouping is a flat list.</a:t>
            </a:r>
          </a:p>
        </p:txBody>
      </p:sp>
      <p:sp>
        <p:nvSpPr>
          <p:cNvPr id="13" name="TextBox 12"/>
          <p:cNvSpPr txBox="1"/>
          <p:nvPr/>
        </p:nvSpPr>
        <p:spPr>
          <a:xfrm>
            <a:off x="1188720" y="3017520"/>
            <a:ext cx="10241280" cy="457200"/>
          </a:xfrm>
          <a:prstGeom prst="rect">
            <a:avLst/>
          </a:prstGeom>
          <a:noFill/>
        </p:spPr>
        <p:txBody>
          <a:bodyPr wrap="square">
            <a:spAutoFit/>
          </a:bodyPr>
          <a:lstStyle/>
          <a:p>
            <a:pPr algn="l"/>
            <a:r>
              <a:rPr sz="1100" b="0">
                <a:solidFill>
                  <a:srgbClr val="CBD5E1"/>
                </a:solidFill>
                <a:latin typeface="Segoe UI"/>
              </a:rPr>
              <a:t>Base, rich, behavioural, and graph signals have different investigative weight. Mixing them obscures the picture.</a:t>
            </a:r>
          </a:p>
        </p:txBody>
      </p:sp>
      <p:sp>
        <p:nvSpPr>
          <p:cNvPr id="14" name="Rectangle 13"/>
          <p:cNvSpPr/>
          <p:nvPr/>
        </p:nvSpPr>
        <p:spPr>
          <a:xfrm>
            <a:off x="320040" y="3749039"/>
            <a:ext cx="1152144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840479"/>
            <a:ext cx="548640" cy="822960"/>
          </a:xfrm>
          <a:prstGeom prst="rect">
            <a:avLst/>
          </a:prstGeom>
          <a:noFill/>
        </p:spPr>
        <p:txBody>
          <a:bodyPr wrap="square">
            <a:spAutoFit/>
          </a:bodyPr>
          <a:lstStyle/>
          <a:p>
            <a:pPr algn="l"/>
            <a:r>
              <a:rPr sz="2800" b="1">
                <a:solidFill>
                  <a:srgbClr val="3B82F6"/>
                </a:solidFill>
                <a:latin typeface="Segoe UI"/>
              </a:rPr>
              <a:t>03</a:t>
            </a:r>
          </a:p>
        </p:txBody>
      </p:sp>
      <p:sp>
        <p:nvSpPr>
          <p:cNvPr id="16" name="TextBox 15"/>
          <p:cNvSpPr txBox="1"/>
          <p:nvPr/>
        </p:nvSpPr>
        <p:spPr>
          <a:xfrm>
            <a:off x="1188720" y="3822191"/>
            <a:ext cx="10241280" cy="384048"/>
          </a:xfrm>
          <a:prstGeom prst="rect">
            <a:avLst/>
          </a:prstGeom>
          <a:noFill/>
        </p:spPr>
        <p:txBody>
          <a:bodyPr wrap="square">
            <a:spAutoFit/>
          </a:bodyPr>
          <a:lstStyle/>
          <a:p>
            <a:pPr algn="l"/>
            <a:r>
              <a:rPr sz="1400" b="1">
                <a:solidFill>
                  <a:srgbClr val="FFFFFF"/>
                </a:solidFill>
                <a:latin typeface="Segoe UI"/>
              </a:rPr>
              <a:t>AI recommendations without governance are unaccountable.</a:t>
            </a:r>
          </a:p>
        </p:txBody>
      </p:sp>
      <p:sp>
        <p:nvSpPr>
          <p:cNvPr id="17" name="TextBox 16"/>
          <p:cNvSpPr txBox="1"/>
          <p:nvPr/>
        </p:nvSpPr>
        <p:spPr>
          <a:xfrm>
            <a:off x="1188720" y="4251959"/>
            <a:ext cx="10241280" cy="457200"/>
          </a:xfrm>
          <a:prstGeom prst="rect">
            <a:avLst/>
          </a:prstGeom>
          <a:noFill/>
        </p:spPr>
        <p:txBody>
          <a:bodyPr wrap="square">
            <a:spAutoFit/>
          </a:bodyPr>
          <a:lstStyle/>
          <a:p>
            <a:pPr algn="l"/>
            <a:r>
              <a:rPr sz="1100" b="0">
                <a:solidFill>
                  <a:srgbClr val="CBD5E1"/>
                </a:solidFill>
                <a:latin typeface="Segoe UI"/>
              </a:rPr>
              <a:t>Every LLM brief must be version-tracked, schema-validated, and advisory only. Analyst verdict is always required.</a:t>
            </a:r>
          </a:p>
        </p:txBody>
      </p:sp>
      <p:sp>
        <p:nvSpPr>
          <p:cNvPr id="18" name="Rectangle 17"/>
          <p:cNvSpPr/>
          <p:nvPr/>
        </p:nvSpPr>
        <p:spPr>
          <a:xfrm>
            <a:off x="320040" y="4983480"/>
            <a:ext cx="1152144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5074920"/>
            <a:ext cx="548640" cy="822960"/>
          </a:xfrm>
          <a:prstGeom prst="rect">
            <a:avLst/>
          </a:prstGeom>
          <a:noFill/>
        </p:spPr>
        <p:txBody>
          <a:bodyPr wrap="square">
            <a:spAutoFit/>
          </a:bodyPr>
          <a:lstStyle/>
          <a:p>
            <a:pPr algn="l"/>
            <a:r>
              <a:rPr sz="2800" b="1">
                <a:solidFill>
                  <a:srgbClr val="3B82F6"/>
                </a:solidFill>
                <a:latin typeface="Segoe UI"/>
              </a:rPr>
              <a:t>04</a:t>
            </a:r>
          </a:p>
        </p:txBody>
      </p:sp>
      <p:sp>
        <p:nvSpPr>
          <p:cNvPr id="20" name="TextBox 19"/>
          <p:cNvSpPr txBox="1"/>
          <p:nvPr/>
        </p:nvSpPr>
        <p:spPr>
          <a:xfrm>
            <a:off x="1188720" y="5056632"/>
            <a:ext cx="10241280" cy="384048"/>
          </a:xfrm>
          <a:prstGeom prst="rect">
            <a:avLst/>
          </a:prstGeom>
          <a:noFill/>
        </p:spPr>
        <p:txBody>
          <a:bodyPr wrap="square">
            <a:spAutoFit/>
          </a:bodyPr>
          <a:lstStyle/>
          <a:p>
            <a:pPr algn="l"/>
            <a:r>
              <a:rPr sz="1400" b="1">
                <a:solidFill>
                  <a:srgbClr val="FFFFFF"/>
                </a:solidFill>
                <a:latin typeface="Segoe UI"/>
              </a:rPr>
              <a:t>Automation without an audit trail is a black box.</a:t>
            </a:r>
          </a:p>
        </p:txBody>
      </p:sp>
      <p:sp>
        <p:nvSpPr>
          <p:cNvPr id="21" name="TextBox 20"/>
          <p:cNvSpPr txBox="1"/>
          <p:nvPr/>
        </p:nvSpPr>
        <p:spPr>
          <a:xfrm>
            <a:off x="1188720" y="5486400"/>
            <a:ext cx="10241280" cy="457200"/>
          </a:xfrm>
          <a:prstGeom prst="rect">
            <a:avLst/>
          </a:prstGeom>
          <a:noFill/>
        </p:spPr>
        <p:txBody>
          <a:bodyPr wrap="square">
            <a:spAutoFit/>
          </a:bodyPr>
          <a:lstStyle/>
          <a:p>
            <a:pPr algn="l"/>
            <a:r>
              <a:rPr sz="1100" b="0">
                <a:solidFill>
                  <a:srgbClr val="CBD5E1"/>
                </a:solidFill>
                <a:latin typeface="Segoe UI"/>
              </a:rPr>
              <a:t>Every workflow event, webhook dispatch, and n8n callback must be timestamped, sourced, and case-linked.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ARCHITECTURE</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Eight stages. One connected analyst workflow.</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34440"/>
            <a:ext cx="1234440" cy="91440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234440"/>
            <a:ext cx="123444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417320"/>
            <a:ext cx="1234440" cy="320040"/>
          </a:xfrm>
          <a:prstGeom prst="rect">
            <a:avLst/>
          </a:prstGeom>
          <a:noFill/>
        </p:spPr>
        <p:txBody>
          <a:bodyPr wrap="square">
            <a:spAutoFit/>
          </a:bodyPr>
          <a:lstStyle/>
          <a:p>
            <a:pPr algn="ctr"/>
            <a:r>
              <a:rPr sz="1300" b="1">
                <a:solidFill>
                  <a:srgbClr val="FFFFFF"/>
                </a:solidFill>
                <a:latin typeface="Segoe UI"/>
              </a:rPr>
              <a:t>Score</a:t>
            </a:r>
          </a:p>
        </p:txBody>
      </p:sp>
      <p:sp>
        <p:nvSpPr>
          <p:cNvPr id="9" name="TextBox 8"/>
          <p:cNvSpPr txBox="1"/>
          <p:nvPr/>
        </p:nvSpPr>
        <p:spPr>
          <a:xfrm>
            <a:off x="320040" y="1755648"/>
            <a:ext cx="1234440" cy="347472"/>
          </a:xfrm>
          <a:prstGeom prst="rect">
            <a:avLst/>
          </a:prstGeom>
          <a:noFill/>
        </p:spPr>
        <p:txBody>
          <a:bodyPr wrap="square">
            <a:spAutoFit/>
          </a:bodyPr>
          <a:lstStyle/>
          <a:p>
            <a:pPr algn="ctr"/>
            <a:r>
              <a:rPr sz="800" b="0">
                <a:solidFill>
                  <a:srgbClr val="CBD5E1"/>
                </a:solidFill>
                <a:latin typeface="Segoe UI"/>
              </a:rPr>
              <a:t>4-layer scoring engine</a:t>
            </a:r>
          </a:p>
        </p:txBody>
      </p:sp>
      <p:sp>
        <p:nvSpPr>
          <p:cNvPr id="10" name="TextBox 9"/>
          <p:cNvSpPr txBox="1"/>
          <p:nvPr/>
        </p:nvSpPr>
        <p:spPr>
          <a:xfrm>
            <a:off x="1572768" y="1463040"/>
            <a:ext cx="118872" cy="274320"/>
          </a:xfrm>
          <a:prstGeom prst="rect">
            <a:avLst/>
          </a:prstGeom>
          <a:noFill/>
        </p:spPr>
        <p:txBody>
          <a:bodyPr wrap="square">
            <a:spAutoFit/>
          </a:bodyPr>
          <a:lstStyle/>
          <a:p>
            <a:pPr algn="ctr"/>
            <a:r>
              <a:rPr sz="1200" b="1">
                <a:solidFill>
                  <a:srgbClr val="64748B"/>
                </a:solidFill>
                <a:latin typeface="Segoe UI"/>
              </a:rPr>
              <a:t>&gt;</a:t>
            </a:r>
          </a:p>
        </p:txBody>
      </p:sp>
      <p:sp>
        <p:nvSpPr>
          <p:cNvPr id="11" name="Rectangle 10"/>
          <p:cNvSpPr/>
          <p:nvPr/>
        </p:nvSpPr>
        <p:spPr>
          <a:xfrm>
            <a:off x="1691640" y="1234440"/>
            <a:ext cx="1234440" cy="91440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91640" y="1234440"/>
            <a:ext cx="1234440" cy="54864"/>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91640" y="1417320"/>
            <a:ext cx="1234440" cy="320040"/>
          </a:xfrm>
          <a:prstGeom prst="rect">
            <a:avLst/>
          </a:prstGeom>
          <a:noFill/>
        </p:spPr>
        <p:txBody>
          <a:bodyPr wrap="square">
            <a:spAutoFit/>
          </a:bodyPr>
          <a:lstStyle/>
          <a:p>
            <a:pPr algn="ctr"/>
            <a:r>
              <a:rPr sz="1300" b="1">
                <a:solidFill>
                  <a:srgbClr val="FFFFFF"/>
                </a:solidFill>
                <a:latin typeface="Segoe UI"/>
              </a:rPr>
              <a:t>Queue</a:t>
            </a:r>
          </a:p>
        </p:txBody>
      </p:sp>
      <p:sp>
        <p:nvSpPr>
          <p:cNvPr id="14" name="TextBox 13"/>
          <p:cNvSpPr txBox="1"/>
          <p:nvPr/>
        </p:nvSpPr>
        <p:spPr>
          <a:xfrm>
            <a:off x="1691640" y="1755648"/>
            <a:ext cx="1234440" cy="347472"/>
          </a:xfrm>
          <a:prstGeom prst="rect">
            <a:avLst/>
          </a:prstGeom>
          <a:noFill/>
        </p:spPr>
        <p:txBody>
          <a:bodyPr wrap="square">
            <a:spAutoFit/>
          </a:bodyPr>
          <a:lstStyle/>
          <a:p>
            <a:pPr algn="ctr"/>
            <a:r>
              <a:rPr sz="800" b="0">
                <a:solidFill>
                  <a:srgbClr val="CBD5E1"/>
                </a:solidFill>
                <a:latin typeface="Segoe UI"/>
              </a:rPr>
              <a:t>Priority triage queue</a:t>
            </a:r>
          </a:p>
        </p:txBody>
      </p:sp>
      <p:sp>
        <p:nvSpPr>
          <p:cNvPr id="15" name="TextBox 14"/>
          <p:cNvSpPr txBox="1"/>
          <p:nvPr/>
        </p:nvSpPr>
        <p:spPr>
          <a:xfrm>
            <a:off x="2944368" y="1463040"/>
            <a:ext cx="118872" cy="274320"/>
          </a:xfrm>
          <a:prstGeom prst="rect">
            <a:avLst/>
          </a:prstGeom>
          <a:noFill/>
        </p:spPr>
        <p:txBody>
          <a:bodyPr wrap="square">
            <a:spAutoFit/>
          </a:bodyPr>
          <a:lstStyle/>
          <a:p>
            <a:pPr algn="ctr"/>
            <a:r>
              <a:rPr sz="1200" b="1">
                <a:solidFill>
                  <a:srgbClr val="64748B"/>
                </a:solidFill>
                <a:latin typeface="Segoe UI"/>
              </a:rPr>
              <a:t>&gt;</a:t>
            </a:r>
          </a:p>
        </p:txBody>
      </p:sp>
      <p:sp>
        <p:nvSpPr>
          <p:cNvPr id="16" name="Rectangle 15"/>
          <p:cNvSpPr/>
          <p:nvPr/>
        </p:nvSpPr>
        <p:spPr>
          <a:xfrm>
            <a:off x="3063240" y="1234440"/>
            <a:ext cx="1234440" cy="91440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063240" y="1234440"/>
            <a:ext cx="123444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1417320"/>
            <a:ext cx="1234440" cy="320040"/>
          </a:xfrm>
          <a:prstGeom prst="rect">
            <a:avLst/>
          </a:prstGeom>
          <a:noFill/>
        </p:spPr>
        <p:txBody>
          <a:bodyPr wrap="square">
            <a:spAutoFit/>
          </a:bodyPr>
          <a:lstStyle/>
          <a:p>
            <a:pPr algn="ctr"/>
            <a:r>
              <a:rPr sz="1300" b="1">
                <a:solidFill>
                  <a:srgbClr val="FFFFFF"/>
                </a:solidFill>
                <a:latin typeface="Segoe UI"/>
              </a:rPr>
              <a:t>Dossier</a:t>
            </a:r>
          </a:p>
        </p:txBody>
      </p:sp>
      <p:sp>
        <p:nvSpPr>
          <p:cNvPr id="19" name="TextBox 18"/>
          <p:cNvSpPr txBox="1"/>
          <p:nvPr/>
        </p:nvSpPr>
        <p:spPr>
          <a:xfrm>
            <a:off x="3063240" y="1755648"/>
            <a:ext cx="1234440" cy="347472"/>
          </a:xfrm>
          <a:prstGeom prst="rect">
            <a:avLst/>
          </a:prstGeom>
          <a:noFill/>
        </p:spPr>
        <p:txBody>
          <a:bodyPr wrap="square">
            <a:spAutoFit/>
          </a:bodyPr>
          <a:lstStyle/>
          <a:p>
            <a:pPr algn="ctr"/>
            <a:r>
              <a:rPr sz="800" b="0">
                <a:solidFill>
                  <a:srgbClr val="CBD5E1"/>
                </a:solidFill>
                <a:latin typeface="Segoe UI"/>
              </a:rPr>
              <a:t>Grouped evidence view</a:t>
            </a:r>
          </a:p>
        </p:txBody>
      </p:sp>
      <p:sp>
        <p:nvSpPr>
          <p:cNvPr id="20" name="TextBox 19"/>
          <p:cNvSpPr txBox="1"/>
          <p:nvPr/>
        </p:nvSpPr>
        <p:spPr>
          <a:xfrm>
            <a:off x="4315968" y="1463040"/>
            <a:ext cx="118872" cy="274320"/>
          </a:xfrm>
          <a:prstGeom prst="rect">
            <a:avLst/>
          </a:prstGeom>
          <a:noFill/>
        </p:spPr>
        <p:txBody>
          <a:bodyPr wrap="square">
            <a:spAutoFit/>
          </a:bodyPr>
          <a:lstStyle/>
          <a:p>
            <a:pPr algn="ctr"/>
            <a:r>
              <a:rPr sz="1200" b="1">
                <a:solidFill>
                  <a:srgbClr val="64748B"/>
                </a:solidFill>
                <a:latin typeface="Segoe UI"/>
              </a:rPr>
              <a:t>&gt;</a:t>
            </a:r>
          </a:p>
        </p:txBody>
      </p:sp>
      <p:sp>
        <p:nvSpPr>
          <p:cNvPr id="21" name="Rectangle 20"/>
          <p:cNvSpPr/>
          <p:nvPr/>
        </p:nvSpPr>
        <p:spPr>
          <a:xfrm>
            <a:off x="4434840" y="1234440"/>
            <a:ext cx="1234440" cy="91440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1234440"/>
            <a:ext cx="1234440" cy="54864"/>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1417320"/>
            <a:ext cx="1234440" cy="320040"/>
          </a:xfrm>
          <a:prstGeom prst="rect">
            <a:avLst/>
          </a:prstGeom>
          <a:noFill/>
        </p:spPr>
        <p:txBody>
          <a:bodyPr wrap="square">
            <a:spAutoFit/>
          </a:bodyPr>
          <a:lstStyle/>
          <a:p>
            <a:pPr algn="ctr"/>
            <a:r>
              <a:rPr sz="1300" b="1">
                <a:solidFill>
                  <a:srgbClr val="FFFFFF"/>
                </a:solidFill>
                <a:latin typeface="Segoe UI"/>
              </a:rPr>
              <a:t>Brief</a:t>
            </a:r>
          </a:p>
        </p:txBody>
      </p:sp>
      <p:sp>
        <p:nvSpPr>
          <p:cNvPr id="24" name="TextBox 23"/>
          <p:cNvSpPr txBox="1"/>
          <p:nvPr/>
        </p:nvSpPr>
        <p:spPr>
          <a:xfrm>
            <a:off x="4434840" y="1755648"/>
            <a:ext cx="1234440" cy="347472"/>
          </a:xfrm>
          <a:prstGeom prst="rect">
            <a:avLst/>
          </a:prstGeom>
          <a:noFill/>
        </p:spPr>
        <p:txBody>
          <a:bodyPr wrap="square">
            <a:spAutoFit/>
          </a:bodyPr>
          <a:lstStyle/>
          <a:p>
            <a:pPr algn="ctr"/>
            <a:r>
              <a:rPr sz="800" b="0">
                <a:solidFill>
                  <a:srgbClr val="CBD5E1"/>
                </a:solidFill>
                <a:latin typeface="Segoe UI"/>
              </a:rPr>
              <a:t>AI advisory layer</a:t>
            </a:r>
          </a:p>
        </p:txBody>
      </p:sp>
      <p:sp>
        <p:nvSpPr>
          <p:cNvPr id="25" name="TextBox 24"/>
          <p:cNvSpPr txBox="1"/>
          <p:nvPr/>
        </p:nvSpPr>
        <p:spPr>
          <a:xfrm>
            <a:off x="5687567" y="1463040"/>
            <a:ext cx="118872" cy="274320"/>
          </a:xfrm>
          <a:prstGeom prst="rect">
            <a:avLst/>
          </a:prstGeom>
          <a:noFill/>
        </p:spPr>
        <p:txBody>
          <a:bodyPr wrap="square">
            <a:spAutoFit/>
          </a:bodyPr>
          <a:lstStyle/>
          <a:p>
            <a:pPr algn="ctr"/>
            <a:r>
              <a:rPr sz="1200" b="1">
                <a:solidFill>
                  <a:srgbClr val="64748B"/>
                </a:solidFill>
                <a:latin typeface="Segoe UI"/>
              </a:rPr>
              <a:t>&gt;</a:t>
            </a:r>
          </a:p>
        </p:txBody>
      </p:sp>
      <p:sp>
        <p:nvSpPr>
          <p:cNvPr id="26" name="Rectangle 25"/>
          <p:cNvSpPr/>
          <p:nvPr/>
        </p:nvSpPr>
        <p:spPr>
          <a:xfrm>
            <a:off x="5806440" y="1234440"/>
            <a:ext cx="1234440" cy="91440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06440" y="1234440"/>
            <a:ext cx="1234440" cy="54864"/>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6440" y="1417320"/>
            <a:ext cx="1234440" cy="320040"/>
          </a:xfrm>
          <a:prstGeom prst="rect">
            <a:avLst/>
          </a:prstGeom>
          <a:noFill/>
        </p:spPr>
        <p:txBody>
          <a:bodyPr wrap="square">
            <a:spAutoFit/>
          </a:bodyPr>
          <a:lstStyle/>
          <a:p>
            <a:pPr algn="ctr"/>
            <a:r>
              <a:rPr sz="1300" b="1">
                <a:solidFill>
                  <a:srgbClr val="FFFFFF"/>
                </a:solidFill>
                <a:latin typeface="Segoe UI"/>
              </a:rPr>
              <a:t>Verdict</a:t>
            </a:r>
          </a:p>
        </p:txBody>
      </p:sp>
      <p:sp>
        <p:nvSpPr>
          <p:cNvPr id="29" name="TextBox 28"/>
          <p:cNvSpPr txBox="1"/>
          <p:nvPr/>
        </p:nvSpPr>
        <p:spPr>
          <a:xfrm>
            <a:off x="5806440" y="1755648"/>
            <a:ext cx="1234440" cy="347472"/>
          </a:xfrm>
          <a:prstGeom prst="rect">
            <a:avLst/>
          </a:prstGeom>
          <a:noFill/>
        </p:spPr>
        <p:txBody>
          <a:bodyPr wrap="square">
            <a:spAutoFit/>
          </a:bodyPr>
          <a:lstStyle/>
          <a:p>
            <a:pPr algn="ctr"/>
            <a:r>
              <a:rPr sz="800" b="0">
                <a:solidFill>
                  <a:srgbClr val="CBD5E1"/>
                </a:solidFill>
                <a:latin typeface="Segoe UI"/>
              </a:rPr>
              <a:t>Analyst decision capture</a:t>
            </a:r>
          </a:p>
        </p:txBody>
      </p:sp>
      <p:sp>
        <p:nvSpPr>
          <p:cNvPr id="30" name="TextBox 29"/>
          <p:cNvSpPr txBox="1"/>
          <p:nvPr/>
        </p:nvSpPr>
        <p:spPr>
          <a:xfrm>
            <a:off x="7059167" y="1463040"/>
            <a:ext cx="118872" cy="274320"/>
          </a:xfrm>
          <a:prstGeom prst="rect">
            <a:avLst/>
          </a:prstGeom>
          <a:noFill/>
        </p:spPr>
        <p:txBody>
          <a:bodyPr wrap="square">
            <a:spAutoFit/>
          </a:bodyPr>
          <a:lstStyle/>
          <a:p>
            <a:pPr algn="ctr"/>
            <a:r>
              <a:rPr sz="1200" b="1">
                <a:solidFill>
                  <a:srgbClr val="64748B"/>
                </a:solidFill>
                <a:latin typeface="Segoe UI"/>
              </a:rPr>
              <a:t>&gt;</a:t>
            </a:r>
          </a:p>
        </p:txBody>
      </p:sp>
      <p:sp>
        <p:nvSpPr>
          <p:cNvPr id="31" name="Rectangle 30"/>
          <p:cNvSpPr/>
          <p:nvPr/>
        </p:nvSpPr>
        <p:spPr>
          <a:xfrm>
            <a:off x="7178040" y="1234440"/>
            <a:ext cx="1234440" cy="91440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178040" y="1234440"/>
            <a:ext cx="1234440"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78040" y="1417320"/>
            <a:ext cx="1234440" cy="320040"/>
          </a:xfrm>
          <a:prstGeom prst="rect">
            <a:avLst/>
          </a:prstGeom>
          <a:noFill/>
        </p:spPr>
        <p:txBody>
          <a:bodyPr wrap="square">
            <a:spAutoFit/>
          </a:bodyPr>
          <a:lstStyle/>
          <a:p>
            <a:pPr algn="ctr"/>
            <a:r>
              <a:rPr sz="1300" b="1">
                <a:solidFill>
                  <a:srgbClr val="FFFFFF"/>
                </a:solidFill>
                <a:latin typeface="Segoe UI"/>
              </a:rPr>
              <a:t>Audit</a:t>
            </a:r>
          </a:p>
        </p:txBody>
      </p:sp>
      <p:sp>
        <p:nvSpPr>
          <p:cNvPr id="34" name="TextBox 33"/>
          <p:cNvSpPr txBox="1"/>
          <p:nvPr/>
        </p:nvSpPr>
        <p:spPr>
          <a:xfrm>
            <a:off x="7178040" y="1755648"/>
            <a:ext cx="1234440" cy="347472"/>
          </a:xfrm>
          <a:prstGeom prst="rect">
            <a:avLst/>
          </a:prstGeom>
          <a:noFill/>
        </p:spPr>
        <p:txBody>
          <a:bodyPr wrap="square">
            <a:spAutoFit/>
          </a:bodyPr>
          <a:lstStyle/>
          <a:p>
            <a:pPr algn="ctr"/>
            <a:r>
              <a:rPr sz="800" b="0">
                <a:solidFill>
                  <a:srgbClr val="CBD5E1"/>
                </a:solidFill>
                <a:latin typeface="Segoe UI"/>
              </a:rPr>
              <a:t>Workflow event trail</a:t>
            </a:r>
          </a:p>
        </p:txBody>
      </p:sp>
      <p:sp>
        <p:nvSpPr>
          <p:cNvPr id="35" name="TextBox 34"/>
          <p:cNvSpPr txBox="1"/>
          <p:nvPr/>
        </p:nvSpPr>
        <p:spPr>
          <a:xfrm>
            <a:off x="8430767" y="1463040"/>
            <a:ext cx="118872" cy="274320"/>
          </a:xfrm>
          <a:prstGeom prst="rect">
            <a:avLst/>
          </a:prstGeom>
          <a:noFill/>
        </p:spPr>
        <p:txBody>
          <a:bodyPr wrap="square">
            <a:spAutoFit/>
          </a:bodyPr>
          <a:lstStyle/>
          <a:p>
            <a:pPr algn="ctr"/>
            <a:r>
              <a:rPr sz="1200" b="1">
                <a:solidFill>
                  <a:srgbClr val="64748B"/>
                </a:solidFill>
                <a:latin typeface="Segoe UI"/>
              </a:rPr>
              <a:t>&gt;</a:t>
            </a:r>
          </a:p>
        </p:txBody>
      </p:sp>
      <p:sp>
        <p:nvSpPr>
          <p:cNvPr id="36" name="Rectangle 35"/>
          <p:cNvSpPr/>
          <p:nvPr/>
        </p:nvSpPr>
        <p:spPr>
          <a:xfrm>
            <a:off x="8549640" y="1234440"/>
            <a:ext cx="1234440" cy="91440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549640" y="1234440"/>
            <a:ext cx="1234440" cy="54864"/>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9640" y="1417320"/>
            <a:ext cx="1234440" cy="320040"/>
          </a:xfrm>
          <a:prstGeom prst="rect">
            <a:avLst/>
          </a:prstGeom>
          <a:noFill/>
        </p:spPr>
        <p:txBody>
          <a:bodyPr wrap="square">
            <a:spAutoFit/>
          </a:bodyPr>
          <a:lstStyle/>
          <a:p>
            <a:pPr algn="ctr"/>
            <a:r>
              <a:rPr sz="1300" b="1">
                <a:solidFill>
                  <a:srgbClr val="FFFFFF"/>
                </a:solidFill>
                <a:latin typeface="Segoe UI"/>
              </a:rPr>
              <a:t>Ops</a:t>
            </a:r>
          </a:p>
        </p:txBody>
      </p:sp>
      <p:sp>
        <p:nvSpPr>
          <p:cNvPr id="39" name="TextBox 38"/>
          <p:cNvSpPr txBox="1"/>
          <p:nvPr/>
        </p:nvSpPr>
        <p:spPr>
          <a:xfrm>
            <a:off x="8549640" y="1755648"/>
            <a:ext cx="1234440" cy="347472"/>
          </a:xfrm>
          <a:prstGeom prst="rect">
            <a:avLst/>
          </a:prstGeom>
          <a:noFill/>
        </p:spPr>
        <p:txBody>
          <a:bodyPr wrap="square">
            <a:spAutoFit/>
          </a:bodyPr>
          <a:lstStyle/>
          <a:p>
            <a:pPr algn="ctr"/>
            <a:r>
              <a:rPr sz="800" b="0">
                <a:solidFill>
                  <a:srgbClr val="CBD5E1"/>
                </a:solidFill>
                <a:latin typeface="Segoe UI"/>
              </a:rPr>
              <a:t>Reliability metrics</a:t>
            </a:r>
          </a:p>
        </p:txBody>
      </p:sp>
      <p:sp>
        <p:nvSpPr>
          <p:cNvPr id="40" name="TextBox 39"/>
          <p:cNvSpPr txBox="1"/>
          <p:nvPr/>
        </p:nvSpPr>
        <p:spPr>
          <a:xfrm>
            <a:off x="9802367" y="1463040"/>
            <a:ext cx="118872" cy="274320"/>
          </a:xfrm>
          <a:prstGeom prst="rect">
            <a:avLst/>
          </a:prstGeom>
          <a:noFill/>
        </p:spPr>
        <p:txBody>
          <a:bodyPr wrap="square">
            <a:spAutoFit/>
          </a:bodyPr>
          <a:lstStyle/>
          <a:p>
            <a:pPr algn="ctr"/>
            <a:r>
              <a:rPr sz="1200" b="1">
                <a:solidFill>
                  <a:srgbClr val="64748B"/>
                </a:solidFill>
                <a:latin typeface="Segoe UI"/>
              </a:rPr>
              <a:t>&gt;</a:t>
            </a:r>
          </a:p>
        </p:txBody>
      </p:sp>
      <p:sp>
        <p:nvSpPr>
          <p:cNvPr id="41" name="Rectangle 40"/>
          <p:cNvSpPr/>
          <p:nvPr/>
        </p:nvSpPr>
        <p:spPr>
          <a:xfrm>
            <a:off x="9921240" y="1234440"/>
            <a:ext cx="1234440" cy="91440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921240" y="1234440"/>
            <a:ext cx="1234440" cy="54864"/>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21240" y="1417320"/>
            <a:ext cx="1234440" cy="320040"/>
          </a:xfrm>
          <a:prstGeom prst="rect">
            <a:avLst/>
          </a:prstGeom>
          <a:noFill/>
        </p:spPr>
        <p:txBody>
          <a:bodyPr wrap="square">
            <a:spAutoFit/>
          </a:bodyPr>
          <a:lstStyle/>
          <a:p>
            <a:pPr algn="ctr"/>
            <a:r>
              <a:rPr sz="1300" b="1">
                <a:solidFill>
                  <a:srgbClr val="FFFFFF"/>
                </a:solidFill>
                <a:latin typeface="Segoe UI"/>
              </a:rPr>
              <a:t>Scan</a:t>
            </a:r>
          </a:p>
        </p:txBody>
      </p:sp>
      <p:sp>
        <p:nvSpPr>
          <p:cNvPr id="44" name="TextBox 43"/>
          <p:cNvSpPr txBox="1"/>
          <p:nvPr/>
        </p:nvSpPr>
        <p:spPr>
          <a:xfrm>
            <a:off x="9921240" y="1755648"/>
            <a:ext cx="1234440" cy="347472"/>
          </a:xfrm>
          <a:prstGeom prst="rect">
            <a:avLst/>
          </a:prstGeom>
          <a:noFill/>
        </p:spPr>
        <p:txBody>
          <a:bodyPr wrap="square">
            <a:spAutoFit/>
          </a:bodyPr>
          <a:lstStyle/>
          <a:p>
            <a:pPr algn="ctr"/>
            <a:r>
              <a:rPr sz="800" b="0">
                <a:solidFill>
                  <a:srgbClr val="CBD5E1"/>
                </a:solidFill>
                <a:latin typeface="Segoe UI"/>
              </a:rPr>
              <a:t>Portfolio risk scan</a:t>
            </a:r>
          </a:p>
        </p:txBody>
      </p:sp>
      <p:sp>
        <p:nvSpPr>
          <p:cNvPr id="45" name="Rectangle 44"/>
          <p:cNvSpPr/>
          <p:nvPr/>
        </p:nvSpPr>
        <p:spPr>
          <a:xfrm>
            <a:off x="320040" y="24231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20040" y="2606040"/>
            <a:ext cx="2834640" cy="19202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2697480"/>
            <a:ext cx="2560320" cy="347472"/>
          </a:xfrm>
          <a:prstGeom prst="rect">
            <a:avLst/>
          </a:prstGeom>
          <a:noFill/>
        </p:spPr>
        <p:txBody>
          <a:bodyPr wrap="square">
            <a:spAutoFit/>
          </a:bodyPr>
          <a:lstStyle/>
          <a:p>
            <a:pPr algn="l"/>
            <a:r>
              <a:rPr sz="1200" b="1">
                <a:solidFill>
                  <a:srgbClr val="22D3EE"/>
                </a:solidFill>
                <a:latin typeface="Segoe UI"/>
              </a:rPr>
              <a:t>Scoring Engine</a:t>
            </a:r>
          </a:p>
        </p:txBody>
      </p:sp>
      <p:sp>
        <p:nvSpPr>
          <p:cNvPr id="48" name="TextBox 47"/>
          <p:cNvSpPr txBox="1"/>
          <p:nvPr/>
        </p:nvSpPr>
        <p:spPr>
          <a:xfrm>
            <a:off x="457200" y="3090672"/>
            <a:ext cx="2560320" cy="1325880"/>
          </a:xfrm>
          <a:prstGeom prst="rect">
            <a:avLst/>
          </a:prstGeom>
          <a:noFill/>
        </p:spPr>
        <p:txBody>
          <a:bodyPr wrap="square">
            <a:spAutoFit/>
          </a:bodyPr>
          <a:lstStyle/>
          <a:p>
            <a:pPr algn="l"/>
            <a:r>
              <a:rPr sz="1000" b="0">
                <a:solidFill>
                  <a:srgbClr val="CBD5E1"/>
                </a:solidFill>
                <a:latin typeface="Segoe UI"/>
              </a:rPr>
              <a:t>XGBoost base + rules + rich signal boost + behavioural boost + graph boost. Clipped to [0,1].</a:t>
            </a:r>
          </a:p>
        </p:txBody>
      </p:sp>
      <p:sp>
        <p:nvSpPr>
          <p:cNvPr id="49" name="Rectangle 48"/>
          <p:cNvSpPr/>
          <p:nvPr/>
        </p:nvSpPr>
        <p:spPr>
          <a:xfrm>
            <a:off x="3291840" y="2606040"/>
            <a:ext cx="2834640" cy="19202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29000" y="2697480"/>
            <a:ext cx="2560320" cy="347472"/>
          </a:xfrm>
          <a:prstGeom prst="rect">
            <a:avLst/>
          </a:prstGeom>
          <a:noFill/>
        </p:spPr>
        <p:txBody>
          <a:bodyPr wrap="square">
            <a:spAutoFit/>
          </a:bodyPr>
          <a:lstStyle/>
          <a:p>
            <a:pPr algn="l"/>
            <a:r>
              <a:rPr sz="1200" b="1">
                <a:solidFill>
                  <a:srgbClr val="22D3EE"/>
                </a:solidFill>
                <a:latin typeface="Segoe UI"/>
              </a:rPr>
              <a:t>Investigation Brief</a:t>
            </a:r>
          </a:p>
        </p:txBody>
      </p:sp>
      <p:sp>
        <p:nvSpPr>
          <p:cNvPr id="51" name="TextBox 50"/>
          <p:cNvSpPr txBox="1"/>
          <p:nvPr/>
        </p:nvSpPr>
        <p:spPr>
          <a:xfrm>
            <a:off x="3429000" y="3090672"/>
            <a:ext cx="2560320" cy="1325880"/>
          </a:xfrm>
          <a:prstGeom prst="rect">
            <a:avLst/>
          </a:prstGeom>
          <a:noFill/>
        </p:spPr>
        <p:txBody>
          <a:bodyPr wrap="square">
            <a:spAutoFit/>
          </a:bodyPr>
          <a:lstStyle/>
          <a:p>
            <a:pPr algn="l"/>
            <a:r>
              <a:rPr sz="1000" b="0">
                <a:solidFill>
                  <a:srgbClr val="CBD5E1"/>
                </a:solidFill>
                <a:latin typeface="Segoe UI"/>
              </a:rPr>
              <a:t>Redpanda async dispatch. Ollama LLM. Schema-validated output. AGENT_VERSION traceability.</a:t>
            </a:r>
          </a:p>
        </p:txBody>
      </p:sp>
      <p:sp>
        <p:nvSpPr>
          <p:cNvPr id="52" name="Rectangle 51"/>
          <p:cNvSpPr/>
          <p:nvPr/>
        </p:nvSpPr>
        <p:spPr>
          <a:xfrm>
            <a:off x="6263640" y="2606040"/>
            <a:ext cx="2834640" cy="19202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0" y="2697480"/>
            <a:ext cx="2560320" cy="347472"/>
          </a:xfrm>
          <a:prstGeom prst="rect">
            <a:avLst/>
          </a:prstGeom>
          <a:noFill/>
        </p:spPr>
        <p:txBody>
          <a:bodyPr wrap="square">
            <a:spAutoFit/>
          </a:bodyPr>
          <a:lstStyle/>
          <a:p>
            <a:pPr algn="l"/>
            <a:r>
              <a:rPr sz="1200" b="1">
                <a:solidFill>
                  <a:srgbClr val="22D3EE"/>
                </a:solidFill>
                <a:latin typeface="Segoe UI"/>
              </a:rPr>
              <a:t>Portfolio Scan</a:t>
            </a:r>
          </a:p>
        </p:txBody>
      </p:sp>
      <p:sp>
        <p:nvSpPr>
          <p:cNvPr id="54" name="TextBox 53"/>
          <p:cNvSpPr txBox="1"/>
          <p:nvPr/>
        </p:nvSpPr>
        <p:spPr>
          <a:xfrm>
            <a:off x="6400800" y="3090672"/>
            <a:ext cx="2560320" cy="1325880"/>
          </a:xfrm>
          <a:prstGeom prst="rect">
            <a:avLst/>
          </a:prstGeom>
          <a:noFill/>
        </p:spPr>
        <p:txBody>
          <a:bodyPr wrap="square">
            <a:spAutoFit/>
          </a:bodyPr>
          <a:lstStyle/>
          <a:p>
            <a:pPr algn="l"/>
            <a:r>
              <a:rPr sz="1000" b="0">
                <a:solidFill>
                  <a:srgbClr val="CBD5E1"/>
                </a:solidFill>
                <a:latin typeface="Segoe UI"/>
              </a:rPr>
              <a:t>10M-row chunked ingestion. Cursor-streamed 1.64 GiB export. Zero OOM events.</a:t>
            </a:r>
          </a:p>
        </p:txBody>
      </p:sp>
      <p:sp>
        <p:nvSpPr>
          <p:cNvPr id="55" name="Rectangle 54"/>
          <p:cNvSpPr/>
          <p:nvPr/>
        </p:nvSpPr>
        <p:spPr>
          <a:xfrm>
            <a:off x="9235440" y="2606040"/>
            <a:ext cx="2834640" cy="19202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372600" y="2697480"/>
            <a:ext cx="2560320" cy="347472"/>
          </a:xfrm>
          <a:prstGeom prst="rect">
            <a:avLst/>
          </a:prstGeom>
          <a:noFill/>
        </p:spPr>
        <p:txBody>
          <a:bodyPr wrap="square">
            <a:spAutoFit/>
          </a:bodyPr>
          <a:lstStyle/>
          <a:p>
            <a:pPr algn="l"/>
            <a:r>
              <a:rPr sz="1200" b="1">
                <a:solidFill>
                  <a:srgbClr val="22D3EE"/>
                </a:solidFill>
                <a:latin typeface="Segoe UI"/>
              </a:rPr>
              <a:t>Audit Trail</a:t>
            </a:r>
          </a:p>
        </p:txBody>
      </p:sp>
      <p:sp>
        <p:nvSpPr>
          <p:cNvPr id="57" name="TextBox 56"/>
          <p:cNvSpPr txBox="1"/>
          <p:nvPr/>
        </p:nvSpPr>
        <p:spPr>
          <a:xfrm>
            <a:off x="9372600" y="3090672"/>
            <a:ext cx="2560320" cy="1325880"/>
          </a:xfrm>
          <a:prstGeom prst="rect">
            <a:avLst/>
          </a:prstGeom>
          <a:noFill/>
        </p:spPr>
        <p:txBody>
          <a:bodyPr wrap="square">
            <a:spAutoFit/>
          </a:bodyPr>
          <a:lstStyle/>
          <a:p>
            <a:pPr algn="l"/>
            <a:r>
              <a:rPr sz="1000" b="0">
                <a:solidFill>
                  <a:srgbClr val="CBD5E1"/>
                </a:solidFill>
                <a:latin typeface="Segoe UI"/>
              </a:rPr>
              <a:t>Every action: timestamped, sourced, case-linked. n8n callbacks recorded automatically.</a:t>
            </a:r>
          </a:p>
        </p:txBody>
      </p:sp>
      <p:sp>
        <p:nvSpPr>
          <p:cNvPr id="58" name="TextBox 57"/>
          <p:cNvSpPr txBox="1"/>
          <p:nvPr/>
        </p:nvSpPr>
        <p:spPr>
          <a:xfrm>
            <a:off x="320040" y="4754880"/>
            <a:ext cx="11521440" cy="320040"/>
          </a:xfrm>
          <a:prstGeom prst="rect">
            <a:avLst/>
          </a:prstGeom>
          <a:noFill/>
        </p:spPr>
        <p:txBody>
          <a:bodyPr wrap="square">
            <a:spAutoFit/>
          </a:bodyPr>
          <a:lstStyle/>
          <a:p>
            <a:pPr algn="ctr"/>
            <a:r>
              <a:rPr sz="1100" b="0">
                <a:solidFill>
                  <a:srgbClr val="64748B"/>
                </a:solidFill>
                <a:latin typeface="Segoe UI"/>
              </a:rPr>
              <a:t>Transaction IN  --&gt;  Scored decision  --&gt;  Analyst verdict  --&gt;  Workflow event  --&gt;  Audit record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ARCHITECTURE</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Seven-service topology. Deterministic scoring. Local LLM advisory.</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80160"/>
            <a:ext cx="2651760" cy="14173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265176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389888"/>
            <a:ext cx="2432304" cy="347472"/>
          </a:xfrm>
          <a:prstGeom prst="rect">
            <a:avLst/>
          </a:prstGeom>
          <a:noFill/>
        </p:spPr>
        <p:txBody>
          <a:bodyPr wrap="square">
            <a:spAutoFit/>
          </a:bodyPr>
          <a:lstStyle/>
          <a:p>
            <a:pPr algn="l"/>
            <a:r>
              <a:rPr sz="1200" b="1">
                <a:solidFill>
                  <a:srgbClr val="FFFFFF"/>
                </a:solidFill>
                <a:latin typeface="Segoe UI"/>
              </a:rPr>
              <a:t>Fraud Console API</a:t>
            </a:r>
          </a:p>
        </p:txBody>
      </p:sp>
      <p:sp>
        <p:nvSpPr>
          <p:cNvPr id="9" name="TextBox 8"/>
          <p:cNvSpPr txBox="1"/>
          <p:nvPr/>
        </p:nvSpPr>
        <p:spPr>
          <a:xfrm>
            <a:off x="612648" y="1755648"/>
            <a:ext cx="2432304" cy="256032"/>
          </a:xfrm>
          <a:prstGeom prst="rect">
            <a:avLst/>
          </a:prstGeom>
          <a:noFill/>
        </p:spPr>
        <p:txBody>
          <a:bodyPr wrap="square">
            <a:spAutoFit/>
          </a:bodyPr>
          <a:lstStyle/>
          <a:p>
            <a:pPr algn="l"/>
            <a:r>
              <a:rPr sz="1000" b="1">
                <a:solidFill>
                  <a:srgbClr val="3B82F6"/>
                </a:solidFill>
                <a:latin typeface="Segoe UI"/>
              </a:rPr>
              <a:t>FastAPI</a:t>
            </a:r>
          </a:p>
        </p:txBody>
      </p:sp>
      <p:sp>
        <p:nvSpPr>
          <p:cNvPr id="10" name="TextBox 9"/>
          <p:cNvSpPr txBox="1"/>
          <p:nvPr/>
        </p:nvSpPr>
        <p:spPr>
          <a:xfrm>
            <a:off x="612648" y="2029967"/>
            <a:ext cx="2432304" cy="566928"/>
          </a:xfrm>
          <a:prstGeom prst="rect">
            <a:avLst/>
          </a:prstGeom>
          <a:noFill/>
        </p:spPr>
        <p:txBody>
          <a:bodyPr wrap="square">
            <a:spAutoFit/>
          </a:bodyPr>
          <a:lstStyle/>
          <a:p>
            <a:pPr algn="l"/>
            <a:r>
              <a:rPr sz="900" b="0">
                <a:solidFill>
                  <a:srgbClr val="CBD5E1"/>
                </a:solidFill>
                <a:latin typeface="Segoe UI"/>
              </a:rPr>
              <a:t>27 REST endpoints</a:t>
            </a:r>
          </a:p>
        </p:txBody>
      </p:sp>
      <p:sp>
        <p:nvSpPr>
          <p:cNvPr id="11" name="Rectangle 10"/>
          <p:cNvSpPr/>
          <p:nvPr/>
        </p:nvSpPr>
        <p:spPr>
          <a:xfrm>
            <a:off x="3520439" y="1280160"/>
            <a:ext cx="2651760" cy="14173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20439" y="1280160"/>
            <a:ext cx="2651760" cy="457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389888"/>
            <a:ext cx="2432304" cy="347472"/>
          </a:xfrm>
          <a:prstGeom prst="rect">
            <a:avLst/>
          </a:prstGeom>
          <a:noFill/>
        </p:spPr>
        <p:txBody>
          <a:bodyPr wrap="square">
            <a:spAutoFit/>
          </a:bodyPr>
          <a:lstStyle/>
          <a:p>
            <a:pPr algn="l"/>
            <a:r>
              <a:rPr sz="1200" b="1">
                <a:solidFill>
                  <a:srgbClr val="FFFFFF"/>
                </a:solidFill>
                <a:latin typeface="Segoe UI"/>
              </a:rPr>
              <a:t>Next.js Frontend</a:t>
            </a:r>
          </a:p>
        </p:txBody>
      </p:sp>
      <p:sp>
        <p:nvSpPr>
          <p:cNvPr id="14" name="TextBox 13"/>
          <p:cNvSpPr txBox="1"/>
          <p:nvPr/>
        </p:nvSpPr>
        <p:spPr>
          <a:xfrm>
            <a:off x="3630168" y="1755648"/>
            <a:ext cx="2432304" cy="256032"/>
          </a:xfrm>
          <a:prstGeom prst="rect">
            <a:avLst/>
          </a:prstGeom>
          <a:noFill/>
        </p:spPr>
        <p:txBody>
          <a:bodyPr wrap="square">
            <a:spAutoFit/>
          </a:bodyPr>
          <a:lstStyle/>
          <a:p>
            <a:pPr algn="l"/>
            <a:r>
              <a:rPr sz="1000" b="1">
                <a:solidFill>
                  <a:srgbClr val="22D3EE"/>
                </a:solidFill>
                <a:latin typeface="Segoe UI"/>
              </a:rPr>
              <a:t>React 18</a:t>
            </a:r>
          </a:p>
        </p:txBody>
      </p:sp>
      <p:sp>
        <p:nvSpPr>
          <p:cNvPr id="15" name="TextBox 14"/>
          <p:cNvSpPr txBox="1"/>
          <p:nvPr/>
        </p:nvSpPr>
        <p:spPr>
          <a:xfrm>
            <a:off x="3630168" y="2029967"/>
            <a:ext cx="2432304" cy="566928"/>
          </a:xfrm>
          <a:prstGeom prst="rect">
            <a:avLst/>
          </a:prstGeom>
          <a:noFill/>
        </p:spPr>
        <p:txBody>
          <a:bodyPr wrap="square">
            <a:spAutoFit/>
          </a:bodyPr>
          <a:lstStyle/>
          <a:p>
            <a:pPr algn="l"/>
            <a:r>
              <a:rPr sz="900" b="0">
                <a:solidFill>
                  <a:srgbClr val="CBD5E1"/>
                </a:solidFill>
                <a:latin typeface="Segoe UI"/>
              </a:rPr>
              <a:t>8 analyst screens</a:t>
            </a:r>
          </a:p>
        </p:txBody>
      </p:sp>
      <p:sp>
        <p:nvSpPr>
          <p:cNvPr id="16" name="Rectangle 15"/>
          <p:cNvSpPr/>
          <p:nvPr/>
        </p:nvSpPr>
        <p:spPr>
          <a:xfrm>
            <a:off x="6537959" y="1280160"/>
            <a:ext cx="2651760" cy="14173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37959" y="1280160"/>
            <a:ext cx="2651760" cy="45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47688" y="1389888"/>
            <a:ext cx="2432304" cy="347472"/>
          </a:xfrm>
          <a:prstGeom prst="rect">
            <a:avLst/>
          </a:prstGeom>
          <a:noFill/>
        </p:spPr>
        <p:txBody>
          <a:bodyPr wrap="square">
            <a:spAutoFit/>
          </a:bodyPr>
          <a:lstStyle/>
          <a:p>
            <a:pPr algn="l"/>
            <a:r>
              <a:rPr sz="1200" b="1">
                <a:solidFill>
                  <a:srgbClr val="FFFFFF"/>
                </a:solidFill>
                <a:latin typeface="Segoe UI"/>
              </a:rPr>
              <a:t>Scoring Consumer</a:t>
            </a:r>
          </a:p>
        </p:txBody>
      </p:sp>
      <p:sp>
        <p:nvSpPr>
          <p:cNvPr id="19" name="TextBox 18"/>
          <p:cNvSpPr txBox="1"/>
          <p:nvPr/>
        </p:nvSpPr>
        <p:spPr>
          <a:xfrm>
            <a:off x="6647688" y="1755648"/>
            <a:ext cx="2432304" cy="256032"/>
          </a:xfrm>
          <a:prstGeom prst="rect">
            <a:avLst/>
          </a:prstGeom>
          <a:noFill/>
        </p:spPr>
        <p:txBody>
          <a:bodyPr wrap="square">
            <a:spAutoFit/>
          </a:bodyPr>
          <a:lstStyle/>
          <a:p>
            <a:pPr algn="l"/>
            <a:r>
              <a:rPr sz="1000" b="1">
                <a:solidFill>
                  <a:srgbClr val="34D399"/>
                </a:solidFill>
                <a:latin typeface="Segoe UI"/>
              </a:rPr>
              <a:t>Python</a:t>
            </a:r>
          </a:p>
        </p:txBody>
      </p:sp>
      <p:sp>
        <p:nvSpPr>
          <p:cNvPr id="20" name="TextBox 19"/>
          <p:cNvSpPr txBox="1"/>
          <p:nvPr/>
        </p:nvSpPr>
        <p:spPr>
          <a:xfrm>
            <a:off x="6647688" y="2029967"/>
            <a:ext cx="2432304" cy="566928"/>
          </a:xfrm>
          <a:prstGeom prst="rect">
            <a:avLst/>
          </a:prstGeom>
          <a:noFill/>
        </p:spPr>
        <p:txBody>
          <a:bodyPr wrap="square">
            <a:spAutoFit/>
          </a:bodyPr>
          <a:lstStyle/>
          <a:p>
            <a:pPr algn="l"/>
            <a:r>
              <a:rPr sz="900" b="0">
                <a:solidFill>
                  <a:srgbClr val="CBD5E1"/>
                </a:solidFill>
                <a:latin typeface="Segoe UI"/>
              </a:rPr>
              <a:t>Redpanda -&gt; score -&gt; PostgreSQL</a:t>
            </a:r>
          </a:p>
        </p:txBody>
      </p:sp>
      <p:sp>
        <p:nvSpPr>
          <p:cNvPr id="21" name="Rectangle 20"/>
          <p:cNvSpPr/>
          <p:nvPr/>
        </p:nvSpPr>
        <p:spPr>
          <a:xfrm>
            <a:off x="9555480" y="1280160"/>
            <a:ext cx="2651760" cy="14173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55480" y="1280160"/>
            <a:ext cx="2651760" cy="4572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65207" y="1389888"/>
            <a:ext cx="2432304" cy="347472"/>
          </a:xfrm>
          <a:prstGeom prst="rect">
            <a:avLst/>
          </a:prstGeom>
          <a:noFill/>
        </p:spPr>
        <p:txBody>
          <a:bodyPr wrap="square">
            <a:spAutoFit/>
          </a:bodyPr>
          <a:lstStyle/>
          <a:p>
            <a:pPr algn="l"/>
            <a:r>
              <a:rPr sz="1200" b="1">
                <a:solidFill>
                  <a:srgbClr val="FFFFFF"/>
                </a:solidFill>
                <a:latin typeface="Segoe UI"/>
              </a:rPr>
              <a:t>Investigation Consumer</a:t>
            </a:r>
          </a:p>
        </p:txBody>
      </p:sp>
      <p:sp>
        <p:nvSpPr>
          <p:cNvPr id="24" name="TextBox 23"/>
          <p:cNvSpPr txBox="1"/>
          <p:nvPr/>
        </p:nvSpPr>
        <p:spPr>
          <a:xfrm>
            <a:off x="9665207" y="1755648"/>
            <a:ext cx="2432304" cy="256032"/>
          </a:xfrm>
          <a:prstGeom prst="rect">
            <a:avLst/>
          </a:prstGeom>
          <a:noFill/>
        </p:spPr>
        <p:txBody>
          <a:bodyPr wrap="square">
            <a:spAutoFit/>
          </a:bodyPr>
          <a:lstStyle/>
          <a:p>
            <a:pPr algn="l"/>
            <a:r>
              <a:rPr sz="1000" b="1">
                <a:solidFill>
                  <a:srgbClr val="FBBF24"/>
                </a:solidFill>
                <a:latin typeface="Segoe UI"/>
              </a:rPr>
              <a:t>Python</a:t>
            </a:r>
          </a:p>
        </p:txBody>
      </p:sp>
      <p:sp>
        <p:nvSpPr>
          <p:cNvPr id="25" name="TextBox 24"/>
          <p:cNvSpPr txBox="1"/>
          <p:nvPr/>
        </p:nvSpPr>
        <p:spPr>
          <a:xfrm>
            <a:off x="9665207" y="2029967"/>
            <a:ext cx="2432304" cy="566928"/>
          </a:xfrm>
          <a:prstGeom prst="rect">
            <a:avLst/>
          </a:prstGeom>
          <a:noFill/>
        </p:spPr>
        <p:txBody>
          <a:bodyPr wrap="square">
            <a:spAutoFit/>
          </a:bodyPr>
          <a:lstStyle/>
          <a:p>
            <a:pPr algn="l"/>
            <a:r>
              <a:rPr sz="900" b="0">
                <a:solidFill>
                  <a:srgbClr val="CBD5E1"/>
                </a:solidFill>
                <a:latin typeface="Segoe UI"/>
              </a:rPr>
              <a:t>Redpanda -&gt; Ollama -&gt; PostgreSQL</a:t>
            </a:r>
          </a:p>
        </p:txBody>
      </p:sp>
      <p:sp>
        <p:nvSpPr>
          <p:cNvPr id="26" name="Rectangle 25"/>
          <p:cNvSpPr/>
          <p:nvPr/>
        </p:nvSpPr>
        <p:spPr>
          <a:xfrm>
            <a:off x="502920" y="3063240"/>
            <a:ext cx="2651760" cy="14173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3063240"/>
            <a:ext cx="2651760" cy="45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3172968"/>
            <a:ext cx="2432304" cy="347472"/>
          </a:xfrm>
          <a:prstGeom prst="rect">
            <a:avLst/>
          </a:prstGeom>
          <a:noFill/>
        </p:spPr>
        <p:txBody>
          <a:bodyPr wrap="square">
            <a:spAutoFit/>
          </a:bodyPr>
          <a:lstStyle/>
          <a:p>
            <a:pPr algn="l"/>
            <a:r>
              <a:rPr sz="1200" b="1">
                <a:solidFill>
                  <a:srgbClr val="FFFFFF"/>
                </a:solidFill>
                <a:latin typeface="Segoe UI"/>
              </a:rPr>
              <a:t>PostgreSQL</a:t>
            </a:r>
          </a:p>
        </p:txBody>
      </p:sp>
      <p:sp>
        <p:nvSpPr>
          <p:cNvPr id="29" name="TextBox 28"/>
          <p:cNvSpPr txBox="1"/>
          <p:nvPr/>
        </p:nvSpPr>
        <p:spPr>
          <a:xfrm>
            <a:off x="612648" y="3538728"/>
            <a:ext cx="2432304" cy="256032"/>
          </a:xfrm>
          <a:prstGeom prst="rect">
            <a:avLst/>
          </a:prstGeom>
          <a:noFill/>
        </p:spPr>
        <p:txBody>
          <a:bodyPr wrap="square">
            <a:spAutoFit/>
          </a:bodyPr>
          <a:lstStyle/>
          <a:p>
            <a:pPr algn="l"/>
            <a:r>
              <a:rPr sz="1000" b="1">
                <a:solidFill>
                  <a:srgbClr val="3B82F6"/>
                </a:solidFill>
                <a:latin typeface="Segoe UI"/>
              </a:rPr>
              <a:t>v16</a:t>
            </a:r>
          </a:p>
        </p:txBody>
      </p:sp>
      <p:sp>
        <p:nvSpPr>
          <p:cNvPr id="30" name="TextBox 29"/>
          <p:cNvSpPr txBox="1"/>
          <p:nvPr/>
        </p:nvSpPr>
        <p:spPr>
          <a:xfrm>
            <a:off x="612648" y="3813048"/>
            <a:ext cx="2432304" cy="566928"/>
          </a:xfrm>
          <a:prstGeom prst="rect">
            <a:avLst/>
          </a:prstGeom>
          <a:noFill/>
        </p:spPr>
        <p:txBody>
          <a:bodyPr wrap="square">
            <a:spAutoFit/>
          </a:bodyPr>
          <a:lstStyle/>
          <a:p>
            <a:pPr algn="l"/>
            <a:r>
              <a:rPr sz="900" b="0">
                <a:solidFill>
                  <a:srgbClr val="CBD5E1"/>
                </a:solidFill>
                <a:latin typeface="Segoe UI"/>
              </a:rPr>
              <a:t>5-table persistence model</a:t>
            </a:r>
          </a:p>
        </p:txBody>
      </p:sp>
      <p:sp>
        <p:nvSpPr>
          <p:cNvPr id="31" name="Rectangle 30"/>
          <p:cNvSpPr/>
          <p:nvPr/>
        </p:nvSpPr>
        <p:spPr>
          <a:xfrm>
            <a:off x="3520439" y="3063240"/>
            <a:ext cx="2651760" cy="14173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520439" y="3063240"/>
            <a:ext cx="2651760" cy="457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0168" y="3172968"/>
            <a:ext cx="2432304" cy="347472"/>
          </a:xfrm>
          <a:prstGeom prst="rect">
            <a:avLst/>
          </a:prstGeom>
          <a:noFill/>
        </p:spPr>
        <p:txBody>
          <a:bodyPr wrap="square">
            <a:spAutoFit/>
          </a:bodyPr>
          <a:lstStyle/>
          <a:p>
            <a:pPr algn="l"/>
            <a:r>
              <a:rPr sz="1200" b="1">
                <a:solidFill>
                  <a:srgbClr val="FFFFFF"/>
                </a:solidFill>
                <a:latin typeface="Segoe UI"/>
              </a:rPr>
              <a:t>Redpanda</a:t>
            </a:r>
          </a:p>
        </p:txBody>
      </p:sp>
      <p:sp>
        <p:nvSpPr>
          <p:cNvPr id="34" name="TextBox 33"/>
          <p:cNvSpPr txBox="1"/>
          <p:nvPr/>
        </p:nvSpPr>
        <p:spPr>
          <a:xfrm>
            <a:off x="3630168" y="3538728"/>
            <a:ext cx="2432304" cy="256032"/>
          </a:xfrm>
          <a:prstGeom prst="rect">
            <a:avLst/>
          </a:prstGeom>
          <a:noFill/>
        </p:spPr>
        <p:txBody>
          <a:bodyPr wrap="square">
            <a:spAutoFit/>
          </a:bodyPr>
          <a:lstStyle/>
          <a:p>
            <a:pPr algn="l"/>
            <a:r>
              <a:rPr sz="1000" b="1">
                <a:solidFill>
                  <a:srgbClr val="22D3EE"/>
                </a:solidFill>
                <a:latin typeface="Segoe UI"/>
              </a:rPr>
              <a:t>Kafka-compatible</a:t>
            </a:r>
          </a:p>
        </p:txBody>
      </p:sp>
      <p:sp>
        <p:nvSpPr>
          <p:cNvPr id="35" name="TextBox 34"/>
          <p:cNvSpPr txBox="1"/>
          <p:nvPr/>
        </p:nvSpPr>
        <p:spPr>
          <a:xfrm>
            <a:off x="3630168" y="3813048"/>
            <a:ext cx="2432304" cy="566928"/>
          </a:xfrm>
          <a:prstGeom prst="rect">
            <a:avLst/>
          </a:prstGeom>
          <a:noFill/>
        </p:spPr>
        <p:txBody>
          <a:bodyPr wrap="square">
            <a:spAutoFit/>
          </a:bodyPr>
          <a:lstStyle/>
          <a:p>
            <a:pPr algn="l"/>
            <a:r>
              <a:rPr sz="900" b="0">
                <a:solidFill>
                  <a:srgbClr val="CBD5E1"/>
                </a:solidFill>
                <a:latin typeface="Segoe UI"/>
              </a:rPr>
              <a:t>2 topics: score.results + cases.investigate</a:t>
            </a:r>
          </a:p>
        </p:txBody>
      </p:sp>
      <p:sp>
        <p:nvSpPr>
          <p:cNvPr id="36" name="Rectangle 35"/>
          <p:cNvSpPr/>
          <p:nvPr/>
        </p:nvSpPr>
        <p:spPr>
          <a:xfrm>
            <a:off x="6537959" y="3063240"/>
            <a:ext cx="2651760" cy="14173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37959" y="3063240"/>
            <a:ext cx="2651760" cy="45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47688" y="3172968"/>
            <a:ext cx="2432304" cy="347472"/>
          </a:xfrm>
          <a:prstGeom prst="rect">
            <a:avLst/>
          </a:prstGeom>
          <a:noFill/>
        </p:spPr>
        <p:txBody>
          <a:bodyPr wrap="square">
            <a:spAutoFit/>
          </a:bodyPr>
          <a:lstStyle/>
          <a:p>
            <a:pPr algn="l"/>
            <a:r>
              <a:rPr sz="1200" b="1">
                <a:solidFill>
                  <a:srgbClr val="FFFFFF"/>
                </a:solidFill>
                <a:latin typeface="Segoe UI"/>
              </a:rPr>
              <a:t>Ollama</a:t>
            </a:r>
          </a:p>
        </p:txBody>
      </p:sp>
      <p:sp>
        <p:nvSpPr>
          <p:cNvPr id="39" name="TextBox 38"/>
          <p:cNvSpPr txBox="1"/>
          <p:nvPr/>
        </p:nvSpPr>
        <p:spPr>
          <a:xfrm>
            <a:off x="6647688" y="3538728"/>
            <a:ext cx="2432304" cy="256032"/>
          </a:xfrm>
          <a:prstGeom prst="rect">
            <a:avLst/>
          </a:prstGeom>
          <a:noFill/>
        </p:spPr>
        <p:txBody>
          <a:bodyPr wrap="square">
            <a:spAutoFit/>
          </a:bodyPr>
          <a:lstStyle/>
          <a:p>
            <a:pPr algn="l"/>
            <a:r>
              <a:rPr sz="1000" b="1">
                <a:solidFill>
                  <a:srgbClr val="34D399"/>
                </a:solidFill>
                <a:latin typeface="Segoe UI"/>
              </a:rPr>
              <a:t>Local LLM</a:t>
            </a:r>
          </a:p>
        </p:txBody>
      </p:sp>
      <p:sp>
        <p:nvSpPr>
          <p:cNvPr id="40" name="TextBox 39"/>
          <p:cNvSpPr txBox="1"/>
          <p:nvPr/>
        </p:nvSpPr>
        <p:spPr>
          <a:xfrm>
            <a:off x="6647688" y="3813048"/>
            <a:ext cx="2432304" cy="566928"/>
          </a:xfrm>
          <a:prstGeom prst="rect">
            <a:avLst/>
          </a:prstGeom>
          <a:noFill/>
        </p:spPr>
        <p:txBody>
          <a:bodyPr wrap="square">
            <a:spAutoFit/>
          </a:bodyPr>
          <a:lstStyle/>
          <a:p>
            <a:pPr algn="l"/>
            <a:r>
              <a:rPr sz="900" b="0">
                <a:solidFill>
                  <a:srgbClr val="CBD5E1"/>
                </a:solidFill>
                <a:latin typeface="Segoe UI"/>
              </a:rPr>
              <a:t>phi3 / llama3 via REST</a:t>
            </a:r>
          </a:p>
        </p:txBody>
      </p:sp>
      <p:sp>
        <p:nvSpPr>
          <p:cNvPr id="41" name="Rectangle 40"/>
          <p:cNvSpPr/>
          <p:nvPr/>
        </p:nvSpPr>
        <p:spPr>
          <a:xfrm>
            <a:off x="8321040" y="1280160"/>
            <a:ext cx="3456432" cy="14173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58200" y="1371600"/>
            <a:ext cx="3154680" cy="347472"/>
          </a:xfrm>
          <a:prstGeom prst="rect">
            <a:avLst/>
          </a:prstGeom>
          <a:noFill/>
        </p:spPr>
        <p:txBody>
          <a:bodyPr wrap="square">
            <a:spAutoFit/>
          </a:bodyPr>
          <a:lstStyle/>
          <a:p>
            <a:pPr algn="l"/>
            <a:r>
              <a:rPr sz="1200" b="1">
                <a:solidFill>
                  <a:srgbClr val="FFFFFF"/>
                </a:solidFill>
                <a:latin typeface="Segoe UI"/>
              </a:rPr>
              <a:t>XGBoost Model Artifact</a:t>
            </a:r>
          </a:p>
        </p:txBody>
      </p:sp>
      <p:sp>
        <p:nvSpPr>
          <p:cNvPr id="43" name="TextBox 42"/>
          <p:cNvSpPr txBox="1"/>
          <p:nvPr/>
        </p:nvSpPr>
        <p:spPr>
          <a:xfrm>
            <a:off x="8458200" y="1737360"/>
            <a:ext cx="3154680" cy="256032"/>
          </a:xfrm>
          <a:prstGeom prst="rect">
            <a:avLst/>
          </a:prstGeom>
          <a:noFill/>
        </p:spPr>
        <p:txBody>
          <a:bodyPr wrap="square">
            <a:spAutoFit/>
          </a:bodyPr>
          <a:lstStyle/>
          <a:p>
            <a:pPr algn="l"/>
            <a:r>
              <a:rPr sz="1000" b="1">
                <a:solidFill>
                  <a:srgbClr val="FBBF24"/>
                </a:solidFill>
                <a:latin typeface="Segoe UI"/>
              </a:rPr>
              <a:t>scikit-learn pipeline</a:t>
            </a:r>
          </a:p>
        </p:txBody>
      </p:sp>
      <p:sp>
        <p:nvSpPr>
          <p:cNvPr id="44" name="TextBox 43"/>
          <p:cNvSpPr txBox="1"/>
          <p:nvPr/>
        </p:nvSpPr>
        <p:spPr>
          <a:xfrm>
            <a:off x="8458200" y="2011680"/>
            <a:ext cx="3154680" cy="566928"/>
          </a:xfrm>
          <a:prstGeom prst="rect">
            <a:avLst/>
          </a:prstGeom>
          <a:noFill/>
        </p:spPr>
        <p:txBody>
          <a:bodyPr wrap="square">
            <a:spAutoFit/>
          </a:bodyPr>
          <a:lstStyle/>
          <a:p>
            <a:pPr algn="l"/>
            <a:r>
              <a:rPr sz="900" b="0">
                <a:solidFill>
                  <a:srgbClr val="CBD5E1"/>
                </a:solidFill>
                <a:latin typeface="Segoe UI"/>
              </a:rPr>
              <a:t>Trained offline. Served as static file. Deterministic inference path.</a:t>
            </a:r>
          </a:p>
        </p:txBody>
      </p:sp>
      <p:sp>
        <p:nvSpPr>
          <p:cNvPr id="45" name="Rectangle 44"/>
          <p:cNvSpPr/>
          <p:nvPr/>
        </p:nvSpPr>
        <p:spPr>
          <a:xfrm>
            <a:off x="320040" y="498348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2920" y="5120640"/>
            <a:ext cx="11155680" cy="274320"/>
          </a:xfrm>
          <a:prstGeom prst="rect">
            <a:avLst/>
          </a:prstGeom>
          <a:noFill/>
        </p:spPr>
        <p:txBody>
          <a:bodyPr wrap="square">
            <a:spAutoFit/>
          </a:bodyPr>
          <a:lstStyle/>
          <a:p>
            <a:pPr algn="ctr"/>
            <a:r>
              <a:rPr sz="1000" b="0">
                <a:solidFill>
                  <a:srgbClr val="64748B"/>
                </a:solidFill>
                <a:latin typeface="Segoe UI"/>
              </a:rPr>
              <a:t>All services run locally on a single machine. No cloud dependency required for the inspection package.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ANALYST WORKFLOW</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Command Center to Review Queue: operational awareness before case selection.</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34440"/>
            <a:ext cx="612648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234440"/>
            <a:ext cx="54864" cy="105156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25880"/>
            <a:ext cx="5669280" cy="347472"/>
          </a:xfrm>
          <a:prstGeom prst="rect">
            <a:avLst/>
          </a:prstGeom>
          <a:noFill/>
        </p:spPr>
        <p:txBody>
          <a:bodyPr wrap="square">
            <a:spAutoFit/>
          </a:bodyPr>
          <a:lstStyle/>
          <a:p>
            <a:pPr algn="l"/>
            <a:r>
              <a:rPr sz="1300" b="1">
                <a:solidFill>
                  <a:srgbClr val="FFFFFF"/>
                </a:solidFill>
                <a:latin typeface="Segoe UI"/>
              </a:rPr>
              <a:t>Command Center</a:t>
            </a:r>
          </a:p>
        </p:txBody>
      </p:sp>
      <p:sp>
        <p:nvSpPr>
          <p:cNvPr id="9" name="TextBox 8"/>
          <p:cNvSpPr txBox="1"/>
          <p:nvPr/>
        </p:nvSpPr>
        <p:spPr>
          <a:xfrm>
            <a:off x="548640" y="1737360"/>
            <a:ext cx="5669280" cy="457200"/>
          </a:xfrm>
          <a:prstGeom prst="rect">
            <a:avLst/>
          </a:prstGeom>
          <a:noFill/>
        </p:spPr>
        <p:txBody>
          <a:bodyPr wrap="square">
            <a:spAutoFit/>
          </a:bodyPr>
          <a:lstStyle/>
          <a:p>
            <a:pPr algn="l"/>
            <a:r>
              <a:rPr sz="1000" b="0">
                <a:solidFill>
                  <a:srgbClr val="CBD5E1"/>
                </a:solidFill>
                <a:latin typeface="Segoe UI"/>
              </a:rPr>
              <a:t>KPI strip, 6-stage pipeline map, stale case pressure, system health.</a:t>
            </a:r>
          </a:p>
        </p:txBody>
      </p:sp>
      <p:sp>
        <p:nvSpPr>
          <p:cNvPr id="10" name="Rectangle 9"/>
          <p:cNvSpPr/>
          <p:nvPr/>
        </p:nvSpPr>
        <p:spPr>
          <a:xfrm>
            <a:off x="320040" y="2441448"/>
            <a:ext cx="612648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2441448"/>
            <a:ext cx="54864" cy="1051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32888"/>
            <a:ext cx="5669280" cy="347472"/>
          </a:xfrm>
          <a:prstGeom prst="rect">
            <a:avLst/>
          </a:prstGeom>
          <a:noFill/>
        </p:spPr>
        <p:txBody>
          <a:bodyPr wrap="square">
            <a:spAutoFit/>
          </a:bodyPr>
          <a:lstStyle/>
          <a:p>
            <a:pPr algn="l"/>
            <a:r>
              <a:rPr sz="1300" b="1">
                <a:solidFill>
                  <a:srgbClr val="FFFFFF"/>
                </a:solidFill>
                <a:latin typeface="Segoe UI"/>
              </a:rPr>
              <a:t>Review Queue</a:t>
            </a:r>
          </a:p>
        </p:txBody>
      </p:sp>
      <p:sp>
        <p:nvSpPr>
          <p:cNvPr id="13" name="TextBox 12"/>
          <p:cNvSpPr txBox="1"/>
          <p:nvPr/>
        </p:nvSpPr>
        <p:spPr>
          <a:xfrm>
            <a:off x="548640" y="2944368"/>
            <a:ext cx="5669280" cy="457200"/>
          </a:xfrm>
          <a:prstGeom prst="rect">
            <a:avLst/>
          </a:prstGeom>
          <a:noFill/>
        </p:spPr>
        <p:txBody>
          <a:bodyPr wrap="square">
            <a:spAutoFit/>
          </a:bodyPr>
          <a:lstStyle/>
          <a:p>
            <a:pPr algn="l"/>
            <a:r>
              <a:rPr sz="1000" b="0">
                <a:solidFill>
                  <a:srgbClr val="CBD5E1"/>
                </a:solidFill>
                <a:latin typeface="Segoe UI"/>
              </a:rPr>
              <a:t>Cases ranked P0-P3 by score tier. Score bars inline. Status filters.</a:t>
            </a:r>
          </a:p>
        </p:txBody>
      </p:sp>
      <p:sp>
        <p:nvSpPr>
          <p:cNvPr id="14" name="Rectangle 13"/>
          <p:cNvSpPr/>
          <p:nvPr/>
        </p:nvSpPr>
        <p:spPr>
          <a:xfrm>
            <a:off x="320040" y="3648456"/>
            <a:ext cx="612648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3648456"/>
            <a:ext cx="54864" cy="10515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739896"/>
            <a:ext cx="5669280" cy="347472"/>
          </a:xfrm>
          <a:prstGeom prst="rect">
            <a:avLst/>
          </a:prstGeom>
          <a:noFill/>
        </p:spPr>
        <p:txBody>
          <a:bodyPr wrap="square">
            <a:spAutoFit/>
          </a:bodyPr>
          <a:lstStyle/>
          <a:p>
            <a:pPr algn="l"/>
            <a:r>
              <a:rPr sz="1300" b="1">
                <a:solidFill>
                  <a:srgbClr val="FFFFFF"/>
                </a:solidFill>
                <a:latin typeface="Segoe UI"/>
              </a:rPr>
              <a:t>Case Selection</a:t>
            </a:r>
          </a:p>
        </p:txBody>
      </p:sp>
      <p:sp>
        <p:nvSpPr>
          <p:cNvPr id="17" name="TextBox 16"/>
          <p:cNvSpPr txBox="1"/>
          <p:nvPr/>
        </p:nvSpPr>
        <p:spPr>
          <a:xfrm>
            <a:off x="548640" y="4151376"/>
            <a:ext cx="5669280" cy="457200"/>
          </a:xfrm>
          <a:prstGeom prst="rect">
            <a:avLst/>
          </a:prstGeom>
          <a:noFill/>
        </p:spPr>
        <p:txBody>
          <a:bodyPr wrap="square">
            <a:spAutoFit/>
          </a:bodyPr>
          <a:lstStyle/>
          <a:p>
            <a:pPr algn="l"/>
            <a:r>
              <a:rPr sz="1000" b="0">
                <a:solidFill>
                  <a:srgbClr val="CBD5E1"/>
                </a:solidFill>
                <a:latin typeface="Segoe UI"/>
              </a:rPr>
              <a:t>Analyst selects highest-priority open case. Route: /cases/[id].</a:t>
            </a:r>
          </a:p>
        </p:txBody>
      </p:sp>
      <p:sp>
        <p:nvSpPr>
          <p:cNvPr id="18" name="Rectangle 17"/>
          <p:cNvSpPr/>
          <p:nvPr/>
        </p:nvSpPr>
        <p:spPr>
          <a:xfrm>
            <a:off x="320040" y="4855464"/>
            <a:ext cx="612648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0040" y="4855464"/>
            <a:ext cx="54864" cy="105156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946904"/>
            <a:ext cx="5669280" cy="347472"/>
          </a:xfrm>
          <a:prstGeom prst="rect">
            <a:avLst/>
          </a:prstGeom>
          <a:noFill/>
        </p:spPr>
        <p:txBody>
          <a:bodyPr wrap="square">
            <a:spAutoFit/>
          </a:bodyPr>
          <a:lstStyle/>
          <a:p>
            <a:pPr algn="l"/>
            <a:r>
              <a:rPr sz="1300" b="1">
                <a:solidFill>
                  <a:srgbClr val="FFFFFF"/>
                </a:solidFill>
                <a:latin typeface="Segoe UI"/>
              </a:rPr>
              <a:t>SLA Awareness</a:t>
            </a:r>
          </a:p>
        </p:txBody>
      </p:sp>
      <p:sp>
        <p:nvSpPr>
          <p:cNvPr id="21" name="TextBox 20"/>
          <p:cNvSpPr txBox="1"/>
          <p:nvPr/>
        </p:nvSpPr>
        <p:spPr>
          <a:xfrm>
            <a:off x="548640" y="5358384"/>
            <a:ext cx="5669280" cy="457200"/>
          </a:xfrm>
          <a:prstGeom prst="rect">
            <a:avLst/>
          </a:prstGeom>
          <a:noFill/>
        </p:spPr>
        <p:txBody>
          <a:bodyPr wrap="square">
            <a:spAutoFit/>
          </a:bodyPr>
          <a:lstStyle/>
          <a:p>
            <a:pPr algn="l"/>
            <a:r>
              <a:rPr sz="1000" b="0">
                <a:solidFill>
                  <a:srgbClr val="CBD5E1"/>
                </a:solidFill>
                <a:latin typeface="Segoe UI"/>
              </a:rPr>
              <a:t>Stale case panel surfaces cases approaching breach before they escalate.</a:t>
            </a:r>
          </a:p>
        </p:txBody>
      </p:sp>
      <p:pic>
        <p:nvPicPr>
          <p:cNvPr id="22" name="Picture 21" descr="01_overview_command_center.png"/>
          <p:cNvPicPr>
            <a:picLocks noChangeAspect="1"/>
          </p:cNvPicPr>
          <p:nvPr/>
        </p:nvPicPr>
        <p:blipFill>
          <a:blip r:embed="rId3"/>
          <a:stretch>
            <a:fillRect/>
          </a:stretch>
        </p:blipFill>
        <p:spPr>
          <a:xfrm>
            <a:off x="6675120" y="1097280"/>
            <a:ext cx="5212080" cy="325755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CASE DOSSIER</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Evidence grouped by scoring layer origin. Model attribution explicit.</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34440"/>
            <a:ext cx="6126480" cy="9601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234440"/>
            <a:ext cx="54864" cy="9601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07592"/>
            <a:ext cx="5669280" cy="347472"/>
          </a:xfrm>
          <a:prstGeom prst="rect">
            <a:avLst/>
          </a:prstGeom>
          <a:noFill/>
        </p:spPr>
        <p:txBody>
          <a:bodyPr wrap="square">
            <a:spAutoFit/>
          </a:bodyPr>
          <a:lstStyle/>
          <a:p>
            <a:pPr algn="l"/>
            <a:r>
              <a:rPr sz="1200" b="1">
                <a:solidFill>
                  <a:srgbClr val="FFFFFF"/>
                </a:solidFill>
                <a:latin typeface="Segoe UI"/>
              </a:rPr>
              <a:t>Base Signals</a:t>
            </a:r>
          </a:p>
        </p:txBody>
      </p:sp>
      <p:sp>
        <p:nvSpPr>
          <p:cNvPr id="9" name="TextBox 8"/>
          <p:cNvSpPr txBox="1"/>
          <p:nvPr/>
        </p:nvSpPr>
        <p:spPr>
          <a:xfrm>
            <a:off x="548640" y="1691640"/>
            <a:ext cx="5669280" cy="411480"/>
          </a:xfrm>
          <a:prstGeom prst="rect">
            <a:avLst/>
          </a:prstGeom>
          <a:noFill/>
        </p:spPr>
        <p:txBody>
          <a:bodyPr wrap="square">
            <a:spAutoFit/>
          </a:bodyPr>
          <a:lstStyle/>
          <a:p>
            <a:pPr algn="l"/>
            <a:r>
              <a:rPr sz="1000" b="0">
                <a:solidFill>
                  <a:srgbClr val="CBD5E1"/>
                </a:solidFill>
                <a:latin typeface="Segoe UI"/>
              </a:rPr>
              <a:t>Amount, time, rule flags, model prediction, reason codes</a:t>
            </a:r>
          </a:p>
        </p:txBody>
      </p:sp>
      <p:sp>
        <p:nvSpPr>
          <p:cNvPr id="10" name="Rectangle 9"/>
          <p:cNvSpPr/>
          <p:nvPr/>
        </p:nvSpPr>
        <p:spPr>
          <a:xfrm>
            <a:off x="320040" y="2331720"/>
            <a:ext cx="6126480" cy="9601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2331720"/>
            <a:ext cx="54864" cy="9601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04872"/>
            <a:ext cx="5669280" cy="347472"/>
          </a:xfrm>
          <a:prstGeom prst="rect">
            <a:avLst/>
          </a:prstGeom>
          <a:noFill/>
        </p:spPr>
        <p:txBody>
          <a:bodyPr wrap="square">
            <a:spAutoFit/>
          </a:bodyPr>
          <a:lstStyle/>
          <a:p>
            <a:pPr algn="l"/>
            <a:r>
              <a:rPr sz="1200" b="1">
                <a:solidFill>
                  <a:srgbClr val="FFFFFF"/>
                </a:solidFill>
                <a:latin typeface="Segoe UI"/>
              </a:rPr>
              <a:t>Rich Signals</a:t>
            </a:r>
          </a:p>
        </p:txBody>
      </p:sp>
      <p:sp>
        <p:nvSpPr>
          <p:cNvPr id="13" name="TextBox 12"/>
          <p:cNvSpPr txBox="1"/>
          <p:nvPr/>
        </p:nvSpPr>
        <p:spPr>
          <a:xfrm>
            <a:off x="548640" y="2788920"/>
            <a:ext cx="5669280" cy="411480"/>
          </a:xfrm>
          <a:prstGeom prst="rect">
            <a:avLst/>
          </a:prstGeom>
          <a:noFill/>
        </p:spPr>
        <p:txBody>
          <a:bodyPr wrap="square">
            <a:spAutoFit/>
          </a:bodyPr>
          <a:lstStyle/>
          <a:p>
            <a:pPr algn="l"/>
            <a:r>
              <a:rPr sz="1000" b="0">
                <a:solidFill>
                  <a:srgbClr val="CBD5E1"/>
                </a:solidFill>
                <a:latin typeface="Segoe UI"/>
              </a:rPr>
              <a:t>Device trust, geo anomaly, velocity, chargeback history, merchant risk</a:t>
            </a:r>
          </a:p>
        </p:txBody>
      </p:sp>
      <p:sp>
        <p:nvSpPr>
          <p:cNvPr id="14" name="Rectangle 13"/>
          <p:cNvSpPr/>
          <p:nvPr/>
        </p:nvSpPr>
        <p:spPr>
          <a:xfrm>
            <a:off x="320040" y="3429000"/>
            <a:ext cx="6126480" cy="9601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3429000"/>
            <a:ext cx="54864" cy="9601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02152"/>
            <a:ext cx="5669280" cy="347472"/>
          </a:xfrm>
          <a:prstGeom prst="rect">
            <a:avLst/>
          </a:prstGeom>
          <a:noFill/>
        </p:spPr>
        <p:txBody>
          <a:bodyPr wrap="square">
            <a:spAutoFit/>
          </a:bodyPr>
          <a:lstStyle/>
          <a:p>
            <a:pPr algn="l"/>
            <a:r>
              <a:rPr sz="1200" b="1">
                <a:solidFill>
                  <a:srgbClr val="FFFFFF"/>
                </a:solidFill>
                <a:latin typeface="Segoe UI"/>
              </a:rPr>
              <a:t>Behavioural</a:t>
            </a:r>
          </a:p>
        </p:txBody>
      </p:sp>
      <p:sp>
        <p:nvSpPr>
          <p:cNvPr id="17" name="TextBox 16"/>
          <p:cNvSpPr txBox="1"/>
          <p:nvPr/>
        </p:nvSpPr>
        <p:spPr>
          <a:xfrm>
            <a:off x="548640" y="3886200"/>
            <a:ext cx="5669280" cy="411480"/>
          </a:xfrm>
          <a:prstGeom prst="rect">
            <a:avLst/>
          </a:prstGeom>
          <a:noFill/>
        </p:spPr>
        <p:txBody>
          <a:bodyPr wrap="square">
            <a:spAutoFit/>
          </a:bodyPr>
          <a:lstStyle/>
          <a:p>
            <a:pPr algn="l"/>
            <a:r>
              <a:rPr sz="1000" b="0">
                <a:solidFill>
                  <a:srgbClr val="CBD5E1"/>
                </a:solidFill>
                <a:latin typeface="Segoe UI"/>
              </a:rPr>
              <a:t>30-day entity deviation, new device/country/counterparty, unusual channel</a:t>
            </a:r>
          </a:p>
        </p:txBody>
      </p:sp>
      <p:sp>
        <p:nvSpPr>
          <p:cNvPr id="18" name="Rectangle 17"/>
          <p:cNvSpPr/>
          <p:nvPr/>
        </p:nvSpPr>
        <p:spPr>
          <a:xfrm>
            <a:off x="320040" y="4526279"/>
            <a:ext cx="6126480" cy="9601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0040" y="4526279"/>
            <a:ext cx="54864" cy="96012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99431"/>
            <a:ext cx="5669280" cy="347472"/>
          </a:xfrm>
          <a:prstGeom prst="rect">
            <a:avLst/>
          </a:prstGeom>
          <a:noFill/>
        </p:spPr>
        <p:txBody>
          <a:bodyPr wrap="square">
            <a:spAutoFit/>
          </a:bodyPr>
          <a:lstStyle/>
          <a:p>
            <a:pPr algn="l"/>
            <a:r>
              <a:rPr sz="1200" b="1">
                <a:solidFill>
                  <a:srgbClr val="FFFFFF"/>
                </a:solidFill>
                <a:latin typeface="Segoe UI"/>
              </a:rPr>
              <a:t>Graph Intelligence</a:t>
            </a:r>
          </a:p>
        </p:txBody>
      </p:sp>
      <p:sp>
        <p:nvSpPr>
          <p:cNvPr id="21" name="TextBox 20"/>
          <p:cNvSpPr txBox="1"/>
          <p:nvPr/>
        </p:nvSpPr>
        <p:spPr>
          <a:xfrm>
            <a:off x="548640" y="4983479"/>
            <a:ext cx="5669280" cy="411480"/>
          </a:xfrm>
          <a:prstGeom prst="rect">
            <a:avLst/>
          </a:prstGeom>
          <a:noFill/>
        </p:spPr>
        <p:txBody>
          <a:bodyPr wrap="square">
            <a:spAutoFit/>
          </a:bodyPr>
          <a:lstStyle/>
          <a:p>
            <a:pPr algn="l"/>
            <a:r>
              <a:rPr sz="1000" b="0">
                <a:solidFill>
                  <a:srgbClr val="CBD5E1"/>
                </a:solidFill>
                <a:latin typeface="Segoe UI"/>
              </a:rPr>
              <a:t>Shared device, cross-account reuse, counterparty fan-in / fan-out</a:t>
            </a:r>
          </a:p>
        </p:txBody>
      </p:sp>
      <p:sp>
        <p:nvSpPr>
          <p:cNvPr id="22" name="Rectangle 21"/>
          <p:cNvSpPr/>
          <p:nvPr/>
        </p:nvSpPr>
        <p:spPr>
          <a:xfrm>
            <a:off x="320040" y="5715000"/>
            <a:ext cx="6126480" cy="82296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5806440"/>
            <a:ext cx="5852160" cy="594360"/>
          </a:xfrm>
          <a:prstGeom prst="rect">
            <a:avLst/>
          </a:prstGeom>
          <a:noFill/>
        </p:spPr>
        <p:txBody>
          <a:bodyPr wrap="square">
            <a:spAutoFit/>
          </a:bodyPr>
          <a:lstStyle/>
          <a:p>
            <a:pPr algn="l"/>
            <a:r>
              <a:rPr sz="900" b="0">
                <a:solidFill>
                  <a:srgbClr val="22D3EE"/>
                </a:solidFill>
                <a:latin typeface="Segoe UI"/>
              </a:rPr>
              <a:t>Model Attribution: risk score + decision tier + reason codes + layer contributions (base / rich / behavioural / graph)</a:t>
            </a:r>
          </a:p>
        </p:txBody>
      </p:sp>
      <p:pic>
        <p:nvPicPr>
          <p:cNvPr id="24" name="Picture 23" descr="06_case_dossier_evidence.png"/>
          <p:cNvPicPr>
            <a:picLocks noChangeAspect="1"/>
          </p:cNvPicPr>
          <p:nvPr/>
        </p:nvPicPr>
        <p:blipFill>
          <a:blip r:embed="rId3"/>
          <a:stretch>
            <a:fillRect/>
          </a:stretch>
        </p:blipFill>
        <p:spPr>
          <a:xfrm>
            <a:off x="6675120" y="1097280"/>
            <a:ext cx="5212080" cy="456057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AI INVESTIGATION</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Advisory AI brief: schema-validated, version-tracked, analyst-controlled.</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34440"/>
            <a:ext cx="6126480" cy="107899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234440"/>
            <a:ext cx="54864" cy="107899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07592"/>
            <a:ext cx="5669280" cy="347472"/>
          </a:xfrm>
          <a:prstGeom prst="rect">
            <a:avLst/>
          </a:prstGeom>
          <a:noFill/>
        </p:spPr>
        <p:txBody>
          <a:bodyPr wrap="square">
            <a:spAutoFit/>
          </a:bodyPr>
          <a:lstStyle/>
          <a:p>
            <a:pPr algn="l"/>
            <a:r>
              <a:rPr sz="1200" b="1">
                <a:solidFill>
                  <a:srgbClr val="FFFFFF"/>
                </a:solidFill>
                <a:latin typeface="Segoe UI"/>
              </a:rPr>
              <a:t>Structured output schema</a:t>
            </a:r>
          </a:p>
        </p:txBody>
      </p:sp>
      <p:sp>
        <p:nvSpPr>
          <p:cNvPr id="9" name="TextBox 8"/>
          <p:cNvSpPr txBox="1"/>
          <p:nvPr/>
        </p:nvSpPr>
        <p:spPr>
          <a:xfrm>
            <a:off x="548640" y="1691640"/>
            <a:ext cx="5669280" cy="530352"/>
          </a:xfrm>
          <a:prstGeom prst="rect">
            <a:avLst/>
          </a:prstGeom>
          <a:noFill/>
        </p:spPr>
        <p:txBody>
          <a:bodyPr wrap="square">
            <a:spAutoFit/>
          </a:bodyPr>
          <a:lstStyle/>
          <a:p>
            <a:pPr algn="l"/>
            <a:r>
              <a:rPr sz="1000" b="0">
                <a:solidFill>
                  <a:srgbClr val="CBD5E1"/>
                </a:solidFill>
                <a:latin typeface="Segoe UI"/>
              </a:rPr>
              <a:t>LLM response validated against required field schema on every call. Invalid responses trigger retry with appended error context.</a:t>
            </a:r>
          </a:p>
        </p:txBody>
      </p:sp>
      <p:sp>
        <p:nvSpPr>
          <p:cNvPr id="10" name="Rectangle 9"/>
          <p:cNvSpPr/>
          <p:nvPr/>
        </p:nvSpPr>
        <p:spPr>
          <a:xfrm>
            <a:off x="320040" y="2441448"/>
            <a:ext cx="6126480" cy="107899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2441448"/>
            <a:ext cx="54864" cy="1078992"/>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5669280" cy="347472"/>
          </a:xfrm>
          <a:prstGeom prst="rect">
            <a:avLst/>
          </a:prstGeom>
          <a:noFill/>
        </p:spPr>
        <p:txBody>
          <a:bodyPr wrap="square">
            <a:spAutoFit/>
          </a:bodyPr>
          <a:lstStyle/>
          <a:p>
            <a:pPr algn="l"/>
            <a:r>
              <a:rPr sz="1200" b="1">
                <a:solidFill>
                  <a:srgbClr val="FFFFFF"/>
                </a:solidFill>
                <a:latin typeface="Segoe UI"/>
              </a:rPr>
              <a:t>AGENT_VERSION traceability</a:t>
            </a:r>
          </a:p>
        </p:txBody>
      </p:sp>
      <p:sp>
        <p:nvSpPr>
          <p:cNvPr id="13" name="TextBox 12"/>
          <p:cNvSpPr txBox="1"/>
          <p:nvPr/>
        </p:nvSpPr>
        <p:spPr>
          <a:xfrm>
            <a:off x="548640" y="2898648"/>
            <a:ext cx="5669280" cy="530352"/>
          </a:xfrm>
          <a:prstGeom prst="rect">
            <a:avLst/>
          </a:prstGeom>
          <a:noFill/>
        </p:spPr>
        <p:txBody>
          <a:bodyPr wrap="square">
            <a:spAutoFit/>
          </a:bodyPr>
          <a:lstStyle/>
          <a:p>
            <a:pPr algn="l"/>
            <a:r>
              <a:rPr sz="1000" b="0">
                <a:solidFill>
                  <a:srgbClr val="CBD5E1"/>
                </a:solidFill>
                <a:latin typeface="Segoe UI"/>
              </a:rPr>
              <a:t>Every InvestigationReport row in PostgreSQL stores AGENT_VERSION. Prior briefs remain permanently linked to the agent configuration that produced them.</a:t>
            </a:r>
          </a:p>
        </p:txBody>
      </p:sp>
      <p:sp>
        <p:nvSpPr>
          <p:cNvPr id="14" name="Rectangle 13"/>
          <p:cNvSpPr/>
          <p:nvPr/>
        </p:nvSpPr>
        <p:spPr>
          <a:xfrm>
            <a:off x="320040" y="3648456"/>
            <a:ext cx="6126480" cy="107899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3648456"/>
            <a:ext cx="54864" cy="107899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721608"/>
            <a:ext cx="5669280" cy="347472"/>
          </a:xfrm>
          <a:prstGeom prst="rect">
            <a:avLst/>
          </a:prstGeom>
          <a:noFill/>
        </p:spPr>
        <p:txBody>
          <a:bodyPr wrap="square">
            <a:spAutoFit/>
          </a:bodyPr>
          <a:lstStyle/>
          <a:p>
            <a:pPr algn="l"/>
            <a:r>
              <a:rPr sz="1200" b="1">
                <a:solidFill>
                  <a:srgbClr val="FFFFFF"/>
                </a:solidFill>
                <a:latin typeface="Segoe UI"/>
              </a:rPr>
              <a:t>Bounded failure semantics</a:t>
            </a:r>
          </a:p>
        </p:txBody>
      </p:sp>
      <p:sp>
        <p:nvSpPr>
          <p:cNvPr id="17" name="TextBox 16"/>
          <p:cNvSpPr txBox="1"/>
          <p:nvPr/>
        </p:nvSpPr>
        <p:spPr>
          <a:xfrm>
            <a:off x="548640" y="4105656"/>
            <a:ext cx="5669280" cy="530352"/>
          </a:xfrm>
          <a:prstGeom prst="rect">
            <a:avLst/>
          </a:prstGeom>
          <a:noFill/>
        </p:spPr>
        <p:txBody>
          <a:bodyPr wrap="square">
            <a:spAutoFit/>
          </a:bodyPr>
          <a:lstStyle/>
          <a:p>
            <a:pPr algn="l"/>
            <a:r>
              <a:rPr sz="1000" b="0">
                <a:solidFill>
                  <a:srgbClr val="CBD5E1"/>
                </a:solidFill>
                <a:latin typeface="Segoe UI"/>
              </a:rPr>
              <a:t>After retry limit, failure is surfaced without crashing the consumer. The next message is processed immediately.</a:t>
            </a:r>
          </a:p>
        </p:txBody>
      </p:sp>
      <p:sp>
        <p:nvSpPr>
          <p:cNvPr id="18" name="Rectangle 17"/>
          <p:cNvSpPr/>
          <p:nvPr/>
        </p:nvSpPr>
        <p:spPr>
          <a:xfrm>
            <a:off x="320040" y="4855464"/>
            <a:ext cx="6126480" cy="107899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0040" y="4855464"/>
            <a:ext cx="54864" cy="1078992"/>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928616"/>
            <a:ext cx="5669280" cy="347472"/>
          </a:xfrm>
          <a:prstGeom prst="rect">
            <a:avLst/>
          </a:prstGeom>
          <a:noFill/>
        </p:spPr>
        <p:txBody>
          <a:bodyPr wrap="square">
            <a:spAutoFit/>
          </a:bodyPr>
          <a:lstStyle/>
          <a:p>
            <a:pPr algn="l"/>
            <a:r>
              <a:rPr sz="1200" b="1">
                <a:solidFill>
                  <a:srgbClr val="FFFFFF"/>
                </a:solidFill>
                <a:latin typeface="Segoe UI"/>
              </a:rPr>
              <a:t>Analyst verdict required</a:t>
            </a:r>
          </a:p>
        </p:txBody>
      </p:sp>
      <p:sp>
        <p:nvSpPr>
          <p:cNvPr id="21" name="TextBox 20"/>
          <p:cNvSpPr txBox="1"/>
          <p:nvPr/>
        </p:nvSpPr>
        <p:spPr>
          <a:xfrm>
            <a:off x="548640" y="5312664"/>
            <a:ext cx="5669280" cy="530352"/>
          </a:xfrm>
          <a:prstGeom prst="rect">
            <a:avLst/>
          </a:prstGeom>
          <a:noFill/>
        </p:spPr>
        <p:txBody>
          <a:bodyPr wrap="square">
            <a:spAutoFit/>
          </a:bodyPr>
          <a:lstStyle/>
          <a:p>
            <a:pPr algn="l"/>
            <a:r>
              <a:rPr sz="1000" b="0">
                <a:solidFill>
                  <a:srgbClr val="CBD5E1"/>
                </a:solidFill>
                <a:latin typeface="Segoe UI"/>
              </a:rPr>
              <a:t>The brief is advisory. No automated path exists from LLM recommendation to case action. POST /review-case/{case_id} is always required.</a:t>
            </a:r>
          </a:p>
        </p:txBody>
      </p:sp>
      <p:pic>
        <p:nvPicPr>
          <p:cNvPr id="22" name="Picture 21" descr="07_ai_investigation_panel.png"/>
          <p:cNvPicPr>
            <a:picLocks noChangeAspect="1"/>
          </p:cNvPicPr>
          <p:nvPr/>
        </p:nvPicPr>
        <p:blipFill>
          <a:blip r:embed="rId3"/>
          <a:stretch>
            <a:fillRect/>
          </a:stretch>
        </p:blipFill>
        <p:spPr>
          <a:xfrm>
            <a:off x="6675120" y="1097280"/>
            <a:ext cx="5212080" cy="5212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PORTFOLIO SCAN</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10M-row benchmark: chunked ingestion, indexed pagination, cursor-streamed export.</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34440"/>
            <a:ext cx="210312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 y="1325880"/>
            <a:ext cx="1920239" cy="475488"/>
          </a:xfrm>
          <a:prstGeom prst="rect">
            <a:avLst/>
          </a:prstGeom>
          <a:noFill/>
        </p:spPr>
        <p:txBody>
          <a:bodyPr wrap="square">
            <a:spAutoFit/>
          </a:bodyPr>
          <a:lstStyle/>
          <a:p>
            <a:pPr algn="ctr"/>
            <a:r>
              <a:rPr sz="2400" b="1">
                <a:solidFill>
                  <a:srgbClr val="34D399"/>
                </a:solidFill>
                <a:latin typeface="Segoe UI"/>
              </a:rPr>
              <a:t>8.42 M</a:t>
            </a:r>
          </a:p>
        </p:txBody>
      </p:sp>
      <p:sp>
        <p:nvSpPr>
          <p:cNvPr id="8" name="TextBox 7"/>
          <p:cNvSpPr txBox="1"/>
          <p:nvPr/>
        </p:nvSpPr>
        <p:spPr>
          <a:xfrm>
            <a:off x="411479" y="1828800"/>
            <a:ext cx="1920239" cy="502920"/>
          </a:xfrm>
          <a:prstGeom prst="rect">
            <a:avLst/>
          </a:prstGeom>
          <a:noFill/>
        </p:spPr>
        <p:txBody>
          <a:bodyPr wrap="square">
            <a:spAutoFit/>
          </a:bodyPr>
          <a:lstStyle/>
          <a:p>
            <a:pPr algn="ctr"/>
            <a:r>
              <a:rPr sz="900" b="0">
                <a:solidFill>
                  <a:srgbClr val="CBD5E1"/>
                </a:solidFill>
                <a:latin typeface="Segoe UI"/>
              </a:rPr>
              <a:t>Row P1 filter paginated count query</a:t>
            </a:r>
          </a:p>
        </p:txBody>
      </p:sp>
      <p:sp>
        <p:nvSpPr>
          <p:cNvPr id="9" name="Rectangle 8"/>
          <p:cNvSpPr/>
          <p:nvPr/>
        </p:nvSpPr>
        <p:spPr>
          <a:xfrm>
            <a:off x="2697479" y="1234440"/>
            <a:ext cx="210312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88920" y="1325880"/>
            <a:ext cx="1920239" cy="475488"/>
          </a:xfrm>
          <a:prstGeom prst="rect">
            <a:avLst/>
          </a:prstGeom>
          <a:noFill/>
        </p:spPr>
        <p:txBody>
          <a:bodyPr wrap="square">
            <a:spAutoFit/>
          </a:bodyPr>
          <a:lstStyle/>
          <a:p>
            <a:pPr algn="ctr"/>
            <a:r>
              <a:rPr sz="2400" b="1">
                <a:solidFill>
                  <a:srgbClr val="34D399"/>
                </a:solidFill>
                <a:latin typeface="Segoe UI"/>
              </a:rPr>
              <a:t>4.19 s</a:t>
            </a:r>
          </a:p>
        </p:txBody>
      </p:sp>
      <p:sp>
        <p:nvSpPr>
          <p:cNvPr id="11" name="TextBox 10"/>
          <p:cNvSpPr txBox="1"/>
          <p:nvPr/>
        </p:nvSpPr>
        <p:spPr>
          <a:xfrm>
            <a:off x="2788920" y="1828800"/>
            <a:ext cx="1920239" cy="502920"/>
          </a:xfrm>
          <a:prstGeom prst="rect">
            <a:avLst/>
          </a:prstGeom>
          <a:noFill/>
        </p:spPr>
        <p:txBody>
          <a:bodyPr wrap="square">
            <a:spAutoFit/>
          </a:bodyPr>
          <a:lstStyle/>
          <a:p>
            <a:pPr algn="ctr"/>
            <a:r>
              <a:rPr sz="900" b="0">
                <a:solidFill>
                  <a:srgbClr val="CBD5E1"/>
                </a:solidFill>
                <a:latin typeface="Segoe UI"/>
              </a:rPr>
              <a:t>P1 filter query response time</a:t>
            </a:r>
          </a:p>
        </p:txBody>
      </p:sp>
      <p:sp>
        <p:nvSpPr>
          <p:cNvPr id="12" name="Rectangle 11"/>
          <p:cNvSpPr/>
          <p:nvPr/>
        </p:nvSpPr>
        <p:spPr>
          <a:xfrm>
            <a:off x="5074919" y="1234440"/>
            <a:ext cx="210312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359" y="1325880"/>
            <a:ext cx="1920239" cy="475488"/>
          </a:xfrm>
          <a:prstGeom prst="rect">
            <a:avLst/>
          </a:prstGeom>
          <a:noFill/>
        </p:spPr>
        <p:txBody>
          <a:bodyPr wrap="square">
            <a:spAutoFit/>
          </a:bodyPr>
          <a:lstStyle/>
          <a:p>
            <a:pPr algn="ctr"/>
            <a:r>
              <a:rPr sz="2400" b="1">
                <a:solidFill>
                  <a:srgbClr val="34D399"/>
                </a:solidFill>
                <a:latin typeface="Segoe UI"/>
              </a:rPr>
              <a:t>6.99 ms</a:t>
            </a:r>
          </a:p>
        </p:txBody>
      </p:sp>
      <p:sp>
        <p:nvSpPr>
          <p:cNvPr id="14" name="TextBox 13"/>
          <p:cNvSpPr txBox="1"/>
          <p:nvPr/>
        </p:nvSpPr>
        <p:spPr>
          <a:xfrm>
            <a:off x="5166359" y="1828800"/>
            <a:ext cx="1920239" cy="502920"/>
          </a:xfrm>
          <a:prstGeom prst="rect">
            <a:avLst/>
          </a:prstGeom>
          <a:noFill/>
        </p:spPr>
        <p:txBody>
          <a:bodyPr wrap="square">
            <a:spAutoFit/>
          </a:bodyPr>
          <a:lstStyle/>
          <a:p>
            <a:pPr algn="ctr"/>
            <a:r>
              <a:rPr sz="900" b="0">
                <a:solidFill>
                  <a:srgbClr val="CBD5E1"/>
                </a:solidFill>
                <a:latin typeface="Segoe UI"/>
              </a:rPr>
              <a:t>Export time to first byte</a:t>
            </a:r>
          </a:p>
        </p:txBody>
      </p:sp>
      <p:sp>
        <p:nvSpPr>
          <p:cNvPr id="15" name="Rectangle 14"/>
          <p:cNvSpPr/>
          <p:nvPr/>
        </p:nvSpPr>
        <p:spPr>
          <a:xfrm>
            <a:off x="7452359" y="1234440"/>
            <a:ext cx="210312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43799" y="1325880"/>
            <a:ext cx="1920239" cy="475488"/>
          </a:xfrm>
          <a:prstGeom prst="rect">
            <a:avLst/>
          </a:prstGeom>
          <a:noFill/>
        </p:spPr>
        <p:txBody>
          <a:bodyPr wrap="square">
            <a:spAutoFit/>
          </a:bodyPr>
          <a:lstStyle/>
          <a:p>
            <a:pPr algn="ctr"/>
            <a:r>
              <a:rPr sz="2400" b="1">
                <a:solidFill>
                  <a:srgbClr val="34D399"/>
                </a:solidFill>
                <a:latin typeface="Segoe UI"/>
              </a:rPr>
              <a:t>1.64 GiB</a:t>
            </a:r>
          </a:p>
        </p:txBody>
      </p:sp>
      <p:sp>
        <p:nvSpPr>
          <p:cNvPr id="17" name="TextBox 16"/>
          <p:cNvSpPr txBox="1"/>
          <p:nvPr/>
        </p:nvSpPr>
        <p:spPr>
          <a:xfrm>
            <a:off x="7543799" y="1828800"/>
            <a:ext cx="1920239" cy="502920"/>
          </a:xfrm>
          <a:prstGeom prst="rect">
            <a:avLst/>
          </a:prstGeom>
          <a:noFill/>
        </p:spPr>
        <p:txBody>
          <a:bodyPr wrap="square">
            <a:spAutoFit/>
          </a:bodyPr>
          <a:lstStyle/>
          <a:p>
            <a:pPr algn="ctr"/>
            <a:r>
              <a:rPr sz="900" b="0">
                <a:solidFill>
                  <a:srgbClr val="CBD5E1"/>
                </a:solidFill>
                <a:latin typeface="Segoe UI"/>
              </a:rPr>
              <a:t>Full 10M export file size</a:t>
            </a:r>
          </a:p>
        </p:txBody>
      </p:sp>
      <p:sp>
        <p:nvSpPr>
          <p:cNvPr id="18" name="Rectangle 17"/>
          <p:cNvSpPr/>
          <p:nvPr/>
        </p:nvSpPr>
        <p:spPr>
          <a:xfrm>
            <a:off x="9829799" y="1234440"/>
            <a:ext cx="2103120" cy="11887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21239" y="1325880"/>
            <a:ext cx="1920239" cy="475488"/>
          </a:xfrm>
          <a:prstGeom prst="rect">
            <a:avLst/>
          </a:prstGeom>
          <a:noFill/>
        </p:spPr>
        <p:txBody>
          <a:bodyPr wrap="square">
            <a:spAutoFit/>
          </a:bodyPr>
          <a:lstStyle/>
          <a:p>
            <a:pPr algn="ctr"/>
            <a:r>
              <a:rPr sz="2400" b="1">
                <a:solidFill>
                  <a:srgbClr val="34D399"/>
                </a:solidFill>
                <a:latin typeface="Segoe UI"/>
              </a:rPr>
              <a:t>0</a:t>
            </a:r>
          </a:p>
        </p:txBody>
      </p:sp>
      <p:sp>
        <p:nvSpPr>
          <p:cNvPr id="20" name="TextBox 19"/>
          <p:cNvSpPr txBox="1"/>
          <p:nvPr/>
        </p:nvSpPr>
        <p:spPr>
          <a:xfrm>
            <a:off x="9921239" y="1828800"/>
            <a:ext cx="1920239" cy="502920"/>
          </a:xfrm>
          <a:prstGeom prst="rect">
            <a:avLst/>
          </a:prstGeom>
          <a:noFill/>
        </p:spPr>
        <p:txBody>
          <a:bodyPr wrap="square">
            <a:spAutoFit/>
          </a:bodyPr>
          <a:lstStyle/>
          <a:p>
            <a:pPr algn="ctr"/>
            <a:r>
              <a:rPr sz="900" b="0">
                <a:solidFill>
                  <a:srgbClr val="CBD5E1"/>
                </a:solidFill>
                <a:latin typeface="Segoe UI"/>
              </a:rPr>
              <a:t>OOM events / API restarts</a:t>
            </a:r>
          </a:p>
        </p:txBody>
      </p:sp>
      <p:sp>
        <p:nvSpPr>
          <p:cNvPr id="21" name="Rectangle 20"/>
          <p:cNvSpPr/>
          <p:nvPr/>
        </p:nvSpPr>
        <p:spPr>
          <a:xfrm>
            <a:off x="320040" y="260604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0040" y="2788920"/>
            <a:ext cx="566928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2788920"/>
            <a:ext cx="54864" cy="105156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862072"/>
            <a:ext cx="5303520" cy="347472"/>
          </a:xfrm>
          <a:prstGeom prst="rect">
            <a:avLst/>
          </a:prstGeom>
          <a:noFill/>
        </p:spPr>
        <p:txBody>
          <a:bodyPr wrap="square">
            <a:spAutoFit/>
          </a:bodyPr>
          <a:lstStyle/>
          <a:p>
            <a:pPr algn="l"/>
            <a:r>
              <a:rPr sz="1200" b="1">
                <a:solidFill>
                  <a:srgbClr val="FFFFFF"/>
                </a:solidFill>
                <a:latin typeface="Segoe UI"/>
              </a:rPr>
              <a:t>Chunked ingestion</a:t>
            </a:r>
          </a:p>
        </p:txBody>
      </p:sp>
      <p:sp>
        <p:nvSpPr>
          <p:cNvPr id="25" name="TextBox 24"/>
          <p:cNvSpPr txBox="1"/>
          <p:nvPr/>
        </p:nvSpPr>
        <p:spPr>
          <a:xfrm>
            <a:off x="548640" y="3246120"/>
            <a:ext cx="5303520" cy="502920"/>
          </a:xfrm>
          <a:prstGeom prst="rect">
            <a:avLst/>
          </a:prstGeom>
          <a:noFill/>
        </p:spPr>
        <p:txBody>
          <a:bodyPr wrap="square">
            <a:spAutoFit/>
          </a:bodyPr>
          <a:lstStyle/>
          <a:p>
            <a:pPr algn="l"/>
            <a:r>
              <a:rPr sz="1000" b="0">
                <a:solidFill>
                  <a:srgbClr val="CBD5E1"/>
                </a:solidFill>
                <a:latin typeface="Segoe UI"/>
              </a:rPr>
              <a:t>CSV processed in fixed-size chunks. Full file never held in API heap.</a:t>
            </a:r>
          </a:p>
        </p:txBody>
      </p:sp>
      <p:sp>
        <p:nvSpPr>
          <p:cNvPr id="26" name="Rectangle 25"/>
          <p:cNvSpPr/>
          <p:nvPr/>
        </p:nvSpPr>
        <p:spPr>
          <a:xfrm>
            <a:off x="6263640" y="2788920"/>
            <a:ext cx="566928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2788920"/>
            <a:ext cx="54864" cy="1051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2862072"/>
            <a:ext cx="5303520" cy="347472"/>
          </a:xfrm>
          <a:prstGeom prst="rect">
            <a:avLst/>
          </a:prstGeom>
          <a:noFill/>
        </p:spPr>
        <p:txBody>
          <a:bodyPr wrap="square">
            <a:spAutoFit/>
          </a:bodyPr>
          <a:lstStyle/>
          <a:p>
            <a:pPr algn="l"/>
            <a:r>
              <a:rPr sz="1200" b="1">
                <a:solidFill>
                  <a:srgbClr val="FFFFFF"/>
                </a:solidFill>
                <a:latin typeface="Segoe UI"/>
              </a:rPr>
              <a:t>Indexed pagination</a:t>
            </a:r>
          </a:p>
        </p:txBody>
      </p:sp>
      <p:sp>
        <p:nvSpPr>
          <p:cNvPr id="29" name="TextBox 28"/>
          <p:cNvSpPr txBox="1"/>
          <p:nvPr/>
        </p:nvSpPr>
        <p:spPr>
          <a:xfrm>
            <a:off x="6492240" y="3246120"/>
            <a:ext cx="5303520" cy="502920"/>
          </a:xfrm>
          <a:prstGeom prst="rect">
            <a:avLst/>
          </a:prstGeom>
          <a:noFill/>
        </p:spPr>
        <p:txBody>
          <a:bodyPr wrap="square">
            <a:spAutoFit/>
          </a:bodyPr>
          <a:lstStyle/>
          <a:p>
            <a:pPr algn="l"/>
            <a:r>
              <a:rPr sz="1000" b="0">
                <a:solidFill>
                  <a:srgbClr val="CBD5E1"/>
                </a:solidFill>
                <a:latin typeface="Segoe UI"/>
              </a:rPr>
              <a:t>Composite PostgreSQL indexes on (scan_id, risk_tier, id). Sub-second filtered pages.</a:t>
            </a:r>
          </a:p>
        </p:txBody>
      </p:sp>
      <p:sp>
        <p:nvSpPr>
          <p:cNvPr id="30" name="Rectangle 29"/>
          <p:cNvSpPr/>
          <p:nvPr/>
        </p:nvSpPr>
        <p:spPr>
          <a:xfrm>
            <a:off x="320040" y="3995928"/>
            <a:ext cx="566928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0040" y="3995928"/>
            <a:ext cx="54864" cy="10515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069080"/>
            <a:ext cx="5303520" cy="347472"/>
          </a:xfrm>
          <a:prstGeom prst="rect">
            <a:avLst/>
          </a:prstGeom>
          <a:noFill/>
        </p:spPr>
        <p:txBody>
          <a:bodyPr wrap="square">
            <a:spAutoFit/>
          </a:bodyPr>
          <a:lstStyle/>
          <a:p>
            <a:pPr algn="l"/>
            <a:r>
              <a:rPr sz="1200" b="1">
                <a:solidFill>
                  <a:srgbClr val="FFFFFF"/>
                </a:solidFill>
                <a:latin typeface="Segoe UI"/>
              </a:rPr>
              <a:t>Cursor-streamed export</a:t>
            </a:r>
          </a:p>
        </p:txBody>
      </p:sp>
      <p:sp>
        <p:nvSpPr>
          <p:cNvPr id="33" name="TextBox 32"/>
          <p:cNvSpPr txBox="1"/>
          <p:nvPr/>
        </p:nvSpPr>
        <p:spPr>
          <a:xfrm>
            <a:off x="548640" y="4453128"/>
            <a:ext cx="5303520" cy="502920"/>
          </a:xfrm>
          <a:prstGeom prst="rect">
            <a:avLst/>
          </a:prstGeom>
          <a:noFill/>
        </p:spPr>
        <p:txBody>
          <a:bodyPr wrap="square">
            <a:spAutoFit/>
          </a:bodyPr>
          <a:lstStyle/>
          <a:p>
            <a:pPr algn="l"/>
            <a:r>
              <a:rPr sz="1000" b="0">
                <a:solidFill>
                  <a:srgbClr val="CBD5E1"/>
                </a:solidFill>
                <a:latin typeface="Segoe UI"/>
              </a:rPr>
              <a:t>Server-side PostgreSQL cursor streams 10M rows. API memory stays flat throughout.</a:t>
            </a:r>
          </a:p>
        </p:txBody>
      </p:sp>
      <p:sp>
        <p:nvSpPr>
          <p:cNvPr id="34" name="Rectangle 33"/>
          <p:cNvSpPr/>
          <p:nvPr/>
        </p:nvSpPr>
        <p:spPr>
          <a:xfrm>
            <a:off x="6263640" y="3995928"/>
            <a:ext cx="5669280"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63640" y="3995928"/>
            <a:ext cx="54864" cy="105156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4069080"/>
            <a:ext cx="5303520" cy="347472"/>
          </a:xfrm>
          <a:prstGeom prst="rect">
            <a:avLst/>
          </a:prstGeom>
          <a:noFill/>
        </p:spPr>
        <p:txBody>
          <a:bodyPr wrap="square">
            <a:spAutoFit/>
          </a:bodyPr>
          <a:lstStyle/>
          <a:p>
            <a:pPr algn="l"/>
            <a:r>
              <a:rPr sz="1200" b="1">
                <a:solidFill>
                  <a:srgbClr val="FFFFFF"/>
                </a:solidFill>
                <a:latin typeface="Segoe UI"/>
              </a:rPr>
              <a:t>Promote to case</a:t>
            </a:r>
          </a:p>
        </p:txBody>
      </p:sp>
      <p:sp>
        <p:nvSpPr>
          <p:cNvPr id="37" name="TextBox 36"/>
          <p:cNvSpPr txBox="1"/>
          <p:nvPr/>
        </p:nvSpPr>
        <p:spPr>
          <a:xfrm>
            <a:off x="6492240" y="4453128"/>
            <a:ext cx="5303520" cy="502920"/>
          </a:xfrm>
          <a:prstGeom prst="rect">
            <a:avLst/>
          </a:prstGeom>
          <a:noFill/>
        </p:spPr>
        <p:txBody>
          <a:bodyPr wrap="square">
            <a:spAutoFit/>
          </a:bodyPr>
          <a:lstStyle/>
          <a:p>
            <a:pPr algn="l"/>
            <a:r>
              <a:rPr sz="1000" b="0">
                <a:solidFill>
                  <a:srgbClr val="CBD5E1"/>
                </a:solidFill>
                <a:latin typeface="Segoe UI"/>
              </a:rPr>
              <a:t>POST /risk-scan/{scan_id}/promote/{result_id} promotes any scan row to a full review-queue case.</a:t>
            </a:r>
          </a:p>
        </p:txBody>
      </p:sp>
      <p:pic>
        <p:nvPicPr>
          <p:cNvPr id="38" name="Picture 37" descr="05_review_queue_prioritization.png"/>
          <p:cNvPicPr>
            <a:picLocks noChangeAspect="1"/>
          </p:cNvPicPr>
          <p:nvPr/>
        </p:nvPicPr>
        <p:blipFill>
          <a:blip r:embed="rId3"/>
          <a:stretch>
            <a:fillRect/>
          </a:stretch>
        </p:blipFill>
        <p:spPr>
          <a:xfrm>
            <a:off x="6446520" y="2743200"/>
            <a:ext cx="5394960" cy="337185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INTEGRATION BLUEPRINT</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Proposed integration facade: POST /fraud/decision (not yet implemented).</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188720"/>
            <a:ext cx="3566160" cy="52120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261872"/>
            <a:ext cx="3291840" cy="347472"/>
          </a:xfrm>
          <a:prstGeom prst="rect">
            <a:avLst/>
          </a:prstGeom>
          <a:noFill/>
        </p:spPr>
        <p:txBody>
          <a:bodyPr wrap="square">
            <a:spAutoFit/>
          </a:bodyPr>
          <a:lstStyle/>
          <a:p>
            <a:pPr algn="l"/>
            <a:r>
              <a:rPr sz="1100" b="1">
                <a:solidFill>
                  <a:srgbClr val="FFFFFF"/>
                </a:solidFill>
                <a:latin typeface="Segoe UI"/>
              </a:rPr>
              <a:t>Implemented API (27 endpoints)</a:t>
            </a:r>
          </a:p>
        </p:txBody>
      </p:sp>
      <p:sp>
        <p:nvSpPr>
          <p:cNvPr id="8" name="Rectangle 7"/>
          <p:cNvSpPr/>
          <p:nvPr/>
        </p:nvSpPr>
        <p:spPr>
          <a:xfrm>
            <a:off x="384048" y="1691640"/>
            <a:ext cx="54864" cy="38404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 y="1709928"/>
            <a:ext cx="1005840" cy="182880"/>
          </a:xfrm>
          <a:prstGeom prst="rect">
            <a:avLst/>
          </a:prstGeom>
          <a:noFill/>
        </p:spPr>
        <p:txBody>
          <a:bodyPr wrap="square">
            <a:spAutoFit/>
          </a:bodyPr>
          <a:lstStyle/>
          <a:p>
            <a:pPr algn="l"/>
            <a:r>
              <a:rPr sz="900" b="1">
                <a:solidFill>
                  <a:srgbClr val="3B82F6"/>
                </a:solidFill>
                <a:latin typeface="Segoe UI"/>
              </a:rPr>
              <a:t>Scoring</a:t>
            </a:r>
          </a:p>
        </p:txBody>
      </p:sp>
      <p:sp>
        <p:nvSpPr>
          <p:cNvPr id="10" name="TextBox 9"/>
          <p:cNvSpPr txBox="1"/>
          <p:nvPr/>
        </p:nvSpPr>
        <p:spPr>
          <a:xfrm>
            <a:off x="530352" y="1892808"/>
            <a:ext cx="3200400" cy="219456"/>
          </a:xfrm>
          <a:prstGeom prst="rect">
            <a:avLst/>
          </a:prstGeom>
          <a:noFill/>
        </p:spPr>
        <p:txBody>
          <a:bodyPr wrap="square">
            <a:spAutoFit/>
          </a:bodyPr>
          <a:lstStyle/>
          <a:p>
            <a:pPr algn="l"/>
            <a:r>
              <a:rPr sz="800" b="0">
                <a:solidFill>
                  <a:srgbClr val="CBD5E1"/>
                </a:solidFill>
                <a:latin typeface="Segoe UI"/>
              </a:rPr>
              <a:t>POST /score-transaction</a:t>
            </a:r>
          </a:p>
        </p:txBody>
      </p:sp>
      <p:sp>
        <p:nvSpPr>
          <p:cNvPr id="11" name="Rectangle 10"/>
          <p:cNvSpPr/>
          <p:nvPr/>
        </p:nvSpPr>
        <p:spPr>
          <a:xfrm>
            <a:off x="384048" y="2240280"/>
            <a:ext cx="54864" cy="384048"/>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 y="2258568"/>
            <a:ext cx="1005840" cy="182880"/>
          </a:xfrm>
          <a:prstGeom prst="rect">
            <a:avLst/>
          </a:prstGeom>
          <a:noFill/>
        </p:spPr>
        <p:txBody>
          <a:bodyPr wrap="square">
            <a:spAutoFit/>
          </a:bodyPr>
          <a:lstStyle/>
          <a:p>
            <a:pPr algn="l"/>
            <a:r>
              <a:rPr sz="900" b="1">
                <a:solidFill>
                  <a:srgbClr val="22D3EE"/>
                </a:solidFill>
                <a:latin typeface="Segoe UI"/>
              </a:rPr>
              <a:t>Cases</a:t>
            </a:r>
          </a:p>
        </p:txBody>
      </p:sp>
      <p:sp>
        <p:nvSpPr>
          <p:cNvPr id="13" name="TextBox 12"/>
          <p:cNvSpPr txBox="1"/>
          <p:nvPr/>
        </p:nvSpPr>
        <p:spPr>
          <a:xfrm>
            <a:off x="530352" y="2441448"/>
            <a:ext cx="3200400" cy="219456"/>
          </a:xfrm>
          <a:prstGeom prst="rect">
            <a:avLst/>
          </a:prstGeom>
          <a:noFill/>
        </p:spPr>
        <p:txBody>
          <a:bodyPr wrap="square">
            <a:spAutoFit/>
          </a:bodyPr>
          <a:lstStyle/>
          <a:p>
            <a:pPr algn="l"/>
            <a:r>
              <a:rPr sz="800" b="0">
                <a:solidFill>
                  <a:srgbClr val="CBD5E1"/>
                </a:solidFill>
                <a:latin typeface="Segoe UI"/>
              </a:rPr>
              <a:t>GET/POST /cases, /cases/{id}</a:t>
            </a:r>
          </a:p>
        </p:txBody>
      </p:sp>
      <p:sp>
        <p:nvSpPr>
          <p:cNvPr id="14" name="Rectangle 13"/>
          <p:cNvSpPr/>
          <p:nvPr/>
        </p:nvSpPr>
        <p:spPr>
          <a:xfrm>
            <a:off x="384048" y="2788920"/>
            <a:ext cx="54864" cy="38404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 y="2807208"/>
            <a:ext cx="1005840" cy="182880"/>
          </a:xfrm>
          <a:prstGeom prst="rect">
            <a:avLst/>
          </a:prstGeom>
          <a:noFill/>
        </p:spPr>
        <p:txBody>
          <a:bodyPr wrap="square">
            <a:spAutoFit/>
          </a:bodyPr>
          <a:lstStyle/>
          <a:p>
            <a:pPr algn="l"/>
            <a:r>
              <a:rPr sz="900" b="1">
                <a:solidFill>
                  <a:srgbClr val="34D399"/>
                </a:solidFill>
                <a:latin typeface="Segoe UI"/>
              </a:rPr>
              <a:t>Investigation</a:t>
            </a:r>
          </a:p>
        </p:txBody>
      </p:sp>
      <p:sp>
        <p:nvSpPr>
          <p:cNvPr id="16" name="TextBox 15"/>
          <p:cNvSpPr txBox="1"/>
          <p:nvPr/>
        </p:nvSpPr>
        <p:spPr>
          <a:xfrm>
            <a:off x="530352" y="2990088"/>
            <a:ext cx="3200400" cy="219456"/>
          </a:xfrm>
          <a:prstGeom prst="rect">
            <a:avLst/>
          </a:prstGeom>
          <a:noFill/>
        </p:spPr>
        <p:txBody>
          <a:bodyPr wrap="square">
            <a:spAutoFit/>
          </a:bodyPr>
          <a:lstStyle/>
          <a:p>
            <a:pPr algn="l"/>
            <a:r>
              <a:rPr sz="800" b="0">
                <a:solidFill>
                  <a:srgbClr val="CBD5E1"/>
                </a:solidFill>
                <a:latin typeface="Segoe UI"/>
              </a:rPr>
              <a:t>POST /cases/{id}/investigate</a:t>
            </a:r>
          </a:p>
        </p:txBody>
      </p:sp>
      <p:sp>
        <p:nvSpPr>
          <p:cNvPr id="17" name="Rectangle 16"/>
          <p:cNvSpPr/>
          <p:nvPr/>
        </p:nvSpPr>
        <p:spPr>
          <a:xfrm>
            <a:off x="384048" y="3337560"/>
            <a:ext cx="54864" cy="38404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3355848"/>
            <a:ext cx="1005840" cy="182880"/>
          </a:xfrm>
          <a:prstGeom prst="rect">
            <a:avLst/>
          </a:prstGeom>
          <a:noFill/>
        </p:spPr>
        <p:txBody>
          <a:bodyPr wrap="square">
            <a:spAutoFit/>
          </a:bodyPr>
          <a:lstStyle/>
          <a:p>
            <a:pPr algn="l"/>
            <a:r>
              <a:rPr sz="900" b="1">
                <a:solidFill>
                  <a:srgbClr val="3B82F6"/>
                </a:solidFill>
                <a:latin typeface="Segoe UI"/>
              </a:rPr>
              <a:t>Workflow</a:t>
            </a:r>
          </a:p>
        </p:txBody>
      </p:sp>
      <p:sp>
        <p:nvSpPr>
          <p:cNvPr id="19" name="TextBox 18"/>
          <p:cNvSpPr txBox="1"/>
          <p:nvPr/>
        </p:nvSpPr>
        <p:spPr>
          <a:xfrm>
            <a:off x="530352" y="3538728"/>
            <a:ext cx="3200400" cy="219456"/>
          </a:xfrm>
          <a:prstGeom prst="rect">
            <a:avLst/>
          </a:prstGeom>
          <a:noFill/>
        </p:spPr>
        <p:txBody>
          <a:bodyPr wrap="square">
            <a:spAutoFit/>
          </a:bodyPr>
          <a:lstStyle/>
          <a:p>
            <a:pPr algn="l"/>
            <a:r>
              <a:rPr sz="800" b="0">
                <a:solidFill>
                  <a:srgbClr val="CBD5E1"/>
                </a:solidFill>
                <a:latin typeface="Segoe UI"/>
              </a:rPr>
              <a:t>POST /workflow/notify-case/{id}</a:t>
            </a:r>
          </a:p>
        </p:txBody>
      </p:sp>
      <p:sp>
        <p:nvSpPr>
          <p:cNvPr id="20" name="Rectangle 19"/>
          <p:cNvSpPr/>
          <p:nvPr/>
        </p:nvSpPr>
        <p:spPr>
          <a:xfrm>
            <a:off x="384048" y="3886200"/>
            <a:ext cx="54864" cy="384048"/>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904487"/>
            <a:ext cx="1005840" cy="182880"/>
          </a:xfrm>
          <a:prstGeom prst="rect">
            <a:avLst/>
          </a:prstGeom>
          <a:noFill/>
        </p:spPr>
        <p:txBody>
          <a:bodyPr wrap="square">
            <a:spAutoFit/>
          </a:bodyPr>
          <a:lstStyle/>
          <a:p>
            <a:pPr algn="l"/>
            <a:r>
              <a:rPr sz="900" b="1">
                <a:solidFill>
                  <a:srgbClr val="22D3EE"/>
                </a:solidFill>
                <a:latin typeface="Segoe UI"/>
              </a:rPr>
              <a:t>Audit</a:t>
            </a:r>
          </a:p>
        </p:txBody>
      </p:sp>
      <p:sp>
        <p:nvSpPr>
          <p:cNvPr id="22" name="TextBox 21"/>
          <p:cNvSpPr txBox="1"/>
          <p:nvPr/>
        </p:nvSpPr>
        <p:spPr>
          <a:xfrm>
            <a:off x="530352" y="4087368"/>
            <a:ext cx="3200400" cy="219456"/>
          </a:xfrm>
          <a:prstGeom prst="rect">
            <a:avLst/>
          </a:prstGeom>
          <a:noFill/>
        </p:spPr>
        <p:txBody>
          <a:bodyPr wrap="square">
            <a:spAutoFit/>
          </a:bodyPr>
          <a:lstStyle/>
          <a:p>
            <a:pPr algn="l"/>
            <a:r>
              <a:rPr sz="800" b="0">
                <a:solidFill>
                  <a:srgbClr val="CBD5E1"/>
                </a:solidFill>
                <a:latin typeface="Segoe UI"/>
              </a:rPr>
              <a:t>GET /workflow/events, POST /workflow/audit-event</a:t>
            </a:r>
          </a:p>
        </p:txBody>
      </p:sp>
      <p:sp>
        <p:nvSpPr>
          <p:cNvPr id="23" name="Rectangle 22"/>
          <p:cNvSpPr/>
          <p:nvPr/>
        </p:nvSpPr>
        <p:spPr>
          <a:xfrm>
            <a:off x="384048" y="4434840"/>
            <a:ext cx="54864" cy="38404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4453127"/>
            <a:ext cx="1005840" cy="182880"/>
          </a:xfrm>
          <a:prstGeom prst="rect">
            <a:avLst/>
          </a:prstGeom>
          <a:noFill/>
        </p:spPr>
        <p:txBody>
          <a:bodyPr wrap="square">
            <a:spAutoFit/>
          </a:bodyPr>
          <a:lstStyle/>
          <a:p>
            <a:pPr algn="l"/>
            <a:r>
              <a:rPr sz="900" b="1">
                <a:solidFill>
                  <a:srgbClr val="34D399"/>
                </a:solidFill>
                <a:latin typeface="Segoe UI"/>
              </a:rPr>
              <a:t>Reliability</a:t>
            </a:r>
          </a:p>
        </p:txBody>
      </p:sp>
      <p:sp>
        <p:nvSpPr>
          <p:cNvPr id="25" name="TextBox 24"/>
          <p:cNvSpPr txBox="1"/>
          <p:nvPr/>
        </p:nvSpPr>
        <p:spPr>
          <a:xfrm>
            <a:off x="530352" y="4636007"/>
            <a:ext cx="3200400" cy="219456"/>
          </a:xfrm>
          <a:prstGeom prst="rect">
            <a:avLst/>
          </a:prstGeom>
          <a:noFill/>
        </p:spPr>
        <p:txBody>
          <a:bodyPr wrap="square">
            <a:spAutoFit/>
          </a:bodyPr>
          <a:lstStyle/>
          <a:p>
            <a:pPr algn="l"/>
            <a:r>
              <a:rPr sz="800" b="0">
                <a:solidFill>
                  <a:srgbClr val="CBD5E1"/>
                </a:solidFill>
                <a:latin typeface="Segoe UI"/>
              </a:rPr>
              <a:t>GET /workflow/metrics, /workflow/stale-cases</a:t>
            </a:r>
          </a:p>
        </p:txBody>
      </p:sp>
      <p:sp>
        <p:nvSpPr>
          <p:cNvPr id="26" name="Rectangle 25"/>
          <p:cNvSpPr/>
          <p:nvPr/>
        </p:nvSpPr>
        <p:spPr>
          <a:xfrm>
            <a:off x="384048" y="4983479"/>
            <a:ext cx="54864" cy="384048"/>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0352" y="5001767"/>
            <a:ext cx="1005840" cy="182880"/>
          </a:xfrm>
          <a:prstGeom prst="rect">
            <a:avLst/>
          </a:prstGeom>
          <a:noFill/>
        </p:spPr>
        <p:txBody>
          <a:bodyPr wrap="square">
            <a:spAutoFit/>
          </a:bodyPr>
          <a:lstStyle/>
          <a:p>
            <a:pPr algn="l"/>
            <a:r>
              <a:rPr sz="900" b="1">
                <a:solidFill>
                  <a:srgbClr val="FBBF24"/>
                </a:solidFill>
                <a:latin typeface="Segoe UI"/>
              </a:rPr>
              <a:t>Portfolio</a:t>
            </a:r>
          </a:p>
        </p:txBody>
      </p:sp>
      <p:sp>
        <p:nvSpPr>
          <p:cNvPr id="28" name="TextBox 27"/>
          <p:cNvSpPr txBox="1"/>
          <p:nvPr/>
        </p:nvSpPr>
        <p:spPr>
          <a:xfrm>
            <a:off x="530352" y="5184647"/>
            <a:ext cx="3200400" cy="219456"/>
          </a:xfrm>
          <a:prstGeom prst="rect">
            <a:avLst/>
          </a:prstGeom>
          <a:noFill/>
        </p:spPr>
        <p:txBody>
          <a:bodyPr wrap="square">
            <a:spAutoFit/>
          </a:bodyPr>
          <a:lstStyle/>
          <a:p>
            <a:pPr algn="l"/>
            <a:r>
              <a:rPr sz="800" b="0">
                <a:solidFill>
                  <a:srgbClr val="CBD5E1"/>
                </a:solidFill>
                <a:latin typeface="Segoe UI"/>
              </a:rPr>
              <a:t>POST /risk-scan, GET /risk-scan/{id}/...</a:t>
            </a:r>
          </a:p>
        </p:txBody>
      </p:sp>
      <p:sp>
        <p:nvSpPr>
          <p:cNvPr id="29" name="Rectangle 28"/>
          <p:cNvSpPr/>
          <p:nvPr/>
        </p:nvSpPr>
        <p:spPr>
          <a:xfrm>
            <a:off x="384048" y="5532120"/>
            <a:ext cx="54864" cy="38404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0352" y="5550408"/>
            <a:ext cx="1005840" cy="182880"/>
          </a:xfrm>
          <a:prstGeom prst="rect">
            <a:avLst/>
          </a:prstGeom>
          <a:noFill/>
        </p:spPr>
        <p:txBody>
          <a:bodyPr wrap="square">
            <a:spAutoFit/>
          </a:bodyPr>
          <a:lstStyle/>
          <a:p>
            <a:pPr algn="l"/>
            <a:r>
              <a:rPr sz="900" b="1">
                <a:solidFill>
                  <a:srgbClr val="3B82F6"/>
                </a:solidFill>
                <a:latin typeface="Segoe UI"/>
              </a:rPr>
              <a:t>Admin</a:t>
            </a:r>
          </a:p>
        </p:txBody>
      </p:sp>
      <p:sp>
        <p:nvSpPr>
          <p:cNvPr id="31" name="TextBox 30"/>
          <p:cNvSpPr txBox="1"/>
          <p:nvPr/>
        </p:nvSpPr>
        <p:spPr>
          <a:xfrm>
            <a:off x="530352" y="5733288"/>
            <a:ext cx="3200400" cy="219456"/>
          </a:xfrm>
          <a:prstGeom prst="rect">
            <a:avLst/>
          </a:prstGeom>
          <a:noFill/>
        </p:spPr>
        <p:txBody>
          <a:bodyPr wrap="square">
            <a:spAutoFit/>
          </a:bodyPr>
          <a:lstStyle/>
          <a:p>
            <a:pPr algn="l"/>
            <a:r>
              <a:rPr sz="800" b="0">
                <a:solidFill>
                  <a:srgbClr val="CBD5E1"/>
                </a:solidFill>
                <a:latin typeface="Segoe UI"/>
              </a:rPr>
              <a:t>GET /health, GET /cases/summary</a:t>
            </a:r>
          </a:p>
        </p:txBody>
      </p:sp>
      <p:sp>
        <p:nvSpPr>
          <p:cNvPr id="32" name="Rectangle 31"/>
          <p:cNvSpPr/>
          <p:nvPr/>
        </p:nvSpPr>
        <p:spPr>
          <a:xfrm>
            <a:off x="4160520" y="1188720"/>
            <a:ext cx="4069080" cy="521208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15968" y="1280160"/>
            <a:ext cx="3749039" cy="347472"/>
          </a:xfrm>
          <a:prstGeom prst="rect">
            <a:avLst/>
          </a:prstGeom>
          <a:noFill/>
        </p:spPr>
        <p:txBody>
          <a:bodyPr wrap="square">
            <a:spAutoFit/>
          </a:bodyPr>
          <a:lstStyle/>
          <a:p>
            <a:pPr algn="ctr"/>
            <a:r>
              <a:rPr sz="1300" b="1">
                <a:solidFill>
                  <a:srgbClr val="FBBF24"/>
                </a:solidFill>
                <a:latin typeface="Segoe UI"/>
              </a:rPr>
              <a:t>Proposed Facade</a:t>
            </a:r>
          </a:p>
        </p:txBody>
      </p:sp>
      <p:sp>
        <p:nvSpPr>
          <p:cNvPr id="34" name="TextBox 33"/>
          <p:cNvSpPr txBox="1"/>
          <p:nvPr/>
        </p:nvSpPr>
        <p:spPr>
          <a:xfrm>
            <a:off x="4251960" y="1691640"/>
            <a:ext cx="3886200" cy="384048"/>
          </a:xfrm>
          <a:prstGeom prst="rect">
            <a:avLst/>
          </a:prstGeom>
          <a:noFill/>
        </p:spPr>
        <p:txBody>
          <a:bodyPr wrap="square">
            <a:spAutoFit/>
          </a:bodyPr>
          <a:lstStyle/>
          <a:p>
            <a:pPr algn="ctr"/>
            <a:r>
              <a:rPr sz="1600" b="1">
                <a:solidFill>
                  <a:srgbClr val="FFFFFF"/>
                </a:solidFill>
                <a:latin typeface="Segoe UI"/>
              </a:rPr>
              <a:t>POST /fraud/decision</a:t>
            </a:r>
          </a:p>
        </p:txBody>
      </p:sp>
      <p:sp>
        <p:nvSpPr>
          <p:cNvPr id="35" name="TextBox 34"/>
          <p:cNvSpPr txBox="1"/>
          <p:nvPr/>
        </p:nvSpPr>
        <p:spPr>
          <a:xfrm>
            <a:off x="4251960" y="2148840"/>
            <a:ext cx="3886200" cy="594360"/>
          </a:xfrm>
          <a:prstGeom prst="rect">
            <a:avLst/>
          </a:prstGeom>
          <a:noFill/>
        </p:spPr>
        <p:txBody>
          <a:bodyPr wrap="square">
            <a:spAutoFit/>
          </a:bodyPr>
          <a:lstStyle/>
          <a:p>
            <a:pPr algn="ctr"/>
            <a:r>
              <a:rPr sz="1100" b="0">
                <a:solidFill>
                  <a:srgbClr val="FBBF24"/>
                </a:solidFill>
                <a:latin typeface="Segoe UI"/>
              </a:rPr>
              <a:t>BLUEPRINT ONLY
Not yet implemented</a:t>
            </a:r>
          </a:p>
        </p:txBody>
      </p:sp>
      <p:sp>
        <p:nvSpPr>
          <p:cNvPr id="36" name="Rectangle 35"/>
          <p:cNvSpPr/>
          <p:nvPr/>
        </p:nvSpPr>
        <p:spPr>
          <a:xfrm>
            <a:off x="4251960" y="2880360"/>
            <a:ext cx="3840480" cy="27432"/>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15968" y="3017520"/>
            <a:ext cx="3749039" cy="292608"/>
          </a:xfrm>
          <a:prstGeom prst="rect">
            <a:avLst/>
          </a:prstGeom>
          <a:noFill/>
        </p:spPr>
        <p:txBody>
          <a:bodyPr wrap="square">
            <a:spAutoFit/>
          </a:bodyPr>
          <a:lstStyle/>
          <a:p>
            <a:pPr algn="l"/>
            <a:r>
              <a:rPr sz="900" b="0">
                <a:solidFill>
                  <a:srgbClr val="CBD5E1"/>
                </a:solidFill>
                <a:latin typeface="Segoe UI"/>
              </a:rPr>
              <a:t>1. Validate request</a:t>
            </a:r>
          </a:p>
        </p:txBody>
      </p:sp>
      <p:sp>
        <p:nvSpPr>
          <p:cNvPr id="38" name="TextBox 37"/>
          <p:cNvSpPr txBox="1"/>
          <p:nvPr/>
        </p:nvSpPr>
        <p:spPr>
          <a:xfrm>
            <a:off x="4315968" y="3337560"/>
            <a:ext cx="3749039" cy="292608"/>
          </a:xfrm>
          <a:prstGeom prst="rect">
            <a:avLst/>
          </a:prstGeom>
          <a:noFill/>
        </p:spPr>
        <p:txBody>
          <a:bodyPr wrap="square">
            <a:spAutoFit/>
          </a:bodyPr>
          <a:lstStyle/>
          <a:p>
            <a:pPr algn="l"/>
            <a:r>
              <a:rPr sz="900" b="0">
                <a:solidFill>
                  <a:srgbClr val="CBD5E1"/>
                </a:solidFill>
                <a:latin typeface="Segoe UI"/>
              </a:rPr>
              <a:t>2. Check Redis idempotency (request_id)</a:t>
            </a:r>
          </a:p>
        </p:txBody>
      </p:sp>
      <p:sp>
        <p:nvSpPr>
          <p:cNvPr id="39" name="TextBox 38"/>
          <p:cNvSpPr txBox="1"/>
          <p:nvPr/>
        </p:nvSpPr>
        <p:spPr>
          <a:xfrm>
            <a:off x="4315968" y="3657600"/>
            <a:ext cx="3749039" cy="292608"/>
          </a:xfrm>
          <a:prstGeom prst="rect">
            <a:avLst/>
          </a:prstGeom>
          <a:noFill/>
        </p:spPr>
        <p:txBody>
          <a:bodyPr wrap="square">
            <a:spAutoFit/>
          </a:bodyPr>
          <a:lstStyle/>
          <a:p>
            <a:pPr algn="l"/>
            <a:r>
              <a:rPr sz="900" b="0">
                <a:solidFill>
                  <a:srgbClr val="CBD5E1"/>
                </a:solidFill>
                <a:latin typeface="Segoe UI"/>
              </a:rPr>
              <a:t>3. Run 4-layer scoring engine</a:t>
            </a:r>
          </a:p>
        </p:txBody>
      </p:sp>
      <p:sp>
        <p:nvSpPr>
          <p:cNvPr id="40" name="TextBox 39"/>
          <p:cNvSpPr txBox="1"/>
          <p:nvPr/>
        </p:nvSpPr>
        <p:spPr>
          <a:xfrm>
            <a:off x="4315968" y="3977639"/>
            <a:ext cx="3749039" cy="292608"/>
          </a:xfrm>
          <a:prstGeom prst="rect">
            <a:avLst/>
          </a:prstGeom>
          <a:noFill/>
        </p:spPr>
        <p:txBody>
          <a:bodyPr wrap="square">
            <a:spAutoFit/>
          </a:bodyPr>
          <a:lstStyle/>
          <a:p>
            <a:pPr algn="l"/>
            <a:r>
              <a:rPr sz="900" b="0">
                <a:solidFill>
                  <a:srgbClr val="CBD5E1"/>
                </a:solidFill>
                <a:latin typeface="Segoe UI"/>
              </a:rPr>
              <a:t>4. Route: BLOCK / REVIEW / APPROVE</a:t>
            </a:r>
          </a:p>
        </p:txBody>
      </p:sp>
      <p:sp>
        <p:nvSpPr>
          <p:cNvPr id="41" name="TextBox 40"/>
          <p:cNvSpPr txBox="1"/>
          <p:nvPr/>
        </p:nvSpPr>
        <p:spPr>
          <a:xfrm>
            <a:off x="4315968" y="4297679"/>
            <a:ext cx="3749039" cy="292608"/>
          </a:xfrm>
          <a:prstGeom prst="rect">
            <a:avLst/>
          </a:prstGeom>
          <a:noFill/>
        </p:spPr>
        <p:txBody>
          <a:bodyPr wrap="square">
            <a:spAutoFit/>
          </a:bodyPr>
          <a:lstStyle/>
          <a:p>
            <a:pPr algn="l"/>
            <a:r>
              <a:rPr sz="900" b="0">
                <a:solidFill>
                  <a:srgbClr val="CBD5E1"/>
                </a:solidFill>
                <a:latin typeface="Segoe UI"/>
              </a:rPr>
              <a:t>5. Create case record (REVIEW/BLOCK)</a:t>
            </a:r>
          </a:p>
        </p:txBody>
      </p:sp>
      <p:sp>
        <p:nvSpPr>
          <p:cNvPr id="42" name="TextBox 41"/>
          <p:cNvSpPr txBox="1"/>
          <p:nvPr/>
        </p:nvSpPr>
        <p:spPr>
          <a:xfrm>
            <a:off x="4315968" y="4617720"/>
            <a:ext cx="3749039" cy="292608"/>
          </a:xfrm>
          <a:prstGeom prst="rect">
            <a:avLst/>
          </a:prstGeom>
          <a:noFill/>
        </p:spPr>
        <p:txBody>
          <a:bodyPr wrap="square">
            <a:spAutoFit/>
          </a:bodyPr>
          <a:lstStyle/>
          <a:p>
            <a:pPr algn="l"/>
            <a:r>
              <a:rPr sz="900" b="0">
                <a:solidFill>
                  <a:srgbClr val="CBD5E1"/>
                </a:solidFill>
                <a:latin typeface="Segoe UI"/>
              </a:rPr>
              <a:t>6. Dispatch investigation brief (async)</a:t>
            </a:r>
          </a:p>
        </p:txBody>
      </p:sp>
      <p:sp>
        <p:nvSpPr>
          <p:cNvPr id="43" name="TextBox 42"/>
          <p:cNvSpPr txBox="1"/>
          <p:nvPr/>
        </p:nvSpPr>
        <p:spPr>
          <a:xfrm>
            <a:off x="4315968" y="4937759"/>
            <a:ext cx="3749039" cy="292608"/>
          </a:xfrm>
          <a:prstGeom prst="rect">
            <a:avLst/>
          </a:prstGeom>
          <a:noFill/>
        </p:spPr>
        <p:txBody>
          <a:bodyPr wrap="square">
            <a:spAutoFit/>
          </a:bodyPr>
          <a:lstStyle/>
          <a:p>
            <a:pPr algn="l"/>
            <a:r>
              <a:rPr sz="900" b="0">
                <a:solidFill>
                  <a:srgbClr val="CBD5E1"/>
                </a:solidFill>
                <a:latin typeface="Segoe UI"/>
              </a:rPr>
              <a:t>7. Dispatch workflow event (async)</a:t>
            </a:r>
          </a:p>
        </p:txBody>
      </p:sp>
      <p:sp>
        <p:nvSpPr>
          <p:cNvPr id="44" name="TextBox 43"/>
          <p:cNvSpPr txBox="1"/>
          <p:nvPr/>
        </p:nvSpPr>
        <p:spPr>
          <a:xfrm>
            <a:off x="4315968" y="5257800"/>
            <a:ext cx="3749039" cy="292608"/>
          </a:xfrm>
          <a:prstGeom prst="rect">
            <a:avLst/>
          </a:prstGeom>
          <a:noFill/>
        </p:spPr>
        <p:txBody>
          <a:bodyPr wrap="square">
            <a:spAutoFit/>
          </a:bodyPr>
          <a:lstStyle/>
          <a:p>
            <a:pPr algn="l"/>
            <a:r>
              <a:rPr sz="900" b="0">
                <a:solidFill>
                  <a:srgbClr val="CBD5E1"/>
                </a:solidFill>
                <a:latin typeface="Segoe UI"/>
              </a:rPr>
              <a:t>8. Return decision response</a:t>
            </a:r>
          </a:p>
        </p:txBody>
      </p:sp>
      <p:sp>
        <p:nvSpPr>
          <p:cNvPr id="45" name="Rectangle 44"/>
          <p:cNvSpPr/>
          <p:nvPr/>
        </p:nvSpPr>
        <p:spPr>
          <a:xfrm>
            <a:off x="8503920" y="1188720"/>
            <a:ext cx="3383280" cy="52120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41080" y="1261872"/>
            <a:ext cx="3108960" cy="347472"/>
          </a:xfrm>
          <a:prstGeom prst="rect">
            <a:avLst/>
          </a:prstGeom>
          <a:noFill/>
        </p:spPr>
        <p:txBody>
          <a:bodyPr wrap="square">
            <a:spAutoFit/>
          </a:bodyPr>
          <a:lstStyle/>
          <a:p>
            <a:pPr algn="l"/>
            <a:r>
              <a:rPr sz="1100" b="1">
                <a:solidFill>
                  <a:srgbClr val="FFFFFF"/>
                </a:solidFill>
                <a:latin typeface="Segoe UI"/>
              </a:rPr>
              <a:t>Response Fields</a:t>
            </a:r>
          </a:p>
        </p:txBody>
      </p:sp>
      <p:sp>
        <p:nvSpPr>
          <p:cNvPr id="47" name="TextBox 46"/>
          <p:cNvSpPr txBox="1"/>
          <p:nvPr/>
        </p:nvSpPr>
        <p:spPr>
          <a:xfrm>
            <a:off x="8641080" y="1691640"/>
            <a:ext cx="1828800" cy="201168"/>
          </a:xfrm>
          <a:prstGeom prst="rect">
            <a:avLst/>
          </a:prstGeom>
          <a:noFill/>
        </p:spPr>
        <p:txBody>
          <a:bodyPr wrap="square">
            <a:spAutoFit/>
          </a:bodyPr>
          <a:lstStyle/>
          <a:p>
            <a:pPr algn="l"/>
            <a:r>
              <a:rPr sz="800" b="1">
                <a:solidFill>
                  <a:srgbClr val="34D399"/>
                </a:solidFill>
                <a:latin typeface="Segoe UI"/>
              </a:rPr>
              <a:t>decision</a:t>
            </a:r>
          </a:p>
        </p:txBody>
      </p:sp>
      <p:sp>
        <p:nvSpPr>
          <p:cNvPr id="48" name="TextBox 47"/>
          <p:cNvSpPr txBox="1"/>
          <p:nvPr/>
        </p:nvSpPr>
        <p:spPr>
          <a:xfrm>
            <a:off x="8641080" y="1892808"/>
            <a:ext cx="3108960" cy="201168"/>
          </a:xfrm>
          <a:prstGeom prst="rect">
            <a:avLst/>
          </a:prstGeom>
          <a:noFill/>
        </p:spPr>
        <p:txBody>
          <a:bodyPr wrap="square">
            <a:spAutoFit/>
          </a:bodyPr>
          <a:lstStyle/>
          <a:p>
            <a:pPr algn="l"/>
            <a:r>
              <a:rPr sz="800" b="0">
                <a:solidFill>
                  <a:srgbClr val="CBD5E1"/>
                </a:solidFill>
                <a:latin typeface="Segoe UI"/>
              </a:rPr>
              <a:t>BLOCK / REVIEW / APPROVE</a:t>
            </a:r>
          </a:p>
        </p:txBody>
      </p:sp>
      <p:sp>
        <p:nvSpPr>
          <p:cNvPr id="49" name="TextBox 48"/>
          <p:cNvSpPr txBox="1"/>
          <p:nvPr/>
        </p:nvSpPr>
        <p:spPr>
          <a:xfrm>
            <a:off x="8641080" y="2130552"/>
            <a:ext cx="1828800" cy="201168"/>
          </a:xfrm>
          <a:prstGeom prst="rect">
            <a:avLst/>
          </a:prstGeom>
          <a:noFill/>
        </p:spPr>
        <p:txBody>
          <a:bodyPr wrap="square">
            <a:spAutoFit/>
          </a:bodyPr>
          <a:lstStyle/>
          <a:p>
            <a:pPr algn="l"/>
            <a:r>
              <a:rPr sz="800" b="1">
                <a:solidFill>
                  <a:srgbClr val="34D399"/>
                </a:solidFill>
                <a:latin typeface="Segoe UI"/>
              </a:rPr>
              <a:t>risk_score</a:t>
            </a:r>
          </a:p>
        </p:txBody>
      </p:sp>
      <p:sp>
        <p:nvSpPr>
          <p:cNvPr id="50" name="TextBox 49"/>
          <p:cNvSpPr txBox="1"/>
          <p:nvPr/>
        </p:nvSpPr>
        <p:spPr>
          <a:xfrm>
            <a:off x="8641080" y="2331720"/>
            <a:ext cx="3108960" cy="201168"/>
          </a:xfrm>
          <a:prstGeom prst="rect">
            <a:avLst/>
          </a:prstGeom>
          <a:noFill/>
        </p:spPr>
        <p:txBody>
          <a:bodyPr wrap="square">
            <a:spAutoFit/>
          </a:bodyPr>
          <a:lstStyle/>
          <a:p>
            <a:pPr algn="l"/>
            <a:r>
              <a:rPr sz="800" b="0">
                <a:solidFill>
                  <a:srgbClr val="CBD5E1"/>
                </a:solidFill>
                <a:latin typeface="Segoe UI"/>
              </a:rPr>
              <a:t>Final clipped [0, 1]</a:t>
            </a:r>
          </a:p>
        </p:txBody>
      </p:sp>
      <p:sp>
        <p:nvSpPr>
          <p:cNvPr id="51" name="TextBox 50"/>
          <p:cNvSpPr txBox="1"/>
          <p:nvPr/>
        </p:nvSpPr>
        <p:spPr>
          <a:xfrm>
            <a:off x="8641080" y="2569464"/>
            <a:ext cx="1828800" cy="201168"/>
          </a:xfrm>
          <a:prstGeom prst="rect">
            <a:avLst/>
          </a:prstGeom>
          <a:noFill/>
        </p:spPr>
        <p:txBody>
          <a:bodyPr wrap="square">
            <a:spAutoFit/>
          </a:bodyPr>
          <a:lstStyle/>
          <a:p>
            <a:pPr algn="l"/>
            <a:r>
              <a:rPr sz="800" b="1">
                <a:solidFill>
                  <a:srgbClr val="3B82F6"/>
                </a:solidFill>
                <a:latin typeface="Segoe UI"/>
              </a:rPr>
              <a:t>model_score</a:t>
            </a:r>
          </a:p>
        </p:txBody>
      </p:sp>
      <p:sp>
        <p:nvSpPr>
          <p:cNvPr id="52" name="TextBox 51"/>
          <p:cNvSpPr txBox="1"/>
          <p:nvPr/>
        </p:nvSpPr>
        <p:spPr>
          <a:xfrm>
            <a:off x="8641080" y="2770632"/>
            <a:ext cx="3108960" cy="201168"/>
          </a:xfrm>
          <a:prstGeom prst="rect">
            <a:avLst/>
          </a:prstGeom>
          <a:noFill/>
        </p:spPr>
        <p:txBody>
          <a:bodyPr wrap="square">
            <a:spAutoFit/>
          </a:bodyPr>
          <a:lstStyle/>
          <a:p>
            <a:pPr algn="l"/>
            <a:r>
              <a:rPr sz="800" b="0">
                <a:solidFill>
                  <a:srgbClr val="CBD5E1"/>
                </a:solidFill>
                <a:latin typeface="Segoe UI"/>
              </a:rPr>
              <a:t>XGBoost base layer</a:t>
            </a:r>
          </a:p>
        </p:txBody>
      </p:sp>
      <p:sp>
        <p:nvSpPr>
          <p:cNvPr id="53" name="TextBox 52"/>
          <p:cNvSpPr txBox="1"/>
          <p:nvPr/>
        </p:nvSpPr>
        <p:spPr>
          <a:xfrm>
            <a:off x="8641080" y="3008376"/>
            <a:ext cx="1828800" cy="201168"/>
          </a:xfrm>
          <a:prstGeom prst="rect">
            <a:avLst/>
          </a:prstGeom>
          <a:noFill/>
        </p:spPr>
        <p:txBody>
          <a:bodyPr wrap="square">
            <a:spAutoFit/>
          </a:bodyPr>
          <a:lstStyle/>
          <a:p>
            <a:pPr algn="l"/>
            <a:r>
              <a:rPr sz="800" b="1">
                <a:solidFill>
                  <a:srgbClr val="3B82F6"/>
                </a:solidFill>
                <a:latin typeface="Segoe UI"/>
              </a:rPr>
              <a:t>rule_score</a:t>
            </a:r>
          </a:p>
        </p:txBody>
      </p:sp>
      <p:sp>
        <p:nvSpPr>
          <p:cNvPr id="54" name="TextBox 53"/>
          <p:cNvSpPr txBox="1"/>
          <p:nvPr/>
        </p:nvSpPr>
        <p:spPr>
          <a:xfrm>
            <a:off x="8641080" y="3209544"/>
            <a:ext cx="3108960" cy="201168"/>
          </a:xfrm>
          <a:prstGeom prst="rect">
            <a:avLst/>
          </a:prstGeom>
          <a:noFill/>
        </p:spPr>
        <p:txBody>
          <a:bodyPr wrap="square">
            <a:spAutoFit/>
          </a:bodyPr>
          <a:lstStyle/>
          <a:p>
            <a:pPr algn="l"/>
            <a:r>
              <a:rPr sz="800" b="0">
                <a:solidFill>
                  <a:srgbClr val="CBD5E1"/>
                </a:solidFill>
                <a:latin typeface="Segoe UI"/>
              </a:rPr>
              <a:t>Rules layer</a:t>
            </a:r>
          </a:p>
        </p:txBody>
      </p:sp>
      <p:sp>
        <p:nvSpPr>
          <p:cNvPr id="55" name="TextBox 54"/>
          <p:cNvSpPr txBox="1"/>
          <p:nvPr/>
        </p:nvSpPr>
        <p:spPr>
          <a:xfrm>
            <a:off x="8641080" y="3447288"/>
            <a:ext cx="1828800" cy="201168"/>
          </a:xfrm>
          <a:prstGeom prst="rect">
            <a:avLst/>
          </a:prstGeom>
          <a:noFill/>
        </p:spPr>
        <p:txBody>
          <a:bodyPr wrap="square">
            <a:spAutoFit/>
          </a:bodyPr>
          <a:lstStyle/>
          <a:p>
            <a:pPr algn="l"/>
            <a:r>
              <a:rPr sz="800" b="1">
                <a:solidFill>
                  <a:srgbClr val="22D3EE"/>
                </a:solidFill>
                <a:latin typeface="Segoe UI"/>
              </a:rPr>
              <a:t>rich_signal_boost</a:t>
            </a:r>
          </a:p>
        </p:txBody>
      </p:sp>
      <p:sp>
        <p:nvSpPr>
          <p:cNvPr id="56" name="TextBox 55"/>
          <p:cNvSpPr txBox="1"/>
          <p:nvPr/>
        </p:nvSpPr>
        <p:spPr>
          <a:xfrm>
            <a:off x="8641080" y="3648456"/>
            <a:ext cx="3108960" cy="201168"/>
          </a:xfrm>
          <a:prstGeom prst="rect">
            <a:avLst/>
          </a:prstGeom>
          <a:noFill/>
        </p:spPr>
        <p:txBody>
          <a:bodyPr wrap="square">
            <a:spAutoFit/>
          </a:bodyPr>
          <a:lstStyle/>
          <a:p>
            <a:pPr algn="l"/>
            <a:r>
              <a:rPr sz="800" b="0">
                <a:solidFill>
                  <a:srgbClr val="CBD5E1"/>
                </a:solidFill>
                <a:latin typeface="Segoe UI"/>
              </a:rPr>
              <a:t>Rich signal contribution</a:t>
            </a:r>
          </a:p>
        </p:txBody>
      </p:sp>
      <p:sp>
        <p:nvSpPr>
          <p:cNvPr id="57" name="TextBox 56"/>
          <p:cNvSpPr txBox="1"/>
          <p:nvPr/>
        </p:nvSpPr>
        <p:spPr>
          <a:xfrm>
            <a:off x="8641080" y="3886200"/>
            <a:ext cx="1828800" cy="201168"/>
          </a:xfrm>
          <a:prstGeom prst="rect">
            <a:avLst/>
          </a:prstGeom>
          <a:noFill/>
        </p:spPr>
        <p:txBody>
          <a:bodyPr wrap="square">
            <a:spAutoFit/>
          </a:bodyPr>
          <a:lstStyle/>
          <a:p>
            <a:pPr algn="l"/>
            <a:r>
              <a:rPr sz="800" b="1">
                <a:solidFill>
                  <a:srgbClr val="22D3EE"/>
                </a:solidFill>
                <a:latin typeface="Segoe UI"/>
              </a:rPr>
              <a:t>behavioural_boost</a:t>
            </a:r>
          </a:p>
        </p:txBody>
      </p:sp>
      <p:sp>
        <p:nvSpPr>
          <p:cNvPr id="58" name="TextBox 57"/>
          <p:cNvSpPr txBox="1"/>
          <p:nvPr/>
        </p:nvSpPr>
        <p:spPr>
          <a:xfrm>
            <a:off x="8641080" y="4087368"/>
            <a:ext cx="3108960" cy="201168"/>
          </a:xfrm>
          <a:prstGeom prst="rect">
            <a:avLst/>
          </a:prstGeom>
          <a:noFill/>
        </p:spPr>
        <p:txBody>
          <a:bodyPr wrap="square">
            <a:spAutoFit/>
          </a:bodyPr>
          <a:lstStyle/>
          <a:p>
            <a:pPr algn="l"/>
            <a:r>
              <a:rPr sz="800" b="0">
                <a:solidFill>
                  <a:srgbClr val="CBD5E1"/>
                </a:solidFill>
                <a:latin typeface="Segoe UI"/>
              </a:rPr>
              <a:t>Behavioural layer (cap 0.20)</a:t>
            </a:r>
          </a:p>
        </p:txBody>
      </p:sp>
      <p:sp>
        <p:nvSpPr>
          <p:cNvPr id="59" name="TextBox 58"/>
          <p:cNvSpPr txBox="1"/>
          <p:nvPr/>
        </p:nvSpPr>
        <p:spPr>
          <a:xfrm>
            <a:off x="8641080" y="4325112"/>
            <a:ext cx="1828800" cy="201168"/>
          </a:xfrm>
          <a:prstGeom prst="rect">
            <a:avLst/>
          </a:prstGeom>
          <a:noFill/>
        </p:spPr>
        <p:txBody>
          <a:bodyPr wrap="square">
            <a:spAutoFit/>
          </a:bodyPr>
          <a:lstStyle/>
          <a:p>
            <a:pPr algn="l"/>
            <a:r>
              <a:rPr sz="800" b="1">
                <a:solidFill>
                  <a:srgbClr val="22D3EE"/>
                </a:solidFill>
                <a:latin typeface="Segoe UI"/>
              </a:rPr>
              <a:t>graph_boost</a:t>
            </a:r>
          </a:p>
        </p:txBody>
      </p:sp>
      <p:sp>
        <p:nvSpPr>
          <p:cNvPr id="60" name="TextBox 59"/>
          <p:cNvSpPr txBox="1"/>
          <p:nvPr/>
        </p:nvSpPr>
        <p:spPr>
          <a:xfrm>
            <a:off x="8641080" y="4526280"/>
            <a:ext cx="3108960" cy="201168"/>
          </a:xfrm>
          <a:prstGeom prst="rect">
            <a:avLst/>
          </a:prstGeom>
          <a:noFill/>
        </p:spPr>
        <p:txBody>
          <a:bodyPr wrap="square">
            <a:spAutoFit/>
          </a:bodyPr>
          <a:lstStyle/>
          <a:p>
            <a:pPr algn="l"/>
            <a:r>
              <a:rPr sz="800" b="0">
                <a:solidFill>
                  <a:srgbClr val="CBD5E1"/>
                </a:solidFill>
                <a:latin typeface="Segoe UI"/>
              </a:rPr>
              <a:t>Graph layer (cap 0.15)</a:t>
            </a:r>
          </a:p>
        </p:txBody>
      </p:sp>
      <p:sp>
        <p:nvSpPr>
          <p:cNvPr id="61" name="TextBox 60"/>
          <p:cNvSpPr txBox="1"/>
          <p:nvPr/>
        </p:nvSpPr>
        <p:spPr>
          <a:xfrm>
            <a:off x="8641080" y="4764024"/>
            <a:ext cx="1828800" cy="201168"/>
          </a:xfrm>
          <a:prstGeom prst="rect">
            <a:avLst/>
          </a:prstGeom>
          <a:noFill/>
        </p:spPr>
        <p:txBody>
          <a:bodyPr wrap="square">
            <a:spAutoFit/>
          </a:bodyPr>
          <a:lstStyle/>
          <a:p>
            <a:pPr algn="l"/>
            <a:r>
              <a:rPr sz="800" b="1">
                <a:solidFill>
                  <a:srgbClr val="FBBF24"/>
                </a:solidFill>
                <a:latin typeface="Segoe UI"/>
              </a:rPr>
              <a:t>reason_codes</a:t>
            </a:r>
          </a:p>
        </p:txBody>
      </p:sp>
      <p:sp>
        <p:nvSpPr>
          <p:cNvPr id="62" name="TextBox 61"/>
          <p:cNvSpPr txBox="1"/>
          <p:nvPr/>
        </p:nvSpPr>
        <p:spPr>
          <a:xfrm>
            <a:off x="8641080" y="4965192"/>
            <a:ext cx="3108960" cy="201168"/>
          </a:xfrm>
          <a:prstGeom prst="rect">
            <a:avLst/>
          </a:prstGeom>
          <a:noFill/>
        </p:spPr>
        <p:txBody>
          <a:bodyPr wrap="square">
            <a:spAutoFit/>
          </a:bodyPr>
          <a:lstStyle/>
          <a:p>
            <a:pPr algn="l"/>
            <a:r>
              <a:rPr sz="800" b="0">
                <a:solidFill>
                  <a:srgbClr val="CBD5E1"/>
                </a:solidFill>
                <a:latin typeface="Segoe UI"/>
              </a:rPr>
              <a:t>Array of fired reason codes</a:t>
            </a:r>
          </a:p>
        </p:txBody>
      </p:sp>
      <p:sp>
        <p:nvSpPr>
          <p:cNvPr id="63" name="TextBox 62"/>
          <p:cNvSpPr txBox="1"/>
          <p:nvPr/>
        </p:nvSpPr>
        <p:spPr>
          <a:xfrm>
            <a:off x="8641080" y="5202936"/>
            <a:ext cx="1828800" cy="201168"/>
          </a:xfrm>
          <a:prstGeom prst="rect">
            <a:avLst/>
          </a:prstGeom>
          <a:noFill/>
        </p:spPr>
        <p:txBody>
          <a:bodyPr wrap="square">
            <a:spAutoFit/>
          </a:bodyPr>
          <a:lstStyle/>
          <a:p>
            <a:pPr algn="l"/>
            <a:r>
              <a:rPr sz="800" b="1">
                <a:solidFill>
                  <a:srgbClr val="34D399"/>
                </a:solidFill>
                <a:latin typeface="Segoe UI"/>
              </a:rPr>
              <a:t>case_id</a:t>
            </a:r>
          </a:p>
        </p:txBody>
      </p:sp>
      <p:sp>
        <p:nvSpPr>
          <p:cNvPr id="64" name="TextBox 63"/>
          <p:cNvSpPr txBox="1"/>
          <p:nvPr/>
        </p:nvSpPr>
        <p:spPr>
          <a:xfrm>
            <a:off x="8641080" y="5404103"/>
            <a:ext cx="3108960" cy="201168"/>
          </a:xfrm>
          <a:prstGeom prst="rect">
            <a:avLst/>
          </a:prstGeom>
          <a:noFill/>
        </p:spPr>
        <p:txBody>
          <a:bodyPr wrap="square">
            <a:spAutoFit/>
          </a:bodyPr>
          <a:lstStyle/>
          <a:p>
            <a:pPr algn="l"/>
            <a:r>
              <a:rPr sz="800" b="0">
                <a:solidFill>
                  <a:srgbClr val="CBD5E1"/>
                </a:solidFill>
                <a:latin typeface="Segoe UI"/>
              </a:rPr>
              <a:t>Assigned case UUID</a:t>
            </a:r>
          </a:p>
        </p:txBody>
      </p:sp>
      <p:sp>
        <p:nvSpPr>
          <p:cNvPr id="65" name="TextBox 64"/>
          <p:cNvSpPr txBox="1"/>
          <p:nvPr/>
        </p:nvSpPr>
        <p:spPr>
          <a:xfrm>
            <a:off x="8641080" y="5641848"/>
            <a:ext cx="1828800" cy="201168"/>
          </a:xfrm>
          <a:prstGeom prst="rect">
            <a:avLst/>
          </a:prstGeom>
          <a:noFill/>
        </p:spPr>
        <p:txBody>
          <a:bodyPr wrap="square">
            <a:spAutoFit/>
          </a:bodyPr>
          <a:lstStyle/>
          <a:p>
            <a:pPr algn="l"/>
            <a:r>
              <a:rPr sz="800" b="1">
                <a:solidFill>
                  <a:srgbClr val="3B82F6"/>
                </a:solidFill>
                <a:latin typeface="Segoe UI"/>
              </a:rPr>
              <a:t>investigation_brief_status</a:t>
            </a:r>
          </a:p>
        </p:txBody>
      </p:sp>
      <p:sp>
        <p:nvSpPr>
          <p:cNvPr id="66" name="TextBox 65"/>
          <p:cNvSpPr txBox="1"/>
          <p:nvPr/>
        </p:nvSpPr>
        <p:spPr>
          <a:xfrm>
            <a:off x="8641080" y="5843016"/>
            <a:ext cx="3108960" cy="201168"/>
          </a:xfrm>
          <a:prstGeom prst="rect">
            <a:avLst/>
          </a:prstGeom>
          <a:noFill/>
        </p:spPr>
        <p:txBody>
          <a:bodyPr wrap="square">
            <a:spAutoFit/>
          </a:bodyPr>
          <a:lstStyle/>
          <a:p>
            <a:pPr algn="l"/>
            <a:r>
              <a:rPr sz="800" b="0">
                <a:solidFill>
                  <a:srgbClr val="CBD5E1"/>
                </a:solidFill>
                <a:latin typeface="Segoe UI"/>
              </a:rPr>
              <a:t>requested / not_requested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DEPLOYMENT</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Local-first inspection package. Cloud deployment path documented.</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34440"/>
            <a:ext cx="5486400" cy="50292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120640" cy="347472"/>
          </a:xfrm>
          <a:prstGeom prst="rect">
            <a:avLst/>
          </a:prstGeom>
          <a:noFill/>
        </p:spPr>
        <p:txBody>
          <a:bodyPr wrap="square">
            <a:spAutoFit/>
          </a:bodyPr>
          <a:lstStyle/>
          <a:p>
            <a:pPr algn="l"/>
            <a:r>
              <a:rPr sz="1400" b="1">
                <a:solidFill>
                  <a:srgbClr val="34D399"/>
                </a:solidFill>
                <a:latin typeface="Segoe UI"/>
              </a:rPr>
              <a:t>NOW (Current posture)</a:t>
            </a:r>
          </a:p>
        </p:txBody>
      </p:sp>
      <p:sp>
        <p:nvSpPr>
          <p:cNvPr id="8" name="TextBox 7"/>
          <p:cNvSpPr txBox="1"/>
          <p:nvPr/>
        </p:nvSpPr>
        <p:spPr>
          <a:xfrm>
            <a:off x="502920" y="1783080"/>
            <a:ext cx="5120640" cy="411480"/>
          </a:xfrm>
          <a:prstGeom prst="rect">
            <a:avLst/>
          </a:prstGeom>
          <a:noFill/>
        </p:spPr>
        <p:txBody>
          <a:bodyPr wrap="square">
            <a:spAutoFit/>
          </a:bodyPr>
          <a:lstStyle/>
          <a:p>
            <a:pPr algn="l"/>
            <a:r>
              <a:rPr sz="1000" b="0">
                <a:solidFill>
                  <a:srgbClr val="CBD5E1"/>
                </a:solidFill>
                <a:latin typeface="Segoe UI"/>
              </a:rPr>
              <a:t>  localhost runtime. No cloud dependency.</a:t>
            </a:r>
          </a:p>
        </p:txBody>
      </p:sp>
      <p:sp>
        <p:nvSpPr>
          <p:cNvPr id="9" name="TextBox 8"/>
          <p:cNvSpPr txBox="1"/>
          <p:nvPr/>
        </p:nvSpPr>
        <p:spPr>
          <a:xfrm>
            <a:off x="502920" y="2267712"/>
            <a:ext cx="5120640" cy="411480"/>
          </a:xfrm>
          <a:prstGeom prst="rect">
            <a:avLst/>
          </a:prstGeom>
          <a:noFill/>
        </p:spPr>
        <p:txBody>
          <a:bodyPr wrap="square">
            <a:spAutoFit/>
          </a:bodyPr>
          <a:lstStyle/>
          <a:p>
            <a:pPr algn="l"/>
            <a:r>
              <a:rPr sz="1000" b="0">
                <a:solidFill>
                  <a:srgbClr val="CBD5E1"/>
                </a:solidFill>
                <a:latin typeface="Segoe UI"/>
              </a:rPr>
              <a:t>  PostgreSQL + Redpanda + Ollama on single machine.</a:t>
            </a:r>
          </a:p>
        </p:txBody>
      </p:sp>
      <p:sp>
        <p:nvSpPr>
          <p:cNvPr id="10" name="TextBox 9"/>
          <p:cNvSpPr txBox="1"/>
          <p:nvPr/>
        </p:nvSpPr>
        <p:spPr>
          <a:xfrm>
            <a:off x="502920" y="2752344"/>
            <a:ext cx="5120640" cy="411480"/>
          </a:xfrm>
          <a:prstGeom prst="rect">
            <a:avLst/>
          </a:prstGeom>
          <a:noFill/>
        </p:spPr>
        <p:txBody>
          <a:bodyPr wrap="square">
            <a:spAutoFit/>
          </a:bodyPr>
          <a:lstStyle/>
          <a:p>
            <a:pPr algn="l"/>
            <a:r>
              <a:rPr sz="1000" b="0">
                <a:solidFill>
                  <a:srgbClr val="CBD5E1"/>
                </a:solidFill>
                <a:latin typeface="Segoe UI"/>
              </a:rPr>
              <a:t>  All 7 services start with documented startup sequence.</a:t>
            </a:r>
          </a:p>
        </p:txBody>
      </p:sp>
      <p:sp>
        <p:nvSpPr>
          <p:cNvPr id="11" name="TextBox 10"/>
          <p:cNvSpPr txBox="1"/>
          <p:nvPr/>
        </p:nvSpPr>
        <p:spPr>
          <a:xfrm>
            <a:off x="502920" y="3236976"/>
            <a:ext cx="5120640" cy="411480"/>
          </a:xfrm>
          <a:prstGeom prst="rect">
            <a:avLst/>
          </a:prstGeom>
          <a:noFill/>
        </p:spPr>
        <p:txBody>
          <a:bodyPr wrap="square">
            <a:spAutoFit/>
          </a:bodyPr>
          <a:lstStyle/>
          <a:p>
            <a:pPr algn="l"/>
            <a:r>
              <a:rPr sz="1000" b="0">
                <a:solidFill>
                  <a:srgbClr val="CBD5E1"/>
                </a:solidFill>
                <a:latin typeface="Segoe UI"/>
              </a:rPr>
              <a:t>  41/41 validation + 11/11 benchmark verified.</a:t>
            </a:r>
          </a:p>
        </p:txBody>
      </p:sp>
      <p:sp>
        <p:nvSpPr>
          <p:cNvPr id="12" name="TextBox 11"/>
          <p:cNvSpPr txBox="1"/>
          <p:nvPr/>
        </p:nvSpPr>
        <p:spPr>
          <a:xfrm>
            <a:off x="502920" y="3721608"/>
            <a:ext cx="5120640" cy="411480"/>
          </a:xfrm>
          <a:prstGeom prst="rect">
            <a:avLst/>
          </a:prstGeom>
          <a:noFill/>
        </p:spPr>
        <p:txBody>
          <a:bodyPr wrap="square">
            <a:spAutoFit/>
          </a:bodyPr>
          <a:lstStyle/>
          <a:p>
            <a:pPr algn="l"/>
            <a:r>
              <a:rPr sz="1000" b="0">
                <a:solidFill>
                  <a:srgbClr val="CBD5E1"/>
                </a:solidFill>
                <a:latin typeface="Segoe UI"/>
              </a:rPr>
              <a:t>  Zero-cost for portfolio review.</a:t>
            </a:r>
          </a:p>
        </p:txBody>
      </p:sp>
      <p:sp>
        <p:nvSpPr>
          <p:cNvPr id="13" name="TextBox 12"/>
          <p:cNvSpPr txBox="1"/>
          <p:nvPr/>
        </p:nvSpPr>
        <p:spPr>
          <a:xfrm>
            <a:off x="502920" y="4206240"/>
            <a:ext cx="5120640" cy="411480"/>
          </a:xfrm>
          <a:prstGeom prst="rect">
            <a:avLst/>
          </a:prstGeom>
          <a:noFill/>
        </p:spPr>
        <p:txBody>
          <a:bodyPr wrap="square">
            <a:spAutoFit/>
          </a:bodyPr>
          <a:lstStyle/>
          <a:p>
            <a:pPr algn="l"/>
            <a:r>
              <a:rPr sz="1000" b="0">
                <a:solidFill>
                  <a:srgbClr val="CBD5E1"/>
                </a:solidFill>
                <a:latin typeface="Segoe UI"/>
              </a:rPr>
              <a:t>  Reviewer access: http://localhost:3000</a:t>
            </a:r>
          </a:p>
        </p:txBody>
      </p:sp>
      <p:sp>
        <p:nvSpPr>
          <p:cNvPr id="14" name="TextBox 13"/>
          <p:cNvSpPr txBox="1"/>
          <p:nvPr/>
        </p:nvSpPr>
        <p:spPr>
          <a:xfrm>
            <a:off x="502920" y="4690872"/>
            <a:ext cx="5120640" cy="411480"/>
          </a:xfrm>
          <a:prstGeom prst="rect">
            <a:avLst/>
          </a:prstGeom>
          <a:noFill/>
        </p:spPr>
        <p:txBody>
          <a:bodyPr wrap="square">
            <a:spAutoFit/>
          </a:bodyPr>
          <a:lstStyle/>
          <a:p>
            <a:pPr algn="l"/>
            <a:r>
              <a:rPr sz="1000" b="0">
                <a:solidFill>
                  <a:srgbClr val="CBD5E1"/>
                </a:solidFill>
                <a:latin typeface="Segoe UI"/>
              </a:rPr>
              <a:t>  API docs: http://localhost:8000/docs</a:t>
            </a:r>
          </a:p>
        </p:txBody>
      </p:sp>
      <p:sp>
        <p:nvSpPr>
          <p:cNvPr id="15" name="TextBox 14"/>
          <p:cNvSpPr txBox="1"/>
          <p:nvPr/>
        </p:nvSpPr>
        <p:spPr>
          <a:xfrm>
            <a:off x="502920" y="5175504"/>
            <a:ext cx="5120640" cy="411480"/>
          </a:xfrm>
          <a:prstGeom prst="rect">
            <a:avLst/>
          </a:prstGeom>
          <a:noFill/>
        </p:spPr>
        <p:txBody>
          <a:bodyPr wrap="square">
            <a:spAutoFit/>
          </a:bodyPr>
          <a:lstStyle/>
          <a:p>
            <a:pPr algn="l"/>
            <a:r>
              <a:rPr sz="1000" b="0">
                <a:solidFill>
                  <a:srgbClr val="CBD5E1"/>
                </a:solidFill>
                <a:latin typeface="Segoe UI"/>
              </a:rPr>
              <a:t>  Synthetic data only. No live transaction feed.</a:t>
            </a:r>
          </a:p>
        </p:txBody>
      </p:sp>
      <p:sp>
        <p:nvSpPr>
          <p:cNvPr id="16" name="Rectangle 15"/>
          <p:cNvSpPr/>
          <p:nvPr/>
        </p:nvSpPr>
        <p:spPr>
          <a:xfrm>
            <a:off x="6080760" y="1234440"/>
            <a:ext cx="5760720" cy="50292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325880"/>
            <a:ext cx="5394960" cy="347472"/>
          </a:xfrm>
          <a:prstGeom prst="rect">
            <a:avLst/>
          </a:prstGeom>
          <a:noFill/>
        </p:spPr>
        <p:txBody>
          <a:bodyPr wrap="square">
            <a:spAutoFit/>
          </a:bodyPr>
          <a:lstStyle/>
          <a:p>
            <a:pPr algn="l"/>
            <a:r>
              <a:rPr sz="1400" b="1">
                <a:solidFill>
                  <a:srgbClr val="FBBF24"/>
                </a:solidFill>
                <a:latin typeface="Segoe UI"/>
              </a:rPr>
              <a:t>FUTURE (Phase 21 scope)</a:t>
            </a:r>
          </a:p>
        </p:txBody>
      </p:sp>
      <p:sp>
        <p:nvSpPr>
          <p:cNvPr id="18" name="TextBox 17"/>
          <p:cNvSpPr txBox="1"/>
          <p:nvPr/>
        </p:nvSpPr>
        <p:spPr>
          <a:xfrm>
            <a:off x="6263640" y="1783080"/>
            <a:ext cx="5394960" cy="411480"/>
          </a:xfrm>
          <a:prstGeom prst="rect">
            <a:avLst/>
          </a:prstGeom>
          <a:noFill/>
        </p:spPr>
        <p:txBody>
          <a:bodyPr wrap="square">
            <a:spAutoFit/>
          </a:bodyPr>
          <a:lstStyle/>
          <a:p>
            <a:pPr algn="l"/>
            <a:r>
              <a:rPr sz="1000" b="0">
                <a:solidFill>
                  <a:srgbClr val="CBD5E1"/>
                </a:solidFill>
                <a:latin typeface="Segoe UI"/>
              </a:rPr>
              <a:t>  Authentication and RBAC (designed, not implemented).</a:t>
            </a:r>
          </a:p>
        </p:txBody>
      </p:sp>
      <p:sp>
        <p:nvSpPr>
          <p:cNvPr id="19" name="TextBox 18"/>
          <p:cNvSpPr txBox="1"/>
          <p:nvPr/>
        </p:nvSpPr>
        <p:spPr>
          <a:xfrm>
            <a:off x="6263640" y="2267712"/>
            <a:ext cx="5394960" cy="411480"/>
          </a:xfrm>
          <a:prstGeom prst="rect">
            <a:avLst/>
          </a:prstGeom>
          <a:noFill/>
        </p:spPr>
        <p:txBody>
          <a:bodyPr wrap="square">
            <a:spAutoFit/>
          </a:bodyPr>
          <a:lstStyle/>
          <a:p>
            <a:pPr algn="l"/>
            <a:r>
              <a:rPr sz="1000" b="0">
                <a:solidFill>
                  <a:srgbClr val="CBD5E1"/>
                </a:solidFill>
                <a:latin typeface="Segoe UI"/>
              </a:rPr>
              <a:t>  TLS and ingress configuration.</a:t>
            </a:r>
          </a:p>
        </p:txBody>
      </p:sp>
      <p:sp>
        <p:nvSpPr>
          <p:cNvPr id="20" name="TextBox 19"/>
          <p:cNvSpPr txBox="1"/>
          <p:nvPr/>
        </p:nvSpPr>
        <p:spPr>
          <a:xfrm>
            <a:off x="6263640" y="2752344"/>
            <a:ext cx="5394960" cy="411480"/>
          </a:xfrm>
          <a:prstGeom prst="rect">
            <a:avLst/>
          </a:prstGeom>
          <a:noFill/>
        </p:spPr>
        <p:txBody>
          <a:bodyPr wrap="square">
            <a:spAutoFit/>
          </a:bodyPr>
          <a:lstStyle/>
          <a:p>
            <a:pPr algn="l"/>
            <a:r>
              <a:rPr sz="1000" b="0">
                <a:solidFill>
                  <a:srgbClr val="CBD5E1"/>
                </a:solidFill>
                <a:latin typeface="Segoe UI"/>
              </a:rPr>
              <a:t>  Cloud deployment (AWS / GCP / Azure -- option matrix documented).</a:t>
            </a:r>
          </a:p>
        </p:txBody>
      </p:sp>
      <p:sp>
        <p:nvSpPr>
          <p:cNvPr id="21" name="TextBox 20"/>
          <p:cNvSpPr txBox="1"/>
          <p:nvPr/>
        </p:nvSpPr>
        <p:spPr>
          <a:xfrm>
            <a:off x="6263640" y="3236976"/>
            <a:ext cx="5394960" cy="411480"/>
          </a:xfrm>
          <a:prstGeom prst="rect">
            <a:avLst/>
          </a:prstGeom>
          <a:noFill/>
        </p:spPr>
        <p:txBody>
          <a:bodyPr wrap="square">
            <a:spAutoFit/>
          </a:bodyPr>
          <a:lstStyle/>
          <a:p>
            <a:pPr algn="l"/>
            <a:r>
              <a:rPr sz="1000" b="0">
                <a:solidFill>
                  <a:srgbClr val="CBD5E1"/>
                </a:solidFill>
                <a:latin typeface="Segoe UI"/>
              </a:rPr>
              <a:t>  Containerised services via Docker Compose.</a:t>
            </a:r>
          </a:p>
        </p:txBody>
      </p:sp>
      <p:sp>
        <p:nvSpPr>
          <p:cNvPr id="22" name="TextBox 21"/>
          <p:cNvSpPr txBox="1"/>
          <p:nvPr/>
        </p:nvSpPr>
        <p:spPr>
          <a:xfrm>
            <a:off x="6263640" y="3721608"/>
            <a:ext cx="5394960" cy="411480"/>
          </a:xfrm>
          <a:prstGeom prst="rect">
            <a:avLst/>
          </a:prstGeom>
          <a:noFill/>
        </p:spPr>
        <p:txBody>
          <a:bodyPr wrap="square">
            <a:spAutoFit/>
          </a:bodyPr>
          <a:lstStyle/>
          <a:p>
            <a:pPr algn="l"/>
            <a:r>
              <a:rPr sz="1000" b="0">
                <a:solidFill>
                  <a:srgbClr val="CBD5E1"/>
                </a:solidFill>
                <a:latin typeface="Segoe UI"/>
              </a:rPr>
              <a:t>  Multi-broker Redpanda topology.</a:t>
            </a:r>
          </a:p>
        </p:txBody>
      </p:sp>
      <p:sp>
        <p:nvSpPr>
          <p:cNvPr id="23" name="TextBox 22"/>
          <p:cNvSpPr txBox="1"/>
          <p:nvPr/>
        </p:nvSpPr>
        <p:spPr>
          <a:xfrm>
            <a:off x="6263640" y="4206240"/>
            <a:ext cx="5394960" cy="411480"/>
          </a:xfrm>
          <a:prstGeom prst="rect">
            <a:avLst/>
          </a:prstGeom>
          <a:noFill/>
        </p:spPr>
        <p:txBody>
          <a:bodyPr wrap="square">
            <a:spAutoFit/>
          </a:bodyPr>
          <a:lstStyle/>
          <a:p>
            <a:pPr algn="l"/>
            <a:r>
              <a:rPr sz="1000" b="0">
                <a:solidFill>
                  <a:srgbClr val="CBD5E1"/>
                </a:solidFill>
                <a:latin typeface="Segoe UI"/>
              </a:rPr>
              <a:t>  Institution-specific model calibration.</a:t>
            </a:r>
          </a:p>
        </p:txBody>
      </p:sp>
      <p:sp>
        <p:nvSpPr>
          <p:cNvPr id="24" name="TextBox 23"/>
          <p:cNvSpPr txBox="1"/>
          <p:nvPr/>
        </p:nvSpPr>
        <p:spPr>
          <a:xfrm>
            <a:off x="6263640" y="4690872"/>
            <a:ext cx="5394960" cy="411480"/>
          </a:xfrm>
          <a:prstGeom prst="rect">
            <a:avLst/>
          </a:prstGeom>
          <a:noFill/>
        </p:spPr>
        <p:txBody>
          <a:bodyPr wrap="square">
            <a:spAutoFit/>
          </a:bodyPr>
          <a:lstStyle/>
          <a:p>
            <a:pPr algn="l"/>
            <a:r>
              <a:rPr sz="1000" b="0">
                <a:solidFill>
                  <a:srgbClr val="CBD5E1"/>
                </a:solidFill>
                <a:latin typeface="Segoe UI"/>
              </a:rPr>
              <a:t>  SLO alerting integration.</a:t>
            </a:r>
          </a:p>
        </p:txBody>
      </p:sp>
      <p:sp>
        <p:nvSpPr>
          <p:cNvPr id="25" name="TextBox 24"/>
          <p:cNvSpPr txBox="1"/>
          <p:nvPr/>
        </p:nvSpPr>
        <p:spPr>
          <a:xfrm>
            <a:off x="6263640" y="5175504"/>
            <a:ext cx="5394960" cy="411480"/>
          </a:xfrm>
          <a:prstGeom prst="rect">
            <a:avLst/>
          </a:prstGeom>
          <a:noFill/>
        </p:spPr>
        <p:txBody>
          <a:bodyPr wrap="square">
            <a:spAutoFit/>
          </a:bodyPr>
          <a:lstStyle/>
          <a:p>
            <a:pPr algn="l"/>
            <a:r>
              <a:rPr sz="1000" b="0">
                <a:solidFill>
                  <a:srgbClr val="CBD5E1"/>
                </a:solidFill>
                <a:latin typeface="Segoe UI"/>
              </a:rPr>
              <a:t>  n8n production workflow templates.</a:t>
            </a:r>
          </a:p>
        </p:txBody>
      </p:sp>
      <p:sp>
        <p:nvSpPr>
          <p:cNvPr id="26" name="Rectangle 25"/>
          <p:cNvSpPr/>
          <p:nvPr/>
        </p:nvSpPr>
        <p:spPr>
          <a:xfrm>
            <a:off x="320040" y="644652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492240"/>
            <a:ext cx="11155680" cy="274320"/>
          </a:xfrm>
          <a:prstGeom prst="rect">
            <a:avLst/>
          </a:prstGeom>
          <a:noFill/>
        </p:spPr>
        <p:txBody>
          <a:bodyPr wrap="square">
            <a:spAutoFit/>
          </a:bodyPr>
          <a:lstStyle/>
          <a:p>
            <a:pPr algn="ctr"/>
            <a:r>
              <a:rPr sz="900" b="0">
                <a:solidFill>
                  <a:srgbClr val="64748B"/>
                </a:solidFill>
                <a:latin typeface="Segoe UI"/>
              </a:rPr>
              <a:t>Reference: docs/DEPLOYMENT_STRATEGY.md -- 30-item production hardening checklist, cost matrix, 5-option deployment matrix.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SECURITY POSTURE</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Security posture: in-scope items implemented, deferred items documented.</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34440"/>
            <a:ext cx="5486400" cy="52120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120640" cy="347472"/>
          </a:xfrm>
          <a:prstGeom prst="rect">
            <a:avLst/>
          </a:prstGeom>
          <a:noFill/>
        </p:spPr>
        <p:txBody>
          <a:bodyPr wrap="square">
            <a:spAutoFit/>
          </a:bodyPr>
          <a:lstStyle/>
          <a:p>
            <a:pPr algn="l"/>
            <a:r>
              <a:rPr sz="1300" b="1">
                <a:solidFill>
                  <a:srgbClr val="34D399"/>
                </a:solidFill>
                <a:latin typeface="Segoe UI"/>
              </a:rPr>
              <a:t>In Place</a:t>
            </a:r>
          </a:p>
        </p:txBody>
      </p:sp>
      <p:sp>
        <p:nvSpPr>
          <p:cNvPr id="8" name="TextBox 7"/>
          <p:cNvSpPr txBox="1"/>
          <p:nvPr/>
        </p:nvSpPr>
        <p:spPr>
          <a:xfrm>
            <a:off x="502920" y="1783080"/>
            <a:ext cx="5120640" cy="411480"/>
          </a:xfrm>
          <a:prstGeom prst="rect">
            <a:avLst/>
          </a:prstGeom>
          <a:noFill/>
        </p:spPr>
        <p:txBody>
          <a:bodyPr wrap="square">
            <a:spAutoFit/>
          </a:bodyPr>
          <a:lstStyle/>
          <a:p>
            <a:pPr algn="l"/>
            <a:r>
              <a:rPr sz="1000" b="0">
                <a:solidFill>
                  <a:srgbClr val="CBD5E1"/>
                </a:solidFill>
                <a:latin typeface="Segoe UI"/>
              </a:rPr>
              <a:t>  No hardcoded credentials in source.</a:t>
            </a:r>
          </a:p>
        </p:txBody>
      </p:sp>
      <p:sp>
        <p:nvSpPr>
          <p:cNvPr id="9" name="TextBox 8"/>
          <p:cNvSpPr txBox="1"/>
          <p:nvPr/>
        </p:nvSpPr>
        <p:spPr>
          <a:xfrm>
            <a:off x="502920" y="2286000"/>
            <a:ext cx="5120640" cy="411480"/>
          </a:xfrm>
          <a:prstGeom prst="rect">
            <a:avLst/>
          </a:prstGeom>
          <a:noFill/>
        </p:spPr>
        <p:txBody>
          <a:bodyPr wrap="square">
            <a:spAutoFit/>
          </a:bodyPr>
          <a:lstStyle/>
          <a:p>
            <a:pPr algn="l"/>
            <a:r>
              <a:rPr sz="1000" b="0">
                <a:solidFill>
                  <a:srgbClr val="CBD5E1"/>
                </a:solidFill>
                <a:latin typeface="Segoe UI"/>
              </a:rPr>
              <a:t>  PostgreSQL connection via environment variables.</a:t>
            </a:r>
          </a:p>
        </p:txBody>
      </p:sp>
      <p:sp>
        <p:nvSpPr>
          <p:cNvPr id="10" name="TextBox 9"/>
          <p:cNvSpPr txBox="1"/>
          <p:nvPr/>
        </p:nvSpPr>
        <p:spPr>
          <a:xfrm>
            <a:off x="502920" y="2788920"/>
            <a:ext cx="5120640" cy="411480"/>
          </a:xfrm>
          <a:prstGeom prst="rect">
            <a:avLst/>
          </a:prstGeom>
          <a:noFill/>
        </p:spPr>
        <p:txBody>
          <a:bodyPr wrap="square">
            <a:spAutoFit/>
          </a:bodyPr>
          <a:lstStyle/>
          <a:p>
            <a:pPr algn="l"/>
            <a:r>
              <a:rPr sz="1000" b="0">
                <a:solidFill>
                  <a:srgbClr val="CBD5E1"/>
                </a:solidFill>
                <a:latin typeface="Segoe UI"/>
              </a:rPr>
              <a:t>  Input validation on all API endpoints (Pydantic).</a:t>
            </a:r>
          </a:p>
        </p:txBody>
      </p:sp>
      <p:sp>
        <p:nvSpPr>
          <p:cNvPr id="11" name="TextBox 10"/>
          <p:cNvSpPr txBox="1"/>
          <p:nvPr/>
        </p:nvSpPr>
        <p:spPr>
          <a:xfrm>
            <a:off x="502920" y="3291840"/>
            <a:ext cx="5120640" cy="411480"/>
          </a:xfrm>
          <a:prstGeom prst="rect">
            <a:avLst/>
          </a:prstGeom>
          <a:noFill/>
        </p:spPr>
        <p:txBody>
          <a:bodyPr wrap="square">
            <a:spAutoFit/>
          </a:bodyPr>
          <a:lstStyle/>
          <a:p>
            <a:pPr algn="l"/>
            <a:r>
              <a:rPr sz="1000" b="0">
                <a:solidFill>
                  <a:srgbClr val="CBD5E1"/>
                </a:solidFill>
                <a:latin typeface="Segoe UI"/>
              </a:rPr>
              <a:t>  LLM output schema validation before persistence.</a:t>
            </a:r>
          </a:p>
        </p:txBody>
      </p:sp>
      <p:sp>
        <p:nvSpPr>
          <p:cNvPr id="12" name="TextBox 11"/>
          <p:cNvSpPr txBox="1"/>
          <p:nvPr/>
        </p:nvSpPr>
        <p:spPr>
          <a:xfrm>
            <a:off x="502920" y="3794760"/>
            <a:ext cx="5120640" cy="411480"/>
          </a:xfrm>
          <a:prstGeom prst="rect">
            <a:avLst/>
          </a:prstGeom>
          <a:noFill/>
        </p:spPr>
        <p:txBody>
          <a:bodyPr wrap="square">
            <a:spAutoFit/>
          </a:bodyPr>
          <a:lstStyle/>
          <a:p>
            <a:pPr algn="l"/>
            <a:r>
              <a:rPr sz="1000" b="0">
                <a:solidFill>
                  <a:srgbClr val="CBD5E1"/>
                </a:solidFill>
                <a:latin typeface="Segoe UI"/>
              </a:rPr>
              <a:t>  AGENT_VERSION immutability: briefs link to producing config.</a:t>
            </a:r>
          </a:p>
        </p:txBody>
      </p:sp>
      <p:sp>
        <p:nvSpPr>
          <p:cNvPr id="13" name="TextBox 12"/>
          <p:cNvSpPr txBox="1"/>
          <p:nvPr/>
        </p:nvSpPr>
        <p:spPr>
          <a:xfrm>
            <a:off x="502920" y="4297680"/>
            <a:ext cx="5120640" cy="411480"/>
          </a:xfrm>
          <a:prstGeom prst="rect">
            <a:avLst/>
          </a:prstGeom>
          <a:noFill/>
        </p:spPr>
        <p:txBody>
          <a:bodyPr wrap="square">
            <a:spAutoFit/>
          </a:bodyPr>
          <a:lstStyle/>
          <a:p>
            <a:pPr algn="l"/>
            <a:r>
              <a:rPr sz="1000" b="0">
                <a:solidFill>
                  <a:srgbClr val="CBD5E1"/>
                </a:solidFill>
                <a:latin typeface="Segoe UI"/>
              </a:rPr>
              <a:t>  Consumer offset strategy: error paths do not advance queue.</a:t>
            </a:r>
          </a:p>
        </p:txBody>
      </p:sp>
      <p:sp>
        <p:nvSpPr>
          <p:cNvPr id="14" name="TextBox 13"/>
          <p:cNvSpPr txBox="1"/>
          <p:nvPr/>
        </p:nvSpPr>
        <p:spPr>
          <a:xfrm>
            <a:off x="502920" y="4800600"/>
            <a:ext cx="5120640" cy="411480"/>
          </a:xfrm>
          <a:prstGeom prst="rect">
            <a:avLst/>
          </a:prstGeom>
          <a:noFill/>
        </p:spPr>
        <p:txBody>
          <a:bodyPr wrap="square">
            <a:spAutoFit/>
          </a:bodyPr>
          <a:lstStyle/>
          <a:p>
            <a:pPr algn="l"/>
            <a:r>
              <a:rPr sz="1000" b="0">
                <a:solidFill>
                  <a:srgbClr val="CBD5E1"/>
                </a:solidFill>
                <a:latin typeface="Segoe UI"/>
              </a:rPr>
              <a:t>  No external network calls from scoring path.</a:t>
            </a:r>
          </a:p>
        </p:txBody>
      </p:sp>
      <p:sp>
        <p:nvSpPr>
          <p:cNvPr id="15" name="TextBox 14"/>
          <p:cNvSpPr txBox="1"/>
          <p:nvPr/>
        </p:nvSpPr>
        <p:spPr>
          <a:xfrm>
            <a:off x="502920" y="5303520"/>
            <a:ext cx="5120640" cy="411480"/>
          </a:xfrm>
          <a:prstGeom prst="rect">
            <a:avLst/>
          </a:prstGeom>
          <a:noFill/>
        </p:spPr>
        <p:txBody>
          <a:bodyPr wrap="square">
            <a:spAutoFit/>
          </a:bodyPr>
          <a:lstStyle/>
          <a:p>
            <a:pPr algn="l"/>
            <a:r>
              <a:rPr sz="1000" b="0">
                <a:solidFill>
                  <a:srgbClr val="CBD5E1"/>
                </a:solidFill>
                <a:latin typeface="Segoe UI"/>
              </a:rPr>
              <a:t>  Synthetic data only: no PII in the inspection package.</a:t>
            </a:r>
          </a:p>
        </p:txBody>
      </p:sp>
      <p:sp>
        <p:nvSpPr>
          <p:cNvPr id="16" name="Rectangle 15"/>
          <p:cNvSpPr/>
          <p:nvPr/>
        </p:nvSpPr>
        <p:spPr>
          <a:xfrm>
            <a:off x="6080760" y="1234440"/>
            <a:ext cx="5760720" cy="52120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325880"/>
            <a:ext cx="5394960" cy="347472"/>
          </a:xfrm>
          <a:prstGeom prst="rect">
            <a:avLst/>
          </a:prstGeom>
          <a:noFill/>
        </p:spPr>
        <p:txBody>
          <a:bodyPr wrap="square">
            <a:spAutoFit/>
          </a:bodyPr>
          <a:lstStyle/>
          <a:p>
            <a:pPr algn="l"/>
            <a:r>
              <a:rPr sz="1300" b="1">
                <a:solidFill>
                  <a:srgbClr val="FBBF24"/>
                </a:solidFill>
                <a:latin typeface="Segoe UI"/>
              </a:rPr>
              <a:t>Deferred (documented)</a:t>
            </a:r>
          </a:p>
        </p:txBody>
      </p:sp>
      <p:sp>
        <p:nvSpPr>
          <p:cNvPr id="18" name="TextBox 17"/>
          <p:cNvSpPr txBox="1"/>
          <p:nvPr/>
        </p:nvSpPr>
        <p:spPr>
          <a:xfrm>
            <a:off x="6263640" y="1783080"/>
            <a:ext cx="5394960" cy="411480"/>
          </a:xfrm>
          <a:prstGeom prst="rect">
            <a:avLst/>
          </a:prstGeom>
          <a:noFill/>
        </p:spPr>
        <p:txBody>
          <a:bodyPr wrap="square">
            <a:spAutoFit/>
          </a:bodyPr>
          <a:lstStyle/>
          <a:p>
            <a:pPr algn="l"/>
            <a:r>
              <a:rPr sz="1000" b="0">
                <a:solidFill>
                  <a:srgbClr val="CBD5E1"/>
                </a:solidFill>
                <a:latin typeface="Segoe UI"/>
              </a:rPr>
              <a:t>  Authentication (JWT / OAuth2): designed in docs/AUTH_RBAC_DESIGN.md.</a:t>
            </a:r>
          </a:p>
        </p:txBody>
      </p:sp>
      <p:sp>
        <p:nvSpPr>
          <p:cNvPr id="19" name="TextBox 18"/>
          <p:cNvSpPr txBox="1"/>
          <p:nvPr/>
        </p:nvSpPr>
        <p:spPr>
          <a:xfrm>
            <a:off x="6263640" y="2286000"/>
            <a:ext cx="5394960" cy="411480"/>
          </a:xfrm>
          <a:prstGeom prst="rect">
            <a:avLst/>
          </a:prstGeom>
          <a:noFill/>
        </p:spPr>
        <p:txBody>
          <a:bodyPr wrap="square">
            <a:spAutoFit/>
          </a:bodyPr>
          <a:lstStyle/>
          <a:p>
            <a:pPr algn="l"/>
            <a:r>
              <a:rPr sz="1000" b="0">
                <a:solidFill>
                  <a:srgbClr val="CBD5E1"/>
                </a:solidFill>
                <a:latin typeface="Segoe UI"/>
              </a:rPr>
              <a:t>  RBAC: role model designed, not enforced in current build.</a:t>
            </a:r>
          </a:p>
        </p:txBody>
      </p:sp>
      <p:sp>
        <p:nvSpPr>
          <p:cNvPr id="20" name="TextBox 19"/>
          <p:cNvSpPr txBox="1"/>
          <p:nvPr/>
        </p:nvSpPr>
        <p:spPr>
          <a:xfrm>
            <a:off x="6263640" y="2788920"/>
            <a:ext cx="5394960" cy="411480"/>
          </a:xfrm>
          <a:prstGeom prst="rect">
            <a:avLst/>
          </a:prstGeom>
          <a:noFill/>
        </p:spPr>
        <p:txBody>
          <a:bodyPr wrap="square">
            <a:spAutoFit/>
          </a:bodyPr>
          <a:lstStyle/>
          <a:p>
            <a:pPr algn="l"/>
            <a:r>
              <a:rPr sz="1000" b="0">
                <a:solidFill>
                  <a:srgbClr val="CBD5E1"/>
                </a:solidFill>
                <a:latin typeface="Segoe UI"/>
              </a:rPr>
              <a:t>  TLS: not configured for localhost inspection package.</a:t>
            </a:r>
          </a:p>
        </p:txBody>
      </p:sp>
      <p:sp>
        <p:nvSpPr>
          <p:cNvPr id="21" name="TextBox 20"/>
          <p:cNvSpPr txBox="1"/>
          <p:nvPr/>
        </p:nvSpPr>
        <p:spPr>
          <a:xfrm>
            <a:off x="6263640" y="3291840"/>
            <a:ext cx="5394960" cy="411480"/>
          </a:xfrm>
          <a:prstGeom prst="rect">
            <a:avLst/>
          </a:prstGeom>
          <a:noFill/>
        </p:spPr>
        <p:txBody>
          <a:bodyPr wrap="square">
            <a:spAutoFit/>
          </a:bodyPr>
          <a:lstStyle/>
          <a:p>
            <a:pPr algn="l"/>
            <a:r>
              <a:rPr sz="1000" b="0">
                <a:solidFill>
                  <a:srgbClr val="CBD5E1"/>
                </a:solidFill>
                <a:latin typeface="Segoe UI"/>
              </a:rPr>
              <a:t>  Rate limiting: not implemented in current build.</a:t>
            </a:r>
          </a:p>
        </p:txBody>
      </p:sp>
      <p:sp>
        <p:nvSpPr>
          <p:cNvPr id="22" name="TextBox 21"/>
          <p:cNvSpPr txBox="1"/>
          <p:nvPr/>
        </p:nvSpPr>
        <p:spPr>
          <a:xfrm>
            <a:off x="6263640" y="3794760"/>
            <a:ext cx="5394960" cy="411480"/>
          </a:xfrm>
          <a:prstGeom prst="rect">
            <a:avLst/>
          </a:prstGeom>
          <a:noFill/>
        </p:spPr>
        <p:txBody>
          <a:bodyPr wrap="square">
            <a:spAutoFit/>
          </a:bodyPr>
          <a:lstStyle/>
          <a:p>
            <a:pPr algn="l"/>
            <a:r>
              <a:rPr sz="1000" b="0">
                <a:solidFill>
                  <a:srgbClr val="CBD5E1"/>
                </a:solidFill>
                <a:latin typeface="Segoe UI"/>
              </a:rPr>
              <a:t>  Secrets management (Vault / AWS Secrets Manager): deferred to Phase 21.</a:t>
            </a:r>
          </a:p>
        </p:txBody>
      </p:sp>
      <p:sp>
        <p:nvSpPr>
          <p:cNvPr id="23" name="TextBox 22"/>
          <p:cNvSpPr txBox="1"/>
          <p:nvPr/>
        </p:nvSpPr>
        <p:spPr>
          <a:xfrm>
            <a:off x="6263640" y="4297680"/>
            <a:ext cx="5394960" cy="411480"/>
          </a:xfrm>
          <a:prstGeom prst="rect">
            <a:avLst/>
          </a:prstGeom>
          <a:noFill/>
        </p:spPr>
        <p:txBody>
          <a:bodyPr wrap="square">
            <a:spAutoFit/>
          </a:bodyPr>
          <a:lstStyle/>
          <a:p>
            <a:pPr algn="l"/>
            <a:r>
              <a:rPr sz="1000" b="0">
                <a:solidFill>
                  <a:srgbClr val="CBD5E1"/>
                </a:solidFill>
                <a:latin typeface="Segoe UI"/>
              </a:rPr>
              <a:t>  Audit log tamper protection: event log integrity not enforced.</a:t>
            </a:r>
          </a:p>
        </p:txBody>
      </p:sp>
      <p:sp>
        <p:nvSpPr>
          <p:cNvPr id="24" name="TextBox 23"/>
          <p:cNvSpPr txBox="1"/>
          <p:nvPr/>
        </p:nvSpPr>
        <p:spPr>
          <a:xfrm>
            <a:off x="6263640" y="4800600"/>
            <a:ext cx="5394960" cy="411480"/>
          </a:xfrm>
          <a:prstGeom prst="rect">
            <a:avLst/>
          </a:prstGeom>
          <a:noFill/>
        </p:spPr>
        <p:txBody>
          <a:bodyPr wrap="square">
            <a:spAutoFit/>
          </a:bodyPr>
          <a:lstStyle/>
          <a:p>
            <a:pPr algn="l"/>
            <a:r>
              <a:rPr sz="1000" b="0">
                <a:solidFill>
                  <a:srgbClr val="CBD5E1"/>
                </a:solidFill>
                <a:latin typeface="Segoe UI"/>
              </a:rPr>
              <a:t>  API key rotation: deferred to cloud deployment phase.</a:t>
            </a:r>
          </a:p>
        </p:txBody>
      </p:sp>
      <p:sp>
        <p:nvSpPr>
          <p:cNvPr id="25" name="TextBox 24"/>
          <p:cNvSpPr txBox="1"/>
          <p:nvPr/>
        </p:nvSpPr>
        <p:spPr>
          <a:xfrm>
            <a:off x="6263640" y="5303520"/>
            <a:ext cx="5394960" cy="411480"/>
          </a:xfrm>
          <a:prstGeom prst="rect">
            <a:avLst/>
          </a:prstGeom>
          <a:noFill/>
        </p:spPr>
        <p:txBody>
          <a:bodyPr wrap="square">
            <a:spAutoFit/>
          </a:bodyPr>
          <a:lstStyle/>
          <a:p>
            <a:pPr algn="l"/>
            <a:r>
              <a:rPr sz="1000" b="0">
                <a:solidFill>
                  <a:srgbClr val="CBD5E1"/>
                </a:solidFill>
                <a:latin typeface="Segoe UI"/>
              </a:rPr>
              <a:t>  Penetration testing: deferred to pre-production phase.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3657600" cy="274320"/>
          </a:xfrm>
          <a:prstGeom prst="rect">
            <a:avLst/>
          </a:prstGeom>
          <a:noFill/>
        </p:spPr>
        <p:txBody>
          <a:bodyPr wrap="square">
            <a:spAutoFit/>
          </a:bodyPr>
          <a:lstStyle/>
          <a:p>
            <a:pPr algn="l"/>
            <a:r>
              <a:rPr sz="900" b="1">
                <a:solidFill>
                  <a:srgbClr val="64748B"/>
                </a:solidFill>
                <a:latin typeface="Segoe UI"/>
              </a:rPr>
              <a:t>REVIEWER CHECKLIST</a:t>
            </a:r>
          </a:p>
        </p:txBody>
      </p:sp>
      <p:sp>
        <p:nvSpPr>
          <p:cNvPr id="4" name="TextBox 3"/>
          <p:cNvSpPr txBox="1"/>
          <p:nvPr/>
        </p:nvSpPr>
        <p:spPr>
          <a:xfrm>
            <a:off x="320040" y="384048"/>
            <a:ext cx="11521440" cy="502920"/>
          </a:xfrm>
          <a:prstGeom prst="rect">
            <a:avLst/>
          </a:prstGeom>
          <a:noFill/>
        </p:spPr>
        <p:txBody>
          <a:bodyPr wrap="square">
            <a:spAutoFit/>
          </a:bodyPr>
          <a:lstStyle/>
          <a:p>
            <a:pPr algn="l"/>
            <a:r>
              <a:rPr sz="3000" b="1">
                <a:solidFill>
                  <a:srgbClr val="FFFFFF"/>
                </a:solidFill>
                <a:latin typeface="Segoe UI"/>
              </a:rPr>
              <a:t>Every claim is verifiable. Start here.</a:t>
            </a:r>
          </a:p>
        </p:txBody>
      </p:sp>
      <p:sp>
        <p:nvSpPr>
          <p:cNvPr id="5" name="Rectangle 4"/>
          <p:cNvSpPr/>
          <p:nvPr/>
        </p:nvSpPr>
        <p:spPr>
          <a:xfrm>
            <a:off x="320040" y="1051560"/>
            <a:ext cx="11521440" cy="2743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234440"/>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234440"/>
            <a:ext cx="45720" cy="5486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4632" y="1271016"/>
            <a:ext cx="1828800" cy="228600"/>
          </a:xfrm>
          <a:prstGeom prst="rect">
            <a:avLst/>
          </a:prstGeom>
          <a:noFill/>
        </p:spPr>
        <p:txBody>
          <a:bodyPr wrap="square">
            <a:spAutoFit/>
          </a:bodyPr>
          <a:lstStyle/>
          <a:p>
            <a:pPr algn="l"/>
            <a:r>
              <a:rPr sz="1000" b="1">
                <a:solidFill>
                  <a:srgbClr val="FFFFFF"/>
                </a:solidFill>
                <a:latin typeface="Segoe UI"/>
              </a:rPr>
              <a:t>Scoring engine</a:t>
            </a:r>
          </a:p>
        </p:txBody>
      </p:sp>
      <p:sp>
        <p:nvSpPr>
          <p:cNvPr id="9" name="TextBox 8"/>
          <p:cNvSpPr txBox="1"/>
          <p:nvPr/>
        </p:nvSpPr>
        <p:spPr>
          <a:xfrm>
            <a:off x="484632" y="1508760"/>
            <a:ext cx="5120640" cy="219456"/>
          </a:xfrm>
          <a:prstGeom prst="rect">
            <a:avLst/>
          </a:prstGeom>
          <a:noFill/>
        </p:spPr>
        <p:txBody>
          <a:bodyPr wrap="square">
            <a:spAutoFit/>
          </a:bodyPr>
          <a:lstStyle/>
          <a:p>
            <a:pPr algn="l"/>
            <a:r>
              <a:rPr sz="900" b="0">
                <a:solidFill>
                  <a:srgbClr val="CBD5E1"/>
                </a:solidFill>
                <a:latin typeface="Segoe UI"/>
              </a:rPr>
              <a:t>fraud-console/src/scoring/</a:t>
            </a:r>
          </a:p>
        </p:txBody>
      </p:sp>
      <p:sp>
        <p:nvSpPr>
          <p:cNvPr id="10" name="Rectangle 9"/>
          <p:cNvSpPr/>
          <p:nvPr/>
        </p:nvSpPr>
        <p:spPr>
          <a:xfrm>
            <a:off x="6172200" y="1234440"/>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34440"/>
            <a:ext cx="45720" cy="5486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1271016"/>
            <a:ext cx="1828800" cy="228600"/>
          </a:xfrm>
          <a:prstGeom prst="rect">
            <a:avLst/>
          </a:prstGeom>
          <a:noFill/>
        </p:spPr>
        <p:txBody>
          <a:bodyPr wrap="square">
            <a:spAutoFit/>
          </a:bodyPr>
          <a:lstStyle/>
          <a:p>
            <a:pPr algn="l"/>
            <a:r>
              <a:rPr sz="1000" b="1">
                <a:solidFill>
                  <a:srgbClr val="FFFFFF"/>
                </a:solidFill>
                <a:latin typeface="Segoe UI"/>
              </a:rPr>
              <a:t>4-layer weights</a:t>
            </a:r>
          </a:p>
        </p:txBody>
      </p:sp>
      <p:sp>
        <p:nvSpPr>
          <p:cNvPr id="13" name="TextBox 12"/>
          <p:cNvSpPr txBox="1"/>
          <p:nvPr/>
        </p:nvSpPr>
        <p:spPr>
          <a:xfrm>
            <a:off x="6336792" y="1508760"/>
            <a:ext cx="5120640" cy="219456"/>
          </a:xfrm>
          <a:prstGeom prst="rect">
            <a:avLst/>
          </a:prstGeom>
          <a:noFill/>
        </p:spPr>
        <p:txBody>
          <a:bodyPr wrap="square">
            <a:spAutoFit/>
          </a:bodyPr>
          <a:lstStyle/>
          <a:p>
            <a:pPr algn="l"/>
            <a:r>
              <a:rPr sz="900" b="0">
                <a:solidFill>
                  <a:srgbClr val="CBD5E1"/>
                </a:solidFill>
                <a:latin typeface="Segoe UI"/>
              </a:rPr>
              <a:t>fraud-console/src/scoring/config.py</a:t>
            </a:r>
          </a:p>
        </p:txBody>
      </p:sp>
      <p:sp>
        <p:nvSpPr>
          <p:cNvPr id="14" name="Rectangle 13"/>
          <p:cNvSpPr/>
          <p:nvPr/>
        </p:nvSpPr>
        <p:spPr>
          <a:xfrm>
            <a:off x="320040" y="1856232"/>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1856232"/>
            <a:ext cx="45720" cy="5486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4632" y="1892808"/>
            <a:ext cx="1828800" cy="228600"/>
          </a:xfrm>
          <a:prstGeom prst="rect">
            <a:avLst/>
          </a:prstGeom>
          <a:noFill/>
        </p:spPr>
        <p:txBody>
          <a:bodyPr wrap="square">
            <a:spAutoFit/>
          </a:bodyPr>
          <a:lstStyle/>
          <a:p>
            <a:pPr algn="l"/>
            <a:r>
              <a:rPr sz="1000" b="1">
                <a:solidFill>
                  <a:srgbClr val="FFFFFF"/>
                </a:solidFill>
                <a:latin typeface="Segoe UI"/>
              </a:rPr>
              <a:t>Investigation brief</a:t>
            </a:r>
          </a:p>
        </p:txBody>
      </p:sp>
      <p:sp>
        <p:nvSpPr>
          <p:cNvPr id="17" name="TextBox 16"/>
          <p:cNvSpPr txBox="1"/>
          <p:nvPr/>
        </p:nvSpPr>
        <p:spPr>
          <a:xfrm>
            <a:off x="484632" y="2130552"/>
            <a:ext cx="5120640" cy="219456"/>
          </a:xfrm>
          <a:prstGeom prst="rect">
            <a:avLst/>
          </a:prstGeom>
          <a:noFill/>
        </p:spPr>
        <p:txBody>
          <a:bodyPr wrap="square">
            <a:spAutoFit/>
          </a:bodyPr>
          <a:lstStyle/>
          <a:p>
            <a:pPr algn="l"/>
            <a:r>
              <a:rPr sz="900" b="0">
                <a:solidFill>
                  <a:srgbClr val="CBD5E1"/>
                </a:solidFill>
                <a:latin typeface="Segoe UI"/>
              </a:rPr>
              <a:t>fraud-console/src/investigation/reasoner.py</a:t>
            </a:r>
          </a:p>
        </p:txBody>
      </p:sp>
      <p:sp>
        <p:nvSpPr>
          <p:cNvPr id="18" name="Rectangle 17"/>
          <p:cNvSpPr/>
          <p:nvPr/>
        </p:nvSpPr>
        <p:spPr>
          <a:xfrm>
            <a:off x="6172200" y="1856232"/>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1856232"/>
            <a:ext cx="45720" cy="5486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36792" y="1892808"/>
            <a:ext cx="1828800" cy="228600"/>
          </a:xfrm>
          <a:prstGeom prst="rect">
            <a:avLst/>
          </a:prstGeom>
          <a:noFill/>
        </p:spPr>
        <p:txBody>
          <a:bodyPr wrap="square">
            <a:spAutoFit/>
          </a:bodyPr>
          <a:lstStyle/>
          <a:p>
            <a:pPr algn="l"/>
            <a:r>
              <a:rPr sz="1000" b="1">
                <a:solidFill>
                  <a:srgbClr val="FFFFFF"/>
                </a:solidFill>
                <a:latin typeface="Segoe UI"/>
              </a:rPr>
              <a:t>AGENT_VERSION</a:t>
            </a:r>
          </a:p>
        </p:txBody>
      </p:sp>
      <p:sp>
        <p:nvSpPr>
          <p:cNvPr id="21" name="TextBox 20"/>
          <p:cNvSpPr txBox="1"/>
          <p:nvPr/>
        </p:nvSpPr>
        <p:spPr>
          <a:xfrm>
            <a:off x="6336792" y="2130552"/>
            <a:ext cx="5120640" cy="219456"/>
          </a:xfrm>
          <a:prstGeom prst="rect">
            <a:avLst/>
          </a:prstGeom>
          <a:noFill/>
        </p:spPr>
        <p:txBody>
          <a:bodyPr wrap="square">
            <a:spAutoFit/>
          </a:bodyPr>
          <a:lstStyle/>
          <a:p>
            <a:pPr algn="l"/>
            <a:r>
              <a:rPr sz="900" b="0">
                <a:solidFill>
                  <a:srgbClr val="CBD5E1"/>
                </a:solidFill>
                <a:latin typeface="Segoe UI"/>
              </a:rPr>
              <a:t>fraud-console/src/investigation/consumer.py</a:t>
            </a:r>
          </a:p>
        </p:txBody>
      </p:sp>
      <p:sp>
        <p:nvSpPr>
          <p:cNvPr id="22" name="Rectangle 21"/>
          <p:cNvSpPr/>
          <p:nvPr/>
        </p:nvSpPr>
        <p:spPr>
          <a:xfrm>
            <a:off x="320040" y="2478024"/>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2478024"/>
            <a:ext cx="45720" cy="5486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632" y="2514600"/>
            <a:ext cx="1828800" cy="228600"/>
          </a:xfrm>
          <a:prstGeom prst="rect">
            <a:avLst/>
          </a:prstGeom>
          <a:noFill/>
        </p:spPr>
        <p:txBody>
          <a:bodyPr wrap="square">
            <a:spAutoFit/>
          </a:bodyPr>
          <a:lstStyle/>
          <a:p>
            <a:pPr algn="l"/>
            <a:r>
              <a:rPr sz="1000" b="1">
                <a:solidFill>
                  <a:srgbClr val="FFFFFF"/>
                </a:solidFill>
                <a:latin typeface="Segoe UI"/>
              </a:rPr>
              <a:t>PostgreSQL schema</a:t>
            </a:r>
          </a:p>
        </p:txBody>
      </p:sp>
      <p:sp>
        <p:nvSpPr>
          <p:cNvPr id="25" name="TextBox 24"/>
          <p:cNvSpPr txBox="1"/>
          <p:nvPr/>
        </p:nvSpPr>
        <p:spPr>
          <a:xfrm>
            <a:off x="484632" y="2752344"/>
            <a:ext cx="5120640" cy="219456"/>
          </a:xfrm>
          <a:prstGeom prst="rect">
            <a:avLst/>
          </a:prstGeom>
          <a:noFill/>
        </p:spPr>
        <p:txBody>
          <a:bodyPr wrap="square">
            <a:spAutoFit/>
          </a:bodyPr>
          <a:lstStyle/>
          <a:p>
            <a:pPr algn="l"/>
            <a:r>
              <a:rPr sz="900" b="0">
                <a:solidFill>
                  <a:srgbClr val="CBD5E1"/>
                </a:solidFill>
                <a:latin typeface="Segoe UI"/>
              </a:rPr>
              <a:t>fraud-console/alembic/versions/</a:t>
            </a:r>
          </a:p>
        </p:txBody>
      </p:sp>
      <p:sp>
        <p:nvSpPr>
          <p:cNvPr id="26" name="Rectangle 25"/>
          <p:cNvSpPr/>
          <p:nvPr/>
        </p:nvSpPr>
        <p:spPr>
          <a:xfrm>
            <a:off x="6172200" y="2478024"/>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2478024"/>
            <a:ext cx="45720" cy="5486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2514600"/>
            <a:ext cx="1828800" cy="228600"/>
          </a:xfrm>
          <a:prstGeom prst="rect">
            <a:avLst/>
          </a:prstGeom>
          <a:noFill/>
        </p:spPr>
        <p:txBody>
          <a:bodyPr wrap="square">
            <a:spAutoFit/>
          </a:bodyPr>
          <a:lstStyle/>
          <a:p>
            <a:pPr algn="l"/>
            <a:r>
              <a:rPr sz="1000" b="1">
                <a:solidFill>
                  <a:srgbClr val="FFFFFF"/>
                </a:solidFill>
                <a:latin typeface="Segoe UI"/>
              </a:rPr>
              <a:t>Redpanda consumers</a:t>
            </a:r>
          </a:p>
        </p:txBody>
      </p:sp>
      <p:sp>
        <p:nvSpPr>
          <p:cNvPr id="29" name="TextBox 28"/>
          <p:cNvSpPr txBox="1"/>
          <p:nvPr/>
        </p:nvSpPr>
        <p:spPr>
          <a:xfrm>
            <a:off x="6336792" y="2752344"/>
            <a:ext cx="5120640" cy="219456"/>
          </a:xfrm>
          <a:prstGeom prst="rect">
            <a:avLst/>
          </a:prstGeom>
          <a:noFill/>
        </p:spPr>
        <p:txBody>
          <a:bodyPr wrap="square">
            <a:spAutoFit/>
          </a:bodyPr>
          <a:lstStyle/>
          <a:p>
            <a:pPr algn="l"/>
            <a:r>
              <a:rPr sz="900" b="0">
                <a:solidFill>
                  <a:srgbClr val="CBD5E1"/>
                </a:solidFill>
                <a:latin typeface="Segoe UI"/>
              </a:rPr>
              <a:t>fraud-console/src/consumers/</a:t>
            </a:r>
          </a:p>
        </p:txBody>
      </p:sp>
      <p:sp>
        <p:nvSpPr>
          <p:cNvPr id="30" name="Rectangle 29"/>
          <p:cNvSpPr/>
          <p:nvPr/>
        </p:nvSpPr>
        <p:spPr>
          <a:xfrm>
            <a:off x="320040" y="3099816"/>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0040" y="3099816"/>
            <a:ext cx="45720" cy="5486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4632" y="3136392"/>
            <a:ext cx="1828800" cy="228600"/>
          </a:xfrm>
          <a:prstGeom prst="rect">
            <a:avLst/>
          </a:prstGeom>
          <a:noFill/>
        </p:spPr>
        <p:txBody>
          <a:bodyPr wrap="square">
            <a:spAutoFit/>
          </a:bodyPr>
          <a:lstStyle/>
          <a:p>
            <a:pPr algn="l"/>
            <a:r>
              <a:rPr sz="1000" b="1">
                <a:solidFill>
                  <a:srgbClr val="FFFFFF"/>
                </a:solidFill>
                <a:latin typeface="Segoe UI"/>
              </a:rPr>
              <a:t>Benchmark suite</a:t>
            </a:r>
          </a:p>
        </p:txBody>
      </p:sp>
      <p:sp>
        <p:nvSpPr>
          <p:cNvPr id="33" name="TextBox 32"/>
          <p:cNvSpPr txBox="1"/>
          <p:nvPr/>
        </p:nvSpPr>
        <p:spPr>
          <a:xfrm>
            <a:off x="484632" y="3374136"/>
            <a:ext cx="5120640" cy="219456"/>
          </a:xfrm>
          <a:prstGeom prst="rect">
            <a:avLst/>
          </a:prstGeom>
          <a:noFill/>
        </p:spPr>
        <p:txBody>
          <a:bodyPr wrap="square">
            <a:spAutoFit/>
          </a:bodyPr>
          <a:lstStyle/>
          <a:p>
            <a:pPr algn="l"/>
            <a:r>
              <a:rPr sz="900" b="0">
                <a:solidFill>
                  <a:srgbClr val="CBD5E1"/>
                </a:solidFill>
                <a:latin typeface="Segoe UI"/>
              </a:rPr>
              <a:t>scripts/benchmark_portfolio_scan.py</a:t>
            </a:r>
          </a:p>
        </p:txBody>
      </p:sp>
      <p:sp>
        <p:nvSpPr>
          <p:cNvPr id="34" name="Rectangle 33"/>
          <p:cNvSpPr/>
          <p:nvPr/>
        </p:nvSpPr>
        <p:spPr>
          <a:xfrm>
            <a:off x="6172200" y="3099816"/>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72200" y="3099816"/>
            <a:ext cx="45720" cy="5486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6792" y="3136392"/>
            <a:ext cx="1828800" cy="228600"/>
          </a:xfrm>
          <a:prstGeom prst="rect">
            <a:avLst/>
          </a:prstGeom>
          <a:noFill/>
        </p:spPr>
        <p:txBody>
          <a:bodyPr wrap="square">
            <a:spAutoFit/>
          </a:bodyPr>
          <a:lstStyle/>
          <a:p>
            <a:pPr algn="l"/>
            <a:r>
              <a:rPr sz="1000" b="1">
                <a:solidFill>
                  <a:srgbClr val="FFFFFF"/>
                </a:solidFill>
                <a:latin typeface="Segoe UI"/>
              </a:rPr>
              <a:t>Validation suite</a:t>
            </a:r>
          </a:p>
        </p:txBody>
      </p:sp>
      <p:sp>
        <p:nvSpPr>
          <p:cNvPr id="37" name="TextBox 36"/>
          <p:cNvSpPr txBox="1"/>
          <p:nvPr/>
        </p:nvSpPr>
        <p:spPr>
          <a:xfrm>
            <a:off x="6336792" y="3374136"/>
            <a:ext cx="5120640" cy="219456"/>
          </a:xfrm>
          <a:prstGeom prst="rect">
            <a:avLst/>
          </a:prstGeom>
          <a:noFill/>
        </p:spPr>
        <p:txBody>
          <a:bodyPr wrap="square">
            <a:spAutoFit/>
          </a:bodyPr>
          <a:lstStyle/>
          <a:p>
            <a:pPr algn="l"/>
            <a:r>
              <a:rPr sz="900" b="0">
                <a:solidFill>
                  <a:srgbClr val="CBD5E1"/>
                </a:solidFill>
                <a:latin typeface="Segoe UI"/>
              </a:rPr>
              <a:t>scripts/verify_release_readiness.py (41/41)</a:t>
            </a:r>
          </a:p>
        </p:txBody>
      </p:sp>
      <p:sp>
        <p:nvSpPr>
          <p:cNvPr id="38" name="Rectangle 37"/>
          <p:cNvSpPr/>
          <p:nvPr/>
        </p:nvSpPr>
        <p:spPr>
          <a:xfrm>
            <a:off x="320040" y="3721608"/>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20040" y="3721608"/>
            <a:ext cx="45720" cy="5486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758184"/>
            <a:ext cx="1828800" cy="228600"/>
          </a:xfrm>
          <a:prstGeom prst="rect">
            <a:avLst/>
          </a:prstGeom>
          <a:noFill/>
        </p:spPr>
        <p:txBody>
          <a:bodyPr wrap="square">
            <a:spAutoFit/>
          </a:bodyPr>
          <a:lstStyle/>
          <a:p>
            <a:pPr algn="l"/>
            <a:r>
              <a:rPr sz="1000" b="1">
                <a:solidFill>
                  <a:srgbClr val="FFFFFF"/>
                </a:solidFill>
                <a:latin typeface="Segoe UI"/>
              </a:rPr>
              <a:t>Consumer durability</a:t>
            </a:r>
          </a:p>
        </p:txBody>
      </p:sp>
      <p:sp>
        <p:nvSpPr>
          <p:cNvPr id="41" name="TextBox 40"/>
          <p:cNvSpPr txBox="1"/>
          <p:nvPr/>
        </p:nvSpPr>
        <p:spPr>
          <a:xfrm>
            <a:off x="484632" y="3995928"/>
            <a:ext cx="5120640" cy="219456"/>
          </a:xfrm>
          <a:prstGeom prst="rect">
            <a:avLst/>
          </a:prstGeom>
          <a:noFill/>
        </p:spPr>
        <p:txBody>
          <a:bodyPr wrap="square">
            <a:spAutoFit/>
          </a:bodyPr>
          <a:lstStyle/>
          <a:p>
            <a:pPr algn="l"/>
            <a:r>
              <a:rPr sz="900" b="0">
                <a:solidFill>
                  <a:srgbClr val="CBD5E1"/>
                </a:solidFill>
                <a:latin typeface="Segoe UI"/>
              </a:rPr>
              <a:t>docs/CONSUMER_DURABILITY.md</a:t>
            </a:r>
          </a:p>
        </p:txBody>
      </p:sp>
      <p:sp>
        <p:nvSpPr>
          <p:cNvPr id="42" name="Rectangle 41"/>
          <p:cNvSpPr/>
          <p:nvPr/>
        </p:nvSpPr>
        <p:spPr>
          <a:xfrm>
            <a:off x="6172200" y="3721608"/>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72200" y="3721608"/>
            <a:ext cx="45720" cy="5486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36792" y="3758184"/>
            <a:ext cx="1828800" cy="228600"/>
          </a:xfrm>
          <a:prstGeom prst="rect">
            <a:avLst/>
          </a:prstGeom>
          <a:noFill/>
        </p:spPr>
        <p:txBody>
          <a:bodyPr wrap="square">
            <a:spAutoFit/>
          </a:bodyPr>
          <a:lstStyle/>
          <a:p>
            <a:pPr algn="l"/>
            <a:r>
              <a:rPr sz="1000" b="1">
                <a:solidFill>
                  <a:srgbClr val="FFFFFF"/>
                </a:solidFill>
                <a:latin typeface="Segoe UI"/>
              </a:rPr>
              <a:t>Auth design</a:t>
            </a:r>
          </a:p>
        </p:txBody>
      </p:sp>
      <p:sp>
        <p:nvSpPr>
          <p:cNvPr id="45" name="TextBox 44"/>
          <p:cNvSpPr txBox="1"/>
          <p:nvPr/>
        </p:nvSpPr>
        <p:spPr>
          <a:xfrm>
            <a:off x="6336792" y="3995928"/>
            <a:ext cx="5120640" cy="219456"/>
          </a:xfrm>
          <a:prstGeom prst="rect">
            <a:avLst/>
          </a:prstGeom>
          <a:noFill/>
        </p:spPr>
        <p:txBody>
          <a:bodyPr wrap="square">
            <a:spAutoFit/>
          </a:bodyPr>
          <a:lstStyle/>
          <a:p>
            <a:pPr algn="l"/>
            <a:r>
              <a:rPr sz="900" b="0">
                <a:solidFill>
                  <a:srgbClr val="CBD5E1"/>
                </a:solidFill>
                <a:latin typeface="Segoe UI"/>
              </a:rPr>
              <a:t>docs/AUTH_RBAC_DESIGN.md</a:t>
            </a:r>
          </a:p>
        </p:txBody>
      </p:sp>
      <p:sp>
        <p:nvSpPr>
          <p:cNvPr id="46" name="Rectangle 45"/>
          <p:cNvSpPr/>
          <p:nvPr/>
        </p:nvSpPr>
        <p:spPr>
          <a:xfrm>
            <a:off x="320040" y="4343400"/>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0040" y="4343400"/>
            <a:ext cx="45720" cy="5486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4632" y="4379976"/>
            <a:ext cx="1828800" cy="228600"/>
          </a:xfrm>
          <a:prstGeom prst="rect">
            <a:avLst/>
          </a:prstGeom>
          <a:noFill/>
        </p:spPr>
        <p:txBody>
          <a:bodyPr wrap="square">
            <a:spAutoFit/>
          </a:bodyPr>
          <a:lstStyle/>
          <a:p>
            <a:pPr algn="l"/>
            <a:r>
              <a:rPr sz="1000" b="1">
                <a:solidFill>
                  <a:srgbClr val="FFFFFF"/>
                </a:solidFill>
                <a:latin typeface="Segoe UI"/>
              </a:rPr>
              <a:t>System snapshot</a:t>
            </a:r>
          </a:p>
        </p:txBody>
      </p:sp>
      <p:sp>
        <p:nvSpPr>
          <p:cNvPr id="49" name="TextBox 48"/>
          <p:cNvSpPr txBox="1"/>
          <p:nvPr/>
        </p:nvSpPr>
        <p:spPr>
          <a:xfrm>
            <a:off x="484632" y="4617720"/>
            <a:ext cx="5120640" cy="219456"/>
          </a:xfrm>
          <a:prstGeom prst="rect">
            <a:avLst/>
          </a:prstGeom>
          <a:noFill/>
        </p:spPr>
        <p:txBody>
          <a:bodyPr wrap="square">
            <a:spAutoFit/>
          </a:bodyPr>
          <a:lstStyle/>
          <a:p>
            <a:pPr algn="l"/>
            <a:r>
              <a:rPr sz="900" b="0">
                <a:solidFill>
                  <a:srgbClr val="CBD5E1"/>
                </a:solidFill>
                <a:latin typeface="Segoe UI"/>
              </a:rPr>
              <a:t>docs/SYSTEM_SNAPSHOT.md</a:t>
            </a:r>
          </a:p>
        </p:txBody>
      </p:sp>
      <p:sp>
        <p:nvSpPr>
          <p:cNvPr id="50" name="Rectangle 49"/>
          <p:cNvSpPr/>
          <p:nvPr/>
        </p:nvSpPr>
        <p:spPr>
          <a:xfrm>
            <a:off x="6172200" y="4343400"/>
            <a:ext cx="539496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72200" y="4343400"/>
            <a:ext cx="45720" cy="5486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36792" y="4379976"/>
            <a:ext cx="1828800" cy="228600"/>
          </a:xfrm>
          <a:prstGeom prst="rect">
            <a:avLst/>
          </a:prstGeom>
          <a:noFill/>
        </p:spPr>
        <p:txBody>
          <a:bodyPr wrap="square">
            <a:spAutoFit/>
          </a:bodyPr>
          <a:lstStyle/>
          <a:p>
            <a:pPr algn="l"/>
            <a:r>
              <a:rPr sz="1000" b="1">
                <a:solidFill>
                  <a:srgbClr val="FFFFFF"/>
                </a:solidFill>
                <a:latin typeface="Segoe UI"/>
              </a:rPr>
              <a:t>Deployment strategy</a:t>
            </a:r>
          </a:p>
        </p:txBody>
      </p:sp>
      <p:sp>
        <p:nvSpPr>
          <p:cNvPr id="53" name="TextBox 52"/>
          <p:cNvSpPr txBox="1"/>
          <p:nvPr/>
        </p:nvSpPr>
        <p:spPr>
          <a:xfrm>
            <a:off x="6336792" y="4617720"/>
            <a:ext cx="5120640" cy="219456"/>
          </a:xfrm>
          <a:prstGeom prst="rect">
            <a:avLst/>
          </a:prstGeom>
          <a:noFill/>
        </p:spPr>
        <p:txBody>
          <a:bodyPr wrap="square">
            <a:spAutoFit/>
          </a:bodyPr>
          <a:lstStyle/>
          <a:p>
            <a:pPr algn="l"/>
            <a:r>
              <a:rPr sz="900" b="0">
                <a:solidFill>
                  <a:srgbClr val="CBD5E1"/>
                </a:solidFill>
                <a:latin typeface="Segoe UI"/>
              </a:rPr>
              <a:t>docs/DEPLOYMENT_STRATEGY.md</a:t>
            </a:r>
          </a:p>
        </p:txBody>
      </p:sp>
      <p:sp>
        <p:nvSpPr>
          <p:cNvPr id="54" name="Rectangle 53"/>
          <p:cNvSpPr/>
          <p:nvPr/>
        </p:nvSpPr>
        <p:spPr>
          <a:xfrm>
            <a:off x="320040" y="5120640"/>
            <a:ext cx="11521440" cy="1417320"/>
          </a:xfrm>
          <a:prstGeom prst="rect">
            <a:avLst/>
          </a:prstGeom>
          <a:solidFill>
            <a:srgbClr val="1E29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40" y="5230368"/>
            <a:ext cx="11064240" cy="1097280"/>
          </a:xfrm>
          <a:prstGeom prst="rect">
            <a:avLst/>
          </a:prstGeom>
          <a:noFill/>
        </p:spPr>
        <p:txBody>
          <a:bodyPr wrap="square">
            <a:spAutoFit/>
          </a:bodyPr>
          <a:lstStyle/>
          <a:p>
            <a:pPr algn="ctr"/>
            <a:r>
              <a:rPr sz="1200" b="0">
                <a:solidFill>
                  <a:srgbClr val="FFFFFF"/>
                </a:solidFill>
                <a:latin typeface="Segoe UI"/>
              </a:rPr>
              <a:t>The Real-Time Fraud Intelligence Console is a complete, locally-runnable analyst workflow: scoring, triage, investigation, audit, and portfolio scan. All components are implemented, all claims are validated, and all design decisions are documented.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
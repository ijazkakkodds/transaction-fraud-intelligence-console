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The six tiles are concrete, verifiable figures.</a:t>
            </a:r>
          </a:p>
          <a:p>
            <a:r>
              <a:t>41/41: scripts/verify_release_readiness.py</a:t>
            </a:r>
          </a:p>
          <a:p>
            <a:r>
              <a:t>10M: scripts/benchmark_portfolio_scan.py</a:t>
            </a:r>
          </a:p>
          <a:p>
            <a:r>
              <a:t>27 endpoints: OpenAPI surface at /docs</a:t>
            </a:r>
          </a:p>
          <a:p>
            <a:r>
              <a:t>8 routes: Next.js routing table</a:t>
            </a:r>
          </a:p>
          <a:p>
            <a:r>
              <a:t>7 services: Docker Compose topology</a:t>
            </a:r>
          </a:p>
          <a:p>
            <a:r>
              <a:t>Video: external walkthrough package, not committed to the repo.</a:t>
            </a:r>
          </a:p>
          <a:p>
            <a:r>
              <a:t>Frame this as a complete, inspectable fraud intelligence workflow built on a production-style local runtime. Not a proof-of-concept. Not a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operational gaps the console addresses.</a:t>
            </a:r>
          </a:p>
          <a:p/>
          <a:p>
            <a:r>
              <a:t>1. Risk scores are generated but not routed into structured review queues. Analysts see a number, not a case.</a:t>
            </a:r>
          </a:p>
          <a:p>
            <a:r>
              <a:t>2. Evidence is available in transaction records but not grouped by signal type. Analysts re-derive context the system already knows.</a:t>
            </a:r>
          </a:p>
          <a:p>
            <a:r>
              <a:t>3. Fraud operations teams have no single audit trail connecting score, verdict, investigation brief, and workflow event to a case record.</a:t>
            </a:r>
          </a:p>
          <a:p>
            <a:r>
              <a:t>4. Portfolio-level review requires batch scoring, risk-tier filtering, and selective promotion. Row-by-row inspection does not scale.</a:t>
            </a:r>
          </a:p>
          <a:p/>
          <a:p>
            <a:r>
              <a:t>Each card is a solved problem in the current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eight-stage workflow is the product architecture in visual form.</a:t>
            </a:r>
          </a:p>
          <a:p>
            <a:r>
              <a:t>Each stage is a distinct product surface with a defined role and a clear handoff.</a:t>
            </a:r>
          </a:p>
          <a:p>
            <a:r>
              <a:t>Transaction event -&gt; Hybrid scoring (XGBoost + rules + boosts) -&gt; Decision routing -&gt; Review queue (P0-P3) -&gt; Case dossier (evidence grouped by layer) -&gt; Investigation brief (async LLM, advisory) -&gt; Analyst verdict (required, captured) -&gt; Audit trail (every event timestamped and case-linked).</a:t>
            </a:r>
          </a:p>
          <a:p>
            <a:r>
              <a:t>Portfolio scan is a parallel workflow: bulk ingestion, risk-tier review, and selective case promotion.</a:t>
            </a:r>
          </a:p>
          <a:p>
            <a:r>
              <a:t>All eight stages are implemented, connected, and inspectable in source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Nine-component service topology.</a:t>
            </a:r>
          </a:p>
          <a:p/>
          <a:p>
            <a:r>
              <a:t>FastAPI: 27 REST endpoints covering scoring, cases, investigation, workflow, audit, portfolio.</a:t>
            </a:r>
          </a:p>
          <a:p>
            <a:r>
              <a:t>Next.js (React 18): 8 analyst-facing screens from command center to portfolio scan.</a:t>
            </a:r>
          </a:p>
          <a:p>
            <a:r>
              <a:t>Redpanda (Kafka-compatible): 2 topics: score.results and cases.investigate.</a:t>
            </a:r>
          </a:p>
          <a:p>
            <a:r>
              <a:t>PostgreSQL v16: 5-table persistence model for predictions, cases, events, reports, scans.</a:t>
            </a:r>
          </a:p>
          <a:p>
            <a:r>
              <a:t>Redis: request_id idempotency with 24-hour TTL.</a:t>
            </a:r>
          </a:p>
          <a:p>
            <a:r>
              <a:t>n8n: webhook dispatch and callback recording for case workflow automation.</a:t>
            </a:r>
          </a:p>
          <a:p>
            <a:r>
              <a:t>Ollama: local LLM runtime (phi3 or llama3) for investigation brief generation.</a:t>
            </a:r>
          </a:p>
          <a:p>
            <a:r>
              <a:t>XGBoost model artifact: scikit-learn pipeline, offline-trained, deterministic inference.</a:t>
            </a:r>
          </a:p>
          <a:p>
            <a:r>
              <a:t>Docker Compose: orchestrates all 9 components on a single local machine.</a:t>
            </a:r>
          </a:p>
          <a:p/>
          <a:p>
            <a:r>
              <a:t>Each managed-cloud equivalent is documented in docs/DEPLOYMENT_STRATEGY.md. The path from local runtime to cloud-managed services is well-defined for each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 workflow across the first four stages.</a:t>
            </a:r>
          </a:p>
          <a:p/>
          <a:p>
            <a:r>
              <a:t>Command Center (/): KPI strip, 6-stage pipeline map, stale case alerts, system connectivity health. Operational awareness before opening any case.</a:t>
            </a:r>
          </a:p>
          <a:p/>
          <a:p>
            <a:r>
              <a:t>Review Queue (/queue): Cases ranked P0-P3 by score band. Inline score bars. Status filters for pending, in-progress, and escalated. Queue ordered by tier first, score descending within tier.</a:t>
            </a:r>
          </a:p>
          <a:p/>
          <a:p>
            <a:r>
              <a:t>Case Dossier (/cases/[id]): Signals grouped by origin layer. Model attribution section shows score contribution per layer. Lifecycle timeline shows full case state history.</a:t>
            </a:r>
          </a:p>
          <a:p/>
          <a:p>
            <a:r>
              <a:t>Verdict Capture: POST /review-case/{case_id}. Verdict options: CONFIRM_FRAUD, FALSE_POSITIVE, ESCALATE, APPROVE. Notes field. Timestamps and writes workflow audit event on submit.</a:t>
            </a:r>
          </a:p>
          <a:p/>
          <a:p>
            <a:r>
              <a:t>Screenshot shows the command center at http://localhost:3000.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evidence-led investigation model.</a:t>
            </a:r>
          </a:p>
          <a:p/>
          <a:p>
            <a:r>
              <a:t>Evidence is grouped into four signal layers, each corresponding to a scoring engine stage:</a:t>
            </a:r>
          </a:p>
          <a:p>
            <a:r>
              <a:t>Base signals: amount, time, model prediction flag, rule flags, reason codes.</a:t>
            </a:r>
          </a:p>
          <a:p>
            <a:r>
              <a:t>Rich signals: device trust, geo distance anomaly, velocity, merchant risk, chargeback history.</a:t>
            </a:r>
          </a:p>
          <a:p>
            <a:r>
              <a:t>Behavioural signals: 30-day entity deviation, new device, new country, unusual channel.</a:t>
            </a:r>
          </a:p>
          <a:p>
            <a:r>
              <a:t>Graph intelligence: shared device across accounts, counterparty fan-in and fan-out.</a:t>
            </a:r>
          </a:p>
          <a:p/>
          <a:p>
            <a:r>
              <a:t>Investigation brief is generated async via Redpanda -&gt; Ollama -&gt; PostgreSQL.</a:t>
            </a:r>
          </a:p>
          <a:p>
            <a:r>
              <a:t>Schema-validated on every call. Retry with error feedback appended on failure.</a:t>
            </a:r>
          </a:p>
          <a:p>
            <a:r>
              <a:t>AGENT_VERSION stored on every InvestigationReport row: immutable link between brief and agent config.</a:t>
            </a:r>
          </a:p>
          <a:p>
            <a:r>
              <a:t>No automated path from LLM recommendation to case action.</a:t>
            </a:r>
          </a:p>
          <a:p>
            <a:r>
              <a:t>POST /review-case/{case_id} is the required final step.</a:t>
            </a:r>
          </a:p>
          <a:p/>
          <a:p>
            <a:r>
              <a:t>Screenshot shows the AI investigation panel with brief output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Portfolio benchmark results from scripts/benchmark_portfolio_scan.py.</a:t>
            </a:r>
          </a:p>
          <a:p>
            <a:r>
              <a:t>All metrics are measured, repeatable, and verifiable in source code.</a:t>
            </a:r>
          </a:p>
          <a:p/>
          <a:p>
            <a:r>
              <a:t>10M synthetic rows: full ingestion and export cycle completed without OOM or restart.</a:t>
            </a:r>
          </a:p>
          <a:p>
            <a:r>
              <a:t>8.42M P1 filter: paginated count query across 8.42M qualifying rows.</a:t>
            </a:r>
          </a:p>
          <a:p>
            <a:r>
              <a:t>4.19s: P1 filter response time including paginated count at that scale.</a:t>
            </a:r>
          </a:p>
          <a:p>
            <a:r>
              <a:t>6.99ms: export time to first byte. Reflects cursor readiness, not full materialisation.</a:t>
            </a:r>
          </a:p>
          <a:p>
            <a:r>
              <a:t>1.64 GiB: full streaming export with flat API memory throughout.</a:t>
            </a:r>
          </a:p>
          <a:p>
            <a:r>
              <a:t>0 OOM events or API restarts: stability evidence across the full cycle.</a:t>
            </a:r>
          </a:p>
          <a:p/>
          <a:p>
            <a:r>
              <a:t>Three architecture properties produce these numbers:</a:t>
            </a:r>
          </a:p>
          <a:p>
            <a:r>
              <a:t>Chunked ingestion: CSV never fully loaded into API heap.</a:t>
            </a:r>
          </a:p>
          <a:p>
            <a:r>
              <a:t>Composite index (scan_id, risk_tier, id): sub-second filtered pages.</a:t>
            </a:r>
          </a:p>
          <a:p>
            <a:r>
              <a:t>Server-side PostgreSQL cursor: API memory stays flat during export.</a:t>
            </a:r>
          </a:p>
          <a:p>
            <a:r>
              <a:t>POST /risk-scan/{id}/promote/{row_id} elevates flagged rows to review-queue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Latency architecture.</a:t>
            </a:r>
          </a:p>
          <a:p/>
          <a:p>
            <a:r>
              <a:t>Synchronous scoring path (fast, deterministic):</a:t>
            </a:r>
          </a:p>
          <a:p>
            <a:r>
              <a:t>Feature extraction (signals grouped by layer into scoring context)</a:t>
            </a:r>
          </a:p>
          <a:p>
            <a:r>
              <a:t>XGBoost inference (offline-trained artifact, deterministic output)</a:t>
            </a:r>
          </a:p>
          <a:p>
            <a:r>
              <a:t>Rule engine (threshold and flag evaluation, reason codes emitted)</a:t>
            </a:r>
          </a:p>
          <a:p>
            <a:r>
              <a:t>Decision routing (BLOCK, REVIEW, APPROVE)</a:t>
            </a:r>
          </a:p>
          <a:p>
            <a:r>
              <a:t>PostgreSQL write + Redpanda event dispatch</a:t>
            </a:r>
          </a:p>
          <a:p/>
          <a:p>
            <a:r>
              <a:t>Asynchronous paths (heavy workloads isolated from scoring throughput):</a:t>
            </a:r>
          </a:p>
          <a:p>
            <a:r>
              <a:t>Investigation brief: POST /cases/{id}/investigate -&gt; Redpanda -&gt; investigation-consumer -&gt; Ollama</a:t>
            </a:r>
          </a:p>
          <a:p>
            <a:r>
              <a:t>Portfolio scan: POST /risk-scan -&gt; chunked ingestion worker -&gt; indexed PostgreSQL</a:t>
            </a:r>
          </a:p>
          <a:p/>
          <a:p>
            <a:r>
              <a:t>Scale strategy:</a:t>
            </a:r>
          </a:p>
          <a:p>
            <a:r>
              <a:t>Redis idempotency: deduplicate repeated requests by request_id, 24-hour TTL.</a:t>
            </a:r>
          </a:p>
          <a:p>
            <a:r>
              <a:t>Horizontal API scaling: scoring workers are stateless and CPU-bound.</a:t>
            </a:r>
          </a:p>
          <a:p>
            <a:r>
              <a:t>Independent consumer scaling: investigation and portfolio consumers scale on Redpanda partitions.</a:t>
            </a:r>
          </a:p>
          <a:p>
            <a:r>
              <a:t>Observability: reliability metrics surface latency pressure before SLO breach.</a:t>
            </a:r>
          </a:p>
          <a:p/>
          <a:p>
            <a:r>
              <a:t>No specific p95 latency value has been measured in the current build. This is architectural design reasoning, not load test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Seven-stage scale path from local runtime to high-volume fraud decisioning.</a:t>
            </a:r>
          </a:p>
          <a:p/>
          <a:p>
            <a:r>
              <a:t>Stage 1 is fully delivered in the current product.</a:t>
            </a:r>
          </a:p>
          <a:p>
            <a:r>
              <a:t>Stages 2-7 represent the architecture roadmap that current service boundaries support.</a:t>
            </a:r>
          </a:p>
          <a:p/>
          <a:p>
            <a:r>
              <a:t>Stage 1: 9-service Docker Compose stack. 41/41 validation and 10M benchmark verified.</a:t>
            </a:r>
          </a:p>
          <a:p>
            <a:r>
              <a:t>Stage 2: Stateless API workers behind a load balancer. Scoring scales horizontally.</a:t>
            </a:r>
          </a:p>
          <a:p>
            <a:r>
              <a:t>Stage 3: Managed PostgreSQL, Redis, Redpanda, and object storage per cloud provider.</a:t>
            </a:r>
          </a:p>
          <a:p>
            <a:r>
              <a:t>Stage 4: Redis idempotency active at scale. API autoscales on queue depth.</a:t>
            </a:r>
          </a:p>
          <a:p>
            <a:r>
              <a:t>Stage 5: Investigation and portfolio consumers scale on Redpanda partition count.</a:t>
            </a:r>
          </a:p>
          <a:p>
            <a:r>
              <a:t>Stage 6: Latency SLOs, score drift detection, AGENT_VERSION lineage, alerting.</a:t>
            </a:r>
          </a:p>
          <a:p>
            <a:r>
              <a:t>Stage 7: Multi-region reads, circuit breakers, consumer offset recovery, LLM failover.</a:t>
            </a:r>
          </a:p>
          <a:p/>
          <a:p>
            <a:r>
              <a:t>This is not a claim of live 1M-user deployment. It is the scale path that current service boundaries make achievable with managed infrastructure.</a:t>
            </a:r>
          </a:p>
          <a:p/>
          <a:p>
            <a:r>
              <a:t>The architecture separates fast scoring, async investigation, portfolio processing, and audit persistence so each layer can scale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Integration expansion path.</a:t>
            </a:r>
          </a:p>
          <a:p/>
          <a:p>
            <a:r>
              <a:t>The current product exposes 27 endpoints across six API surface areas: scoring, cases, investigation, workflow, audit, and portfolio.</a:t>
            </a:r>
          </a:p>
          <a:p/>
          <a:p>
            <a:r>
              <a:t>The next integration layer is a consolidated external-facing decision facade: POST /fraud/decision.</a:t>
            </a:r>
          </a:p>
          <a:p>
            <a:r>
              <a:t>This facade sits in front of existing service boundaries and returns a unified decision package.</a:t>
            </a:r>
          </a:p>
          <a:p/>
          <a:p>
            <a:r>
              <a:t>The facade is the proposed integration architecture built on top of existing service boundaries. It is not yet implemented as a standalone endpoint.</a:t>
            </a:r>
          </a:p>
          <a:p/>
          <a:p>
            <a:r>
              <a:t>Before external exposure, the facade requires: authentication (JWT or API key), rate limiting, TLS, API key rotation, secrets management, and monitoring.</a:t>
            </a:r>
          </a:p>
          <a:p>
            <a:r>
              <a:t>These are production hardening requirements. The architecture is documented in docs/INTEGRATION_API_BLUEPRINT.md.</a:t>
            </a:r>
          </a:p>
          <a:p/>
          <a:p>
            <a:r>
              <a:t>Integration targets: payment platforms, fraud operations tools, risk engines, and case management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strategy rationale.</a:t>
            </a:r>
          </a:p>
          <a:p/>
          <a:p>
            <a:r>
              <a:t>The full technology stack includes: database, message broker, cache, workflow automation, LLM inference, backend API, frontend, and monitoring.</a:t>
            </a:r>
          </a:p>
          <a:p/>
          <a:p>
            <a:r>
              <a:t>Free-tier cloud deployments frequently underrepresent system quality: services sleep on inactivity, state is lost on restart, and resource constraints mask throughput characteristics that are core to the product story.</a:t>
            </a:r>
          </a:p>
          <a:p/>
          <a:p>
            <a:r>
              <a:t>The production deployment path is fully documented in docs/DEPLOYMENT_STRATEGY.md with a 30-item hardening checklist, cost category matrix, and five-option deployment matrix.</a:t>
            </a:r>
          </a:p>
          <a:p/>
          <a:p>
            <a:r>
              <a:t>Cost estimates require provider-specific verification. The cost categories listed are the infrastructure components that carry recurring cost in any full-stack production deployment.</a:t>
            </a:r>
          </a:p>
          <a:p/>
          <a:p>
            <a:r>
              <a:t>Current inspection package is zero-cost and fully self-contained.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core takeaways for executive and senior technical reviewers.</a:t>
            </a:r>
          </a:p>
          <a:p/>
          <a:p>
            <a:r>
              <a:t>1. End-to-end fraud intelligence workflow: scoring feeds triage, triage feeds investigation, investigation feeds verdict, verdict writes the audit trail. All nine stages implemented and connected.</a:t>
            </a:r>
          </a:p>
          <a:p/>
          <a:p>
            <a:r>
              <a:t>2. Hybrid scoring with evidence: XGBoost base score combined with rule engine, rich signal boost, behavioural deviation layer, and graph topology boost. Each layer emits distinct reason codes visible in the case dossier.</a:t>
            </a:r>
          </a:p>
          <a:p/>
          <a:p>
            <a:r>
              <a:t>3. Analyst-controlled case decisioning: the AI brief is advisory. Analyst verdict via POST /review-case/{case_id} is always the required final action. No automated path from recommendation to case action.</a:t>
            </a:r>
          </a:p>
          <a:p/>
          <a:p>
            <a:r>
              <a:t>4. Audit-ready workflow trail: every case action, automation event, and n8n callback is timestamped, sourced, and case-linked in PostgreSQL.</a:t>
            </a:r>
          </a:p>
          <a:p/>
          <a:p>
            <a:r>
              <a:t>5. Clear path to scale and integration: scale path documented across 7 stages, integration facade designed, deployment strategy with 30-item hardening checklist.</a:t>
            </a:r>
          </a:p>
          <a:p/>
          <a:p>
            <a:r>
              <a:t>Reviewer inspection path:</a:t>
            </a:r>
          </a:p>
          <a:p>
            <a:r>
              <a:t>fraud-console/src/scoring/ - scoring engine</a:t>
            </a:r>
          </a:p>
          <a:p>
            <a:r>
              <a:t>fraud-console/src/investigation/reasoner.py - AI brief layer</a:t>
            </a:r>
          </a:p>
          <a:p>
            <a:r>
              <a:t>scripts/benchmark_portfolio_scan.py - portfolio benchmark</a:t>
            </a:r>
          </a:p>
          <a:p>
            <a:r>
              <a:t>scripts/verify_release_readiness.py - 41/41 validation</a:t>
            </a:r>
          </a:p>
          <a:p>
            <a:r>
              <a:t>docs/SYSTEM_SNAPSHOT.md - full system reference</a:t>
            </a:r>
          </a:p>
          <a:p>
            <a:r>
              <a:t>docs/INTEGRATION_API_BLUEPRINT.md - integration 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egoe UI"/>
              </a:rPr>
              <a:t>Real-Time Fraud Intelligence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276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D3EE"/>
                </a:solidFill>
                <a:latin typeface="Segoe UI"/>
              </a:rPr>
              <a:t>Risk scoring  |  Evidence-led triage  |  AI investigation  |  Workflow auditability  |  Portfolio 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8DB"/>
                </a:solidFill>
                <a:latin typeface="Segoe UI"/>
              </a:rPr>
              <a:t>Ijaz Mohamed Ali Kakkod  |  Executive product walkthrough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239572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" y="263347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2633472"/>
            <a:ext cx="3401568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74320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4D399"/>
                </a:solidFill>
                <a:latin typeface="Segoe UI"/>
              </a:rPr>
              <a:t>41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334670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Validation checks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263347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8264" y="2633472"/>
            <a:ext cx="3401568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274320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D3EE"/>
                </a:solidFill>
                <a:latin typeface="Segoe UI"/>
              </a:rPr>
              <a:t>10 M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334670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Portfolio scan evidence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94192" y="263347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94192" y="2633472"/>
            <a:ext cx="3401568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4320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B82F6"/>
                </a:solidFill>
                <a:latin typeface="Segoe U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34670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API endpoints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409651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2336" y="4096512"/>
            <a:ext cx="3401568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420624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4D399"/>
                </a:solidFill>
                <a:latin typeface="Segoe UI"/>
              </a:rPr>
              <a:t>8 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480974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Analyst screens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8264" y="409651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8264" y="4096512"/>
            <a:ext cx="3401568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8264" y="420624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BBF24"/>
                </a:solidFill>
                <a:latin typeface="Segoe UI"/>
              </a:rPr>
              <a:t>7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480974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Local runtime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94192" y="409651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94192" y="4096512"/>
            <a:ext cx="3401568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4192" y="420624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D3EE"/>
                </a:solidFill>
                <a:latin typeface="Segoe UI"/>
              </a:rPr>
              <a:t>Video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80974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External walkthrough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6473952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PostgreSQL  |  Redpanda  |  Redis  |  n8n  |  Ollama  |  FastAPI  |  Next.js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Fraud Triage Breaks Between Score and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335024"/>
            <a:ext cx="268147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3B82F6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Scores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498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84982" y="1335024"/>
            <a:ext cx="2681478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8498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98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Queues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498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prioritisation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49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335024"/>
            <a:ext cx="2681478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249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34D399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249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249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traceability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6000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60002" y="1335024"/>
            <a:ext cx="2681478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6000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BBF24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000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Portfolios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000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scale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PRODUCT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Connected Fraud Decisioning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8700" y="1353312"/>
            <a:ext cx="117043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43100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B82F6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Transaction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8276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0886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08860" y="1353312"/>
            <a:ext cx="117043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325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B82F6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886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843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902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89020" y="1353312"/>
            <a:ext cx="1170432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902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69179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9179" y="1353312"/>
            <a:ext cx="1170432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8357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79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Review Queue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875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934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9340" y="1353312"/>
            <a:ext cx="117043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6373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4D399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934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Case Dossier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891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2950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29500" y="1353312"/>
            <a:ext cx="117043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3900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4D399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AI Brief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9076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09659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09659" y="1353312"/>
            <a:ext cx="1170432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405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BBF24"/>
                </a:solidFill>
                <a:latin typeface="Segoe U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09659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Verdict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923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89819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89819" y="1353312"/>
            <a:ext cx="117043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0421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B82F6"/>
                </a:solidFill>
                <a:latin typeface="Segoe U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89819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Audit Trail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29443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7472" y="3090672"/>
            <a:ext cx="11494008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" y="314553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Segoe UI"/>
              </a:rPr>
              <a:t>Portfolio Scan: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40280" y="3145536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Bulk CSV ingestion  &gt;  Chunked scoring  &gt;  Risk-tier filtering  &gt;  Paginated review  &gt;  Cursor-streamed export  &gt;  Case promotion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3822191"/>
            <a:ext cx="11494008" cy="731520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96849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The console turns model output into a reviewable, evidence-led, analyst-controlled decision workflow.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" y="4754880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41/41 release readiness checks pass across all workflow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Modular Architecture With Clear Service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366064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2646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89280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  <a:latin typeface="Segoe UI"/>
              </a:rPr>
              <a:t>27 REST endpoints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4152" y="129844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4152" y="1298448"/>
            <a:ext cx="3660647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2167" y="142646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Next.js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167" y="189280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Segoe UI"/>
              </a:rPr>
              <a:t>8 analyst screens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0832" y="129844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0832" y="1298448"/>
            <a:ext cx="3660647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8848" y="142646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Redpanda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8848" y="189280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D399"/>
                </a:solidFill>
                <a:latin typeface="Segoe UI"/>
              </a:rPr>
              <a:t>Event streaming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294436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2944368"/>
            <a:ext cx="366064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07238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PostgreSQL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353872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  <a:latin typeface="Segoe UI"/>
              </a:rPr>
              <a:t>Persistence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4152" y="294436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4152" y="2944368"/>
            <a:ext cx="3660647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2167" y="307238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Redis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2167" y="353872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Segoe UI"/>
              </a:rPr>
              <a:t>Idempotency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0832" y="294436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0832" y="2944368"/>
            <a:ext cx="3660647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8848" y="307238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n8n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8848" y="353872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D399"/>
                </a:solidFill>
                <a:latin typeface="Segoe UI"/>
              </a:rPr>
              <a:t>Workflow automation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459028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" y="4590288"/>
            <a:ext cx="3660647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718303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Ollama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5184648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BBF24"/>
                </a:solidFill>
                <a:latin typeface="Segoe UI"/>
              </a:rPr>
              <a:t>Local LLM inference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4152" y="459028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4152" y="4590288"/>
            <a:ext cx="366064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92167" y="4718303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XGBoost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2167" y="5184648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  <a:latin typeface="Segoe UI"/>
              </a:rPr>
              <a:t>Scoring artifact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0832" y="459028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0832" y="4590288"/>
            <a:ext cx="3660647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8848" y="4718303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8848" y="5184648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Segoe UI"/>
              </a:rPr>
              <a:t>Runtime orchestration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" y="6473952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Production-style local runtime  |  Each service boundary inspectable  |  Clear path to managed cloud equivalents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ANALYST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From Command Center to Case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11155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89888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B82F6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89888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810512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Operational state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596896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2596896"/>
            <a:ext cx="54864" cy="111556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6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8336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Review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P0-P3 priority ranking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3895344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895344"/>
            <a:ext cx="54864" cy="111556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986783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86783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Case Dossier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0740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Evidence by scoring 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5193792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5193792"/>
            <a:ext cx="54864" cy="11155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285231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285231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Verdict 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705856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Analyst decision + audit write</a:t>
            </a:r>
          </a:p>
        </p:txBody>
      </p:sp>
      <p:pic>
        <p:nvPicPr>
          <p:cNvPr id="26" name="Picture 25" descr="01_overview_command_ce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188720"/>
            <a:ext cx="5687568" cy="3554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EVIDENCE AND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Evidence-Led Review With Analyst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7498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53312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Base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5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Amount, time, rule flags, reason codes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157984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157984"/>
            <a:ext cx="54864" cy="7498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12848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Rich Signals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542032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Device, geo, velocity, merchant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3017520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3017520"/>
            <a:ext cx="54864" cy="7498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072384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Behavioural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401568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30-day deviation, new device and country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877056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3877056"/>
            <a:ext cx="54864" cy="7498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31920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Graph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261104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Shared device, fan-in and fan-out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4498848"/>
            <a:ext cx="5577840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4663440"/>
            <a:ext cx="5577840" cy="69494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" y="4663440"/>
            <a:ext cx="54864" cy="69494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718303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AI Brief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5029200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Schema-validated. AGENT_VERSION tracked.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5468112"/>
            <a:ext cx="5577840" cy="69494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7472" y="5468112"/>
            <a:ext cx="54864" cy="69494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522975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Analyst Verdict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5833872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Required final action. Writes audit event.</a:t>
            </a:r>
          </a:p>
        </p:txBody>
      </p:sp>
      <p:pic>
        <p:nvPicPr>
          <p:cNvPr id="31" name="Picture 30" descr="07_ai_investigation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188720"/>
            <a:ext cx="5687568" cy="56875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PORTFOLIO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10M-Row Portfolio Scan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1778508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4D399"/>
                </a:solidFill>
                <a:latin typeface="Segoe UI"/>
              </a:rPr>
              <a:t>10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Synthetic rows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905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90572" y="1298448"/>
            <a:ext cx="1778508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05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4D399"/>
                </a:solidFill>
                <a:latin typeface="Segoe UI"/>
              </a:rPr>
              <a:t>8.42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05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P1 filter query 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298448"/>
            <a:ext cx="1778508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2D3EE"/>
                </a:solidFill>
                <a:latin typeface="Segoe UI"/>
              </a:rPr>
              <a:t>4.19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36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P1 filter response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67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6772" y="1298448"/>
            <a:ext cx="177850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B82F6"/>
                </a:solidFill>
                <a:latin typeface="Segoe UI"/>
              </a:rPr>
              <a:t>6.99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Export time to first byte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98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9872" y="1298448"/>
            <a:ext cx="1778508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2D3EE"/>
                </a:solidFill>
                <a:latin typeface="Segoe UI"/>
              </a:rPr>
              <a:t>1.64 GiB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Cursor-streamed export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629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62972" y="1298448"/>
            <a:ext cx="1778508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629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BBF24"/>
                </a:solidFill>
                <a:latin typeface="Segoe U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629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OOM events and API restarts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349300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6393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What it demonstrates: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3977639"/>
            <a:ext cx="2722626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Chunked ingestion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Full CSV never in API heap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1266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1266" y="3977639"/>
            <a:ext cx="2722626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99282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Composite indexed pages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99282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Sub-second tier filters at 8M+ rows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5060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5060" y="3977639"/>
            <a:ext cx="2722626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3076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Cursor-streamed export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3076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API memory flat across 1.64 GiB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18854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18854" y="3977639"/>
            <a:ext cx="2722626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46870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Priority triage at scale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6870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Risk-tier filters + case promotion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LATENCY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Keep Scoring Fast. Move Heavy Work Async.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413248" cy="418795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1324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426464"/>
            <a:ext cx="5084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Fast Synchronous Path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1847088"/>
            <a:ext cx="5084064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2286000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286000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377440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Feature extraction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2907792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2907792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999232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XGBoost inference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3529584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3529584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21024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Rule engine 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51376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4151376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242816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Decision routing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773168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4773168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864608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PostgreSQL persistence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98464" y="1298448"/>
            <a:ext cx="5833872" cy="21762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8464" y="1298448"/>
            <a:ext cx="5833872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1426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Asynchronous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3056" y="1847088"/>
            <a:ext cx="5486400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286000"/>
            <a:ext cx="5486400" cy="73152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2286000"/>
            <a:ext cx="45720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45936" y="235915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Investigation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68833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Redpanda -&gt; Ollama -&gt; PostgreSQL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3056" y="3163824"/>
            <a:ext cx="5486400" cy="73152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63056" y="3163824"/>
            <a:ext cx="45720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23697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Portfolio Scan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356616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Chunked worker -&gt; indexed PostgreSQL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98464" y="3657600"/>
            <a:ext cx="5833872" cy="1828800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98464" y="3657600"/>
            <a:ext cx="583387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63056" y="37673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Scale Strategy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63056" y="4133087"/>
            <a:ext cx="5486400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63056" y="4251960"/>
            <a:ext cx="36576" cy="32918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7648" y="4270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Redis idempotency: request_id dedup, 24-hour TTL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3056" y="474573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27648" y="47640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Horizontal API workers: Stateless, CPU-bound, parallelisable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6" y="5239512"/>
            <a:ext cx="36576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27648" y="52578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Independent consumers: Investigation and portfolio scale separately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SCALE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Scale Path to High-Volume Decisioning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4389120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5669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353312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Local reproducible runtime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1956815"/>
            <a:ext cx="5413248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1956815"/>
            <a:ext cx="54864" cy="5669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011679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2029967"/>
            <a:ext cx="4270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Containerised stateless workers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615184"/>
            <a:ext cx="6437376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2615184"/>
            <a:ext cx="54864" cy="5669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6700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2688336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Managed data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273552"/>
            <a:ext cx="7461504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3273552"/>
            <a:ext cx="54864" cy="5669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32841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5" y="3346704"/>
            <a:ext cx="6318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Cache-backed idempotency at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3931920"/>
            <a:ext cx="8485632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3931920"/>
            <a:ext cx="54864" cy="5669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3986783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5" y="4005072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Queue-backed async workers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4590288"/>
            <a:ext cx="9509760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4590288"/>
            <a:ext cx="54864" cy="5669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645151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Segoe U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5" y="4663440"/>
            <a:ext cx="8366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Observability and SLOs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5248656"/>
            <a:ext cx="10533888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" y="5248656"/>
            <a:ext cx="54864" cy="5669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" y="53035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5" y="5321808"/>
            <a:ext cx="9390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Resilience planning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6309360"/>
            <a:ext cx="11494008" cy="384048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6364224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Segoe UI"/>
              </a:rPr>
              <a:t>Each layer scales independently.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INTEGRATION EXPANSION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Integration Expansion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2377440"/>
            <a:ext cx="2560320" cy="1645920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2377440"/>
            <a:ext cx="2560320" cy="54864"/>
          </a:xfrm>
          <a:prstGeom prst="rect">
            <a:avLst/>
          </a:prstGeom>
          <a:solidFill>
            <a:srgbClr val="556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5237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C8DB"/>
                </a:solidFill>
                <a:latin typeface="Segoe UI"/>
              </a:rPr>
              <a:t>External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944368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Payment processor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3273552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Risk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3602736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Case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303580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B82F6"/>
                </a:solidFill>
                <a:latin typeface="Segoe UI"/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377440"/>
            <a:ext cx="3474720" cy="1645920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2377440"/>
            <a:ext cx="34747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87168"/>
            <a:ext cx="3328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BBF24"/>
                </a:solidFill>
                <a:latin typeface="Segoe UI"/>
              </a:rPr>
              <a:t>Integration Expansion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816352"/>
            <a:ext cx="33284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POST /fraud/decision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10128"/>
            <a:ext cx="31821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Unified decision API over existing service boundaries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303580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4D399"/>
                </a:solidFill>
                <a:latin typeface="Segoe UI"/>
              </a:rP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5472" y="1298448"/>
            <a:ext cx="4389120" cy="4389120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5472" y="1298448"/>
            <a:ext cx="438912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417320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Decision Package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70064" y="1810512"/>
            <a:ext cx="36576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368" y="18288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4D399"/>
                </a:solidFill>
                <a:latin typeface="Segoe U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2029967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BLOCK  /  REVIEW  /  APPROVE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70064" y="2304288"/>
            <a:ext cx="36576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16368" y="2322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4D399"/>
                </a:solidFill>
                <a:latin typeface="Segoe UI"/>
              </a:rPr>
              <a:t>risk_score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8" y="25237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Final clipped [0, 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70064" y="2798064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6368" y="28163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  <a:latin typeface="Segoe UI"/>
              </a:rPr>
              <a:t>model_score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301752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XGBoost base layer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70064" y="3291840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33101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  <a:latin typeface="Segoe UI"/>
              </a:rPr>
              <a:t>reason_codes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3511296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Array of fired reason codes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0064" y="3785616"/>
            <a:ext cx="36576" cy="32918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6368" y="38039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Segoe UI"/>
              </a:rPr>
              <a:t>case_id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6368" y="40050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Assigned case reference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70064" y="4279392"/>
            <a:ext cx="36576" cy="32918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16368" y="4297679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Segoe UI"/>
              </a:rPr>
              <a:t>audit_trace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44988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Workflow event UUID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70064" y="4773168"/>
            <a:ext cx="36576" cy="32918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16368" y="47914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BBF24"/>
                </a:solidFill>
                <a:latin typeface="Segoe UI"/>
              </a:rPr>
              <a:t>next_action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499262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Recommended analyst action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22452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" y="43434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6880"/>
                </a:solidFill>
                <a:latin typeface="Segoe UI"/>
              </a:rPr>
              <a:t>Current surface: 27 endpoints across scoring, cases, investigation, workflow, audit, portfolio, and reliability.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343400"/>
            <a:ext cx="4818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B82F6"/>
                </a:solidFill>
                <a:latin typeface="Segoe UI"/>
              </a:rPr>
              <a:t>docs/INTEGRATION_API_BLUEPRINT.md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DEPLOYMENT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Protect Product Quality Before Public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376672" cy="495604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3766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44752"/>
            <a:ext cx="5010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4D399"/>
                </a:solidFill>
                <a:latin typeface="Segoe UI"/>
              </a:rPr>
              <a:t>Current Inspection Package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883664"/>
            <a:ext cx="5010912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2011680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2996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GitHub repo with full source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633472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65176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External video walkthrough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3255264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27355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Docker Compose local runtime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3877056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89534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All 9 services validated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" y="4498848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5171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41/41 checks and 10M benchmark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" y="5120640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513892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Reviewer access: localhost:3000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1298448"/>
            <a:ext cx="5779008" cy="495604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298448"/>
            <a:ext cx="5779008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1444752"/>
            <a:ext cx="5413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Segoe UI"/>
              </a:rPr>
              <a:t>Cloud Scale Package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1883664"/>
            <a:ext cx="541324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2011680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029968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Auth and RBAC (design documented)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2633472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651760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TLS, ingress, managed certificates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6208" y="3255264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273552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Managed PostgreSQL and Redis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8" y="3877056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895344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Managed message broker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6208" y="4498848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517136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Horizontally scaled API workers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6208" y="5120640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5138928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Observability, secrets, SLO alerting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6455664"/>
            <a:ext cx="11494008" cy="292608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6492240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2D3EE"/>
                </a:solidFill>
                <a:latin typeface="Segoe UI"/>
              </a:rPr>
              <a:t>Full-stack cloud should be built deliberately, not forced onto fragile free tiers.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EXECUTIVE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What Reviewers Should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8046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End-to-end fraud intelligence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389888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Nine connected stages. All implemented.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194560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194560"/>
            <a:ext cx="54864" cy="80467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Hybrid scoring with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Reason codes per layer. Inspectable.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3090672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3090672"/>
            <a:ext cx="54864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638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Analyst-controlled case decisioning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182112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AI brief advisory. Verdict always required.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986783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3986783"/>
            <a:ext cx="54864" cy="80467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59935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Audit-ready workflow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078223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Timestamped, sourced, case-linked.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4882896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4882896"/>
            <a:ext cx="54864" cy="8046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560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Clear path to scale and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974336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7-stage roadmap. Integration facade designed.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5925312"/>
            <a:ext cx="11494008" cy="685800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6035040"/>
            <a:ext cx="114940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From isolated scores to evidence-led fraud decisioning.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